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7" r:id="rId3"/>
    <p:sldId id="258" r:id="rId4"/>
    <p:sldId id="259" r:id="rId5"/>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 lastIdx="0" clrIdx="0"/>
  <p:cmAuthor id="2" name="GXSG-01" initials="G" lastIdx="0" clrIdx="1"/>
  <p:cmAuthor id="3" name="SkyUN.Org" initials="S" lastIdx="0" clrIdx="2"/>
  <p:cmAuthor id="4" name="lenovo" initials="l" lastIdx="0" clrIdx="3"/>
  <p:cmAuthor id="5" name="Author" initials="A" lastIdx="0" clrIdx="4"/>
  <p:cmAuthor id="6" name="王习习" initials="王" lastIdx="0" clrIdx="5"/>
  <p:cmAuthor id="7" name="作者" initials="A" lastIdx="0" clrIdx="6"/>
  <p:cmAuthor id="8" name="Administrat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4" Type="http://schemas.openxmlformats.org/officeDocument/2006/relationships/tags" Target="../tags/tag167.xml"/><Relationship Id="rId3" Type="http://schemas.openxmlformats.org/officeDocument/2006/relationships/tags" Target="../tags/tag166.xml"/><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4" Type="http://schemas.openxmlformats.org/officeDocument/2006/relationships/tags" Target="../tags/tag178.xml"/><Relationship Id="rId3" Type="http://schemas.openxmlformats.org/officeDocument/2006/relationships/tags" Target="../tags/tag177.xml"/><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3"/>
            </p:custDataLst>
          </p:nvPr>
        </p:nvSpPr>
        <p:spPr/>
      </p:sp>
      <p:sp>
        <p:nvSpPr>
          <p:cNvPr id="3" name="备注占位符 2"/>
          <p:cNvSpPr txBox="1">
            <a:spLocks noGrp="1"/>
          </p:cNvSpPr>
          <p:nvPr>
            <p:ph type="body" idx="1"/>
            <p:custDataLst>
              <p:tags r:id="rId4"/>
            </p:custDataLst>
          </p:nvPr>
        </p:nvSpPr>
        <p:spPr/>
        <p:txBody>
          <a:bodyPr/>
          <a:lstStyle/>
          <a:p>
            <a:endParaRPr lang="zh-CN" altLang="en-US"/>
          </a:p>
        </p:txBody>
      </p:sp>
      <p:sp>
        <p:nvSpPr>
          <p:cNvPr id="4" name="灯片编号占位符 3"/>
          <p:cNvSpPr>
            <a:spLocks noGrp="1"/>
          </p:cNvSpPr>
          <p:nvPr>
            <p:ph type="sldNum" sz="quarter" idx="5"/>
            <p:custDataLst>
              <p:tags r:id="rId5"/>
            </p:custDataLst>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custDataLst>
              <p:tags r:id="rId3"/>
            </p:custDataLst>
          </p:nvPr>
        </p:nvSpPr>
        <p:spPr/>
      </p:sp>
      <p:sp>
        <p:nvSpPr>
          <p:cNvPr id="3" name="文本占位符 2"/>
          <p:cNvSpPr txBox="1">
            <a:spLocks noGrp="1"/>
          </p:cNvSpPr>
          <p:nvPr>
            <p:ph type="body" idx="3"/>
            <p:custDataLst>
              <p:tags r:id="rId4"/>
            </p:custDataLst>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microsoft.com/office/2007/relationships/media" Target="../media/media1.mp4"/><Relationship Id="rId8" Type="http://schemas.openxmlformats.org/officeDocument/2006/relationships/video" Target="../media/media1.mp4"/><Relationship Id="rId7" Type="http://schemas.openxmlformats.org/officeDocument/2006/relationships/tags" Target="../tags/tag69.xml"/><Relationship Id="rId6" Type="http://schemas.openxmlformats.org/officeDocument/2006/relationships/image" Target="../media/image2.jpeg"/><Relationship Id="rId5" Type="http://schemas.openxmlformats.org/officeDocument/2006/relationships/tags" Target="../tags/tag68.xml"/><Relationship Id="rId4" Type="http://schemas.openxmlformats.org/officeDocument/2006/relationships/image" Target="../media/image1.jpeg"/><Relationship Id="rId3" Type="http://schemas.openxmlformats.org/officeDocument/2006/relationships/tags" Target="../tags/tag67.xml"/><Relationship Id="rId2" Type="http://schemas.openxmlformats.org/officeDocument/2006/relationships/tags" Target="../tags/tag66.xml"/><Relationship Id="rId13" Type="http://schemas.openxmlformats.org/officeDocument/2006/relationships/slideLayout" Target="../slideLayouts/slideLayout1.xml"/><Relationship Id="rId12" Type="http://schemas.openxmlformats.org/officeDocument/2006/relationships/tags" Target="../tags/tag71.xml"/><Relationship Id="rId11" Type="http://schemas.openxmlformats.org/officeDocument/2006/relationships/image" Target="../media/image3.png"/><Relationship Id="rId10" Type="http://schemas.openxmlformats.org/officeDocument/2006/relationships/tags" Target="../tags/tag70.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image" Target="../media/image4.png"/><Relationship Id="rId7" Type="http://schemas.openxmlformats.org/officeDocument/2006/relationships/tags" Target="../tags/tag76.xml"/><Relationship Id="rId6" Type="http://schemas.microsoft.com/office/2007/relationships/media" Target="../media/media2.mp4"/><Relationship Id="rId5" Type="http://schemas.openxmlformats.org/officeDocument/2006/relationships/video" Target="../media/media2.mp4"/><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1" Type="http://schemas.openxmlformats.org/officeDocument/2006/relationships/notesSlide" Target="../notesSlides/notesSlide1.xml"/><Relationship Id="rId10" Type="http://schemas.openxmlformats.org/officeDocument/2006/relationships/slideLayout" Target="../slideLayouts/slideLayout1.xml"/><Relationship Id="rId1" Type="http://schemas.openxmlformats.org/officeDocument/2006/relationships/tags" Target="../tags/tag72.xml"/></Relationships>
</file>

<file path=ppt/slides/_rels/slide4.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tags" Target="../tags/tag85.xml"/><Relationship Id="rId6" Type="http://schemas.openxmlformats.org/officeDocument/2006/relationships/image" Target="../media/image5.jpeg"/><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3" Type="http://schemas.openxmlformats.org/officeDocument/2006/relationships/slideLayout" Target="../slideLayouts/slideLayout1.xml"/><Relationship Id="rId12" Type="http://schemas.openxmlformats.org/officeDocument/2006/relationships/image" Target="../media/image6.jpeg"/><Relationship Id="rId11" Type="http://schemas.openxmlformats.org/officeDocument/2006/relationships/tags" Target="../tags/tag89.xml"/><Relationship Id="rId10" Type="http://schemas.openxmlformats.org/officeDocument/2006/relationships/tags" Target="../tags/tag88.xml"/><Relationship Id="rId1" Type="http://schemas.openxmlformats.org/officeDocument/2006/relationships/tags" Target="../tags/tag80.xml"/></Relationships>
</file>

<file path=ppt/slides/_rels/slide5.xml.rels><?xml version="1.0" encoding="UTF-8" standalone="yes"?>
<Relationships xmlns="http://schemas.openxmlformats.org/package/2006/relationships"><Relationship Id="rId9" Type="http://schemas.openxmlformats.org/officeDocument/2006/relationships/tags" Target="../tags/tag97.xml"/><Relationship Id="rId8" Type="http://schemas.openxmlformats.org/officeDocument/2006/relationships/tags" Target="../tags/tag96.xml"/><Relationship Id="rId7" Type="http://schemas.openxmlformats.org/officeDocument/2006/relationships/tags" Target="../tags/tag95.xml"/><Relationship Id="rId6" Type="http://schemas.openxmlformats.org/officeDocument/2006/relationships/image" Target="../media/image5.jpeg"/><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8" Type="http://schemas.openxmlformats.org/officeDocument/2006/relationships/slideLayout" Target="../slideLayouts/slideLayout1.xml"/><Relationship Id="rId17" Type="http://schemas.openxmlformats.org/officeDocument/2006/relationships/tags" Target="../tags/tag105.xml"/><Relationship Id="rId16" Type="http://schemas.openxmlformats.org/officeDocument/2006/relationships/tags" Target="../tags/tag104.xml"/><Relationship Id="rId15" Type="http://schemas.openxmlformats.org/officeDocument/2006/relationships/tags" Target="../tags/tag103.xml"/><Relationship Id="rId14" Type="http://schemas.openxmlformats.org/officeDocument/2006/relationships/tags" Target="../tags/tag102.xml"/><Relationship Id="rId13" Type="http://schemas.openxmlformats.org/officeDocument/2006/relationships/tags" Target="../tags/tag101.xml"/><Relationship Id="rId12" Type="http://schemas.openxmlformats.org/officeDocument/2006/relationships/tags" Target="../tags/tag100.xml"/><Relationship Id="rId11" Type="http://schemas.openxmlformats.org/officeDocument/2006/relationships/tags" Target="../tags/tag99.xml"/><Relationship Id="rId10" Type="http://schemas.openxmlformats.org/officeDocument/2006/relationships/tags" Target="../tags/tag98.xml"/><Relationship Id="rId1" Type="http://schemas.openxmlformats.org/officeDocument/2006/relationships/tags" Target="../tags/tag90.xml"/></Relationships>
</file>

<file path=ppt/slides/_rels/slide6.xml.rels><?xml version="1.0" encoding="UTF-8" standalone="yes"?>
<Relationships xmlns="http://schemas.openxmlformats.org/package/2006/relationships"><Relationship Id="rId9" Type="http://schemas.openxmlformats.org/officeDocument/2006/relationships/tags" Target="../tags/tag113.xml"/><Relationship Id="rId8" Type="http://schemas.openxmlformats.org/officeDocument/2006/relationships/tags" Target="../tags/tag112.xml"/><Relationship Id="rId7" Type="http://schemas.openxmlformats.org/officeDocument/2006/relationships/image" Target="../media/image7.png"/><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5" Type="http://schemas.openxmlformats.org/officeDocument/2006/relationships/slideLayout" Target="../slideLayouts/slideLayout1.xml"/><Relationship Id="rId14" Type="http://schemas.openxmlformats.org/officeDocument/2006/relationships/tags" Target="../tags/tag117.xml"/><Relationship Id="rId13" Type="http://schemas.openxmlformats.org/officeDocument/2006/relationships/image" Target="../media/image8.png"/><Relationship Id="rId12" Type="http://schemas.openxmlformats.org/officeDocument/2006/relationships/tags" Target="../tags/tag116.xml"/><Relationship Id="rId11" Type="http://schemas.openxmlformats.org/officeDocument/2006/relationships/tags" Target="../tags/tag115.xml"/><Relationship Id="rId10" Type="http://schemas.openxmlformats.org/officeDocument/2006/relationships/tags" Target="../tags/tag114.xml"/><Relationship Id="rId1" Type="http://schemas.openxmlformats.org/officeDocument/2006/relationships/tags" Target="../tags/tag106.xml"/></Relationships>
</file>

<file path=ppt/slides/_rels/slide7.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image" Target="../media/image5.jpeg"/><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29.xml"/><Relationship Id="rId12" Type="http://schemas.openxmlformats.org/officeDocument/2006/relationships/tags" Target="../tags/tag128.xml"/><Relationship Id="rId11" Type="http://schemas.openxmlformats.org/officeDocument/2006/relationships/tags" Target="../tags/tag127.xml"/><Relationship Id="rId10" Type="http://schemas.openxmlformats.org/officeDocument/2006/relationships/tags" Target="../tags/tag126.xml"/><Relationship Id="rId1" Type="http://schemas.openxmlformats.org/officeDocument/2006/relationships/tags" Target="../tags/tag118.xml"/></Relationships>
</file>

<file path=ppt/slides/_rels/slide8.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image" Target="../media/image5.jpeg"/><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8" Type="http://schemas.openxmlformats.org/officeDocument/2006/relationships/slideLayout" Target="../slideLayouts/slideLayout1.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2.xml"/></Relationships>
</file>

<file path=ppt/slides/_rels/slide9.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image" Target="../media/image9.png"/><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1" Type="http://schemas.openxmlformats.org/officeDocument/2006/relationships/notesSlide" Target="../notesSlides/notesSlide3.xml"/><Relationship Id="rId10" Type="http://schemas.openxmlformats.org/officeDocument/2006/relationships/slideLayout" Target="../slideLayouts/slideLayout1.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165.xml"/><Relationship Id="rId7" Type="http://schemas.openxmlformats.org/officeDocument/2006/relationships/image" Target="../media/image10.png"/><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0" Type="http://schemas.openxmlformats.org/officeDocument/2006/relationships/notesSlide" Target="../notesSlides/notesSlide4.xml"/><Relationship Id="rId1" Type="http://schemas.openxmlformats.org/officeDocument/2006/relationships/tags" Target="../tags/tag159.xml"/></Relationships>
</file>

<file path=ppt/slides/_rels/slide11.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image" Target="../media/image11.png"/><Relationship Id="rId12" Type="http://schemas.openxmlformats.org/officeDocument/2006/relationships/notesSlide" Target="../notesSlides/notesSlide5.xml"/><Relationship Id="rId11" Type="http://schemas.openxmlformats.org/officeDocument/2006/relationships/slideLayout" Target="../slideLayouts/slideLayout1.xml"/><Relationship Id="rId10" Type="http://schemas.openxmlformats.org/officeDocument/2006/relationships/tags" Target="../tags/tag176.xml"/><Relationship Id="rId1" Type="http://schemas.openxmlformats.org/officeDocument/2006/relationships/tags" Target="../tags/tag168.xml"/></Relationships>
</file>

<file path=ppt/slides/_rels/slide12.xml.rels><?xml version="1.0" encoding="UTF-8" standalone="yes"?>
<Relationships xmlns="http://schemas.openxmlformats.org/package/2006/relationships"><Relationship Id="rId9" Type="http://schemas.openxmlformats.org/officeDocument/2006/relationships/tags" Target="../tags/tag187.xml"/><Relationship Id="rId8" Type="http://schemas.openxmlformats.org/officeDocument/2006/relationships/tags" Target="../tags/tag186.xml"/><Relationship Id="rId7" Type="http://schemas.openxmlformats.org/officeDocument/2006/relationships/tags" Target="../tags/tag185.xml"/><Relationship Id="rId6" Type="http://schemas.openxmlformats.org/officeDocument/2006/relationships/tags" Target="../tags/tag184.xml"/><Relationship Id="rId5" Type="http://schemas.openxmlformats.org/officeDocument/2006/relationships/tags" Target="../tags/tag183.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4" Type="http://schemas.openxmlformats.org/officeDocument/2006/relationships/notesSlide" Target="../notesSlides/notesSlide6.xml"/><Relationship Id="rId13" Type="http://schemas.openxmlformats.org/officeDocument/2006/relationships/slideLayout" Target="../slideLayouts/slideLayout1.xml"/><Relationship Id="rId12" Type="http://schemas.openxmlformats.org/officeDocument/2006/relationships/tags" Target="../tags/tag189.xml"/><Relationship Id="rId11" Type="http://schemas.openxmlformats.org/officeDocument/2006/relationships/image" Target="../media/image5.jpeg"/><Relationship Id="rId10" Type="http://schemas.openxmlformats.org/officeDocument/2006/relationships/tags" Target="../tags/tag188.xml"/><Relationship Id="rId1" Type="http://schemas.openxmlformats.org/officeDocument/2006/relationships/tags" Target="../tags/tag179.xml"/></Relationships>
</file>

<file path=ppt/slides/_rels/slide13.xml.rels><?xml version="1.0" encoding="UTF-8" standalone="yes"?>
<Relationships xmlns="http://schemas.openxmlformats.org/package/2006/relationships"><Relationship Id="rId9" Type="http://schemas.openxmlformats.org/officeDocument/2006/relationships/tags" Target="../tags/tag199.xml"/><Relationship Id="rId8" Type="http://schemas.openxmlformats.org/officeDocument/2006/relationships/tags" Target="../tags/tag198.xml"/><Relationship Id="rId7" Type="http://schemas.openxmlformats.org/officeDocument/2006/relationships/tags" Target="../tags/tag197.xml"/><Relationship Id="rId6" Type="http://schemas.openxmlformats.org/officeDocument/2006/relationships/tags" Target="../tags/tag196.xml"/><Relationship Id="rId5" Type="http://schemas.openxmlformats.org/officeDocument/2006/relationships/image" Target="../media/image12.png"/><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2" Type="http://schemas.openxmlformats.org/officeDocument/2006/relationships/slideLayout" Target="../slideLayouts/slideLayout1.xml"/><Relationship Id="rId11" Type="http://schemas.openxmlformats.org/officeDocument/2006/relationships/tags" Target="../tags/tag201.xml"/><Relationship Id="rId10" Type="http://schemas.openxmlformats.org/officeDocument/2006/relationships/tags" Target="../tags/tag200.xml"/><Relationship Id="rId1" Type="http://schemas.openxmlformats.org/officeDocument/2006/relationships/tags" Target="../tags/tag192.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image" Target="../media/image12.png"/><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0" Type="http://schemas.openxmlformats.org/officeDocument/2006/relationships/notesSlide" Target="../notesSlides/notesSlide7.xml"/><Relationship Id="rId1" Type="http://schemas.openxmlformats.org/officeDocument/2006/relationships/tags" Target="../tags/tag20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tags" Target="../tags/tag214.xml"/><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s>
</file>

<file path=ppt/slides/_rels/slide16.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tags" Target="../tags/tag219.xml"/><Relationship Id="rId4" Type="http://schemas.openxmlformats.org/officeDocument/2006/relationships/tags" Target="../tags/tag218.xml"/><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227.xml"/><Relationship Id="rId7" Type="http://schemas.openxmlformats.org/officeDocument/2006/relationships/tags" Target="../tags/tag226.xml"/><Relationship Id="rId6" Type="http://schemas.openxmlformats.org/officeDocument/2006/relationships/tags" Target="../tags/tag225.xml"/><Relationship Id="rId5" Type="http://schemas.openxmlformats.org/officeDocument/2006/relationships/tags" Target="../tags/tag224.xml"/><Relationship Id="rId4" Type="http://schemas.openxmlformats.org/officeDocument/2006/relationships/tags" Target="../tags/tag223.xml"/><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s>
</file>

<file path=ppt/slides/_rels/slide18.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6" Type="http://schemas.openxmlformats.org/officeDocument/2006/relationships/slideLayout" Target="../slideLayouts/slideLayout1.xml"/><Relationship Id="rId15" Type="http://schemas.openxmlformats.org/officeDocument/2006/relationships/tags" Target="../tags/tag242.xml"/><Relationship Id="rId14" Type="http://schemas.openxmlformats.org/officeDocument/2006/relationships/tags" Target="../tags/tag241.xml"/><Relationship Id="rId13" Type="http://schemas.openxmlformats.org/officeDocument/2006/relationships/tags" Target="../tags/tag240.xml"/><Relationship Id="rId12" Type="http://schemas.openxmlformats.org/officeDocument/2006/relationships/tags" Target="../tags/tag239.xml"/><Relationship Id="rId11" Type="http://schemas.openxmlformats.org/officeDocument/2006/relationships/tags" Target="../tags/tag238.xml"/><Relationship Id="rId10" Type="http://schemas.openxmlformats.org/officeDocument/2006/relationships/tags" Target="../tags/tag237.xml"/><Relationship Id="rId1" Type="http://schemas.openxmlformats.org/officeDocument/2006/relationships/tags" Target="../tags/tag228.xml"/></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vml"/><Relationship Id="rId7"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1.bin"/><Relationship Id="rId4" Type="http://schemas.openxmlformats.org/officeDocument/2006/relationships/tags" Target="../tags/tag249.xml"/><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2.vml"/><Relationship Id="rId7" Type="http://schemas.openxmlformats.org/officeDocument/2006/relationships/slideLayout" Target="../slideLayouts/slideLayout1.xml"/><Relationship Id="rId6" Type="http://schemas.openxmlformats.org/officeDocument/2006/relationships/tags" Target="../tags/tag253.xml"/><Relationship Id="rId5" Type="http://schemas.openxmlformats.org/officeDocument/2006/relationships/image" Target="../media/image15.wmf"/><Relationship Id="rId4" Type="http://schemas.openxmlformats.org/officeDocument/2006/relationships/oleObject" Target="../embeddings/oleObject2.bin"/><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5.xml"/><Relationship Id="rId1" Type="http://schemas.openxmlformats.org/officeDocument/2006/relationships/tags" Target="../tags/tag254.xml"/></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3.vml"/><Relationship Id="rId7" Type="http://schemas.openxmlformats.org/officeDocument/2006/relationships/slideLayout" Target="../slideLayouts/slideLayout1.x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tags" Target="../tags/tag259.xml"/><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箭头: 五边形 16"/>
          <p:cNvSpPr/>
          <p:nvPr userDrawn="1">
            <p:custDataLst>
              <p:tags r:id="rId1"/>
            </p:custDataLst>
          </p:nvPr>
        </p:nvSpPr>
        <p:spPr>
          <a:xfrm>
            <a:off x="4927600" y="2017395"/>
            <a:ext cx="1994535" cy="925830"/>
          </a:xfrm>
          <a:prstGeom prst="homePlate">
            <a:avLst>
              <a:gd name="adj" fmla="val 46982"/>
            </a:avLst>
          </a:prstGeom>
          <a:gradFill>
            <a:gsLst>
              <a:gs pos="72000">
                <a:srgbClr val="354ECE"/>
              </a:gs>
              <a:gs pos="0">
                <a:schemeClr val="accent1">
                  <a:lumMod val="20000"/>
                  <a:lumOff val="80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r>
              <a:rPr lang="en-US" altLang="zh-CN" sz="5400" b="1" i="1" spc="225">
                <a:solidFill>
                  <a:schemeClr val="bg1"/>
                </a:solidFill>
                <a:cs typeface="+mn-ea"/>
                <a:sym typeface="+mn-lt"/>
              </a:rPr>
              <a:t>06</a:t>
            </a:r>
            <a:endParaRPr lang="en-US" altLang="zh-CN" sz="5400" b="1" i="1" spc="225">
              <a:solidFill>
                <a:schemeClr val="bg1"/>
              </a:solidFill>
              <a:cs typeface="+mn-ea"/>
              <a:sym typeface="+mn-lt"/>
            </a:endParaRPr>
          </a:p>
        </p:txBody>
      </p:sp>
      <p:sp>
        <p:nvSpPr>
          <p:cNvPr id="3" name="文本框 2"/>
          <p:cNvSpPr txBox="1"/>
          <p:nvPr>
            <p:custDataLst>
              <p:tags r:id="rId2"/>
            </p:custDataLst>
          </p:nvPr>
        </p:nvSpPr>
        <p:spPr>
          <a:xfrm>
            <a:off x="4927600" y="2943225"/>
            <a:ext cx="4754880" cy="1198880"/>
          </a:xfrm>
          <a:prstGeom prst="rect">
            <a:avLst/>
          </a:prstGeom>
          <a:noFill/>
        </p:spPr>
        <p:txBody>
          <a:bodyPr wrap="none" rtlCol="0">
            <a:spAutoFit/>
          </a:bodyPr>
          <a:lstStyle/>
          <a:p>
            <a:pPr algn="l">
              <a:lnSpc>
                <a:spcPct val="120000"/>
              </a:lnSpc>
            </a:pPr>
            <a:r>
              <a:rPr lang="zh-CN" altLang="en-US" sz="6000" b="1" i="1">
                <a:solidFill>
                  <a:schemeClr val="tx1"/>
                </a:solidFill>
                <a:effectLst/>
                <a:cs typeface="+mn-ea"/>
                <a:sym typeface="+mn-lt"/>
              </a:rPr>
              <a:t>化学反应</a:t>
            </a:r>
            <a:r>
              <a:rPr lang="zh-CN" altLang="en-US" sz="6000" b="1" i="1">
                <a:solidFill>
                  <a:schemeClr val="tx1"/>
                </a:solidFill>
                <a:effectLst/>
                <a:cs typeface="+mn-ea"/>
                <a:sym typeface="+mn-lt"/>
              </a:rPr>
              <a:t>调控</a:t>
            </a:r>
            <a:endParaRPr lang="zh-CN" altLang="en-US" sz="6000" b="1" i="1">
              <a:solidFill>
                <a:schemeClr val="tx1"/>
              </a:solidFill>
              <a:effectLst/>
              <a:cs typeface="+mn-ea"/>
              <a:sym typeface="+mn-l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600700" y="4152900"/>
            <a:ext cx="5408930" cy="460375"/>
          </a:xfrm>
          <a:prstGeom prst="rect">
            <a:avLst/>
          </a:prstGeom>
          <a:solidFill>
            <a:schemeClr val="accent1">
              <a:lumMod val="20000"/>
              <a:lumOff val="80000"/>
            </a:schemeClr>
          </a:solidFill>
          <a:ln>
            <a:noFill/>
          </a:ln>
        </p:spPr>
        <p:txBody>
          <a:bodyPr wrap="square" rtlCol="0">
            <a:spAutoFit/>
          </a:bodyPr>
          <a:lstStyle/>
          <a:p>
            <a:r>
              <a:rPr lang="zh-CN" altLang="en-US" sz="2400">
                <a:latin typeface="微软雅黑" panose="020B0503020204020204" charset="-122"/>
                <a:ea typeface="微软雅黑" panose="020B0503020204020204" charset="-122"/>
                <a:sym typeface="+mn-ea"/>
              </a:rPr>
              <a:t>隔离可燃物、隔绝空气或降低温度</a:t>
            </a:r>
            <a:r>
              <a:rPr lang="zh-CN" altLang="en-US" sz="2400">
                <a:latin typeface="微软雅黑" panose="020B0503020204020204" charset="-122"/>
                <a:ea typeface="微软雅黑" panose="020B0503020204020204" charset="-122"/>
                <a:sym typeface="+mn-ea"/>
              </a:rPr>
              <a:t>灭火</a:t>
            </a:r>
            <a:endParaRPr lang="zh-CN" altLang="en-US" sz="2400">
              <a:solidFill>
                <a:schemeClr val="tx1"/>
              </a:solidFill>
              <a:latin typeface="微软雅黑" panose="020B0503020204020204" charset="-122"/>
              <a:ea typeface="微软雅黑" panose="020B0503020204020204" charset="-122"/>
              <a:sym typeface="+mn-ea"/>
            </a:endParaRPr>
          </a:p>
        </p:txBody>
      </p:sp>
      <p:sp>
        <p:nvSpPr>
          <p:cNvPr id="9" name="文本框 8"/>
          <p:cNvSpPr txBox="1"/>
          <p:nvPr>
            <p:custDataLst>
              <p:tags r:id="rId2"/>
            </p:custDataLst>
          </p:nvPr>
        </p:nvSpPr>
        <p:spPr>
          <a:xfrm>
            <a:off x="4722495" y="0"/>
            <a:ext cx="519430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sym typeface="+mn-ea"/>
              </a:rPr>
              <a:t>生活生产中化学反应的调控</a:t>
            </a:r>
            <a:endParaRPr lang="zh-CN" altLang="en-US" sz="32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pic>
        <p:nvPicPr>
          <p:cNvPr id="10" name="图片 9"/>
          <p:cNvPicPr>
            <a:picLocks noChangeAspect="1"/>
          </p:cNvPicPr>
          <p:nvPr>
            <p:custDataLst>
              <p:tags r:id="rId3"/>
            </p:custDataLst>
          </p:nvPr>
        </p:nvPicPr>
        <p:blipFill>
          <a:blip r:embed="rId4"/>
          <a:stretch>
            <a:fillRect/>
          </a:stretch>
        </p:blipFill>
        <p:spPr>
          <a:xfrm>
            <a:off x="5549583" y="1419543"/>
            <a:ext cx="2549366" cy="2465070"/>
          </a:xfrm>
          <a:prstGeom prst="roundRect">
            <a:avLst/>
          </a:prstGeom>
        </p:spPr>
      </p:pic>
      <p:pic>
        <p:nvPicPr>
          <p:cNvPr id="14" name="Picture 13"/>
          <p:cNvPicPr>
            <a:picLocks noChangeAspect="1" noChangeArrowheads="1"/>
          </p:cNvPicPr>
          <p:nvPr>
            <p:custDataLst>
              <p:tags r:id="rId5"/>
            </p:custDataLst>
          </p:nvPr>
        </p:nvPicPr>
        <p:blipFill>
          <a:blip r:embed="rId6">
            <a:extLst>
              <a:ext uri="{28A0092B-C50C-407E-A947-70E740481C1C}">
                <a14:useLocalDpi xmlns:a14="http://schemas.microsoft.com/office/drawing/2010/main" val="0"/>
              </a:ext>
            </a:extLst>
          </a:blip>
          <a:srcRect l="16321" t="10729" r="15586" b="17396"/>
          <a:stretch>
            <a:fillRect/>
          </a:stretch>
        </p:blipFill>
        <p:spPr bwMode="auto">
          <a:xfrm>
            <a:off x="8609965" y="1532255"/>
            <a:ext cx="2545715" cy="2352675"/>
          </a:xfrm>
          <a:prstGeom prst="rect">
            <a:avLst/>
          </a:prstGeom>
          <a:noFill/>
          <a:extLst>
            <a:ext uri="{909E8E84-426E-40DD-AFC4-6F175D3DCCD1}">
              <a14:hiddenFill xmlns:a14="http://schemas.microsoft.com/office/drawing/2010/main">
                <a:solidFill>
                  <a:srgbClr val="FFFFFF"/>
                </a:solidFill>
              </a14:hiddenFill>
            </a:ext>
          </a:extLst>
        </p:spPr>
      </p:pic>
      <p:sp>
        <p:nvSpPr>
          <p:cNvPr id="15" name="文本框 14"/>
          <p:cNvSpPr txBox="1"/>
          <p:nvPr>
            <p:custDataLst>
              <p:tags r:id="rId7"/>
            </p:custDataLst>
          </p:nvPr>
        </p:nvSpPr>
        <p:spPr>
          <a:xfrm>
            <a:off x="3322320" y="5004435"/>
            <a:ext cx="4573270" cy="460375"/>
          </a:xfrm>
          <a:prstGeom prst="rect">
            <a:avLst/>
          </a:prstGeom>
          <a:solidFill>
            <a:schemeClr val="accent4">
              <a:lumMod val="20000"/>
              <a:lumOff val="80000"/>
            </a:schemeClr>
          </a:solidFill>
        </p:spPr>
        <p:txBody>
          <a:bodyPr wrap="square" rtlCol="0" anchor="t">
            <a:spAutoFit/>
          </a:bodyPr>
          <a:lstStyle/>
          <a:p>
            <a:r>
              <a:rPr lang="zh-CN" altLang="en-US" sz="2400">
                <a:latin typeface="微软雅黑" panose="020B0503020204020204" charset="-122"/>
                <a:ea typeface="微软雅黑" panose="020B0503020204020204" charset="-122"/>
                <a:sym typeface="+mn-ea"/>
              </a:rPr>
              <a:t>这些都是我们对化学反应的调控</a:t>
            </a:r>
            <a:endParaRPr lang="zh-CN" altLang="en-US" sz="2400">
              <a:latin typeface="微软雅黑" panose="020B0503020204020204" charset="-122"/>
              <a:ea typeface="微软雅黑" panose="020B0503020204020204" charset="-122"/>
              <a:sym typeface="+mn-ea"/>
            </a:endParaRPr>
          </a:p>
        </p:txBody>
      </p:sp>
      <p:pic>
        <p:nvPicPr>
          <p:cNvPr id="18" name="2.1.1草莓腐败">
            <a:hlinkClick r:id="" action="ppaction://media"/>
          </p:cNvPr>
          <p:cNvPicPr/>
          <p:nvPr>
            <a:videoFile r:link="rId8"/>
            <p:extLst>
              <p:ext uri="{DAA4B4D4-6D71-4841-9C94-3DE7FCFB9230}">
                <p14:media xmlns:p14="http://schemas.microsoft.com/office/powerpoint/2010/main" r:embed="rId9"/>
              </p:ext>
            </p:extLst>
            <p:custDataLst>
              <p:tags r:id="rId10"/>
            </p:custDataLst>
          </p:nvPr>
        </p:nvPicPr>
        <p:blipFill>
          <a:blip r:embed="rId11"/>
          <a:stretch>
            <a:fillRect/>
          </a:stretch>
        </p:blipFill>
        <p:spPr>
          <a:xfrm>
            <a:off x="814070" y="1649095"/>
            <a:ext cx="2790190" cy="2007235"/>
          </a:xfrm>
          <a:prstGeom prst="rect">
            <a:avLst/>
          </a:prstGeom>
          <a:ln>
            <a:solidFill>
              <a:schemeClr val="accent1"/>
            </a:solidFill>
          </a:ln>
        </p:spPr>
      </p:pic>
      <p:sp>
        <p:nvSpPr>
          <p:cNvPr id="2" name="文本框 1"/>
          <p:cNvSpPr txBox="1"/>
          <p:nvPr>
            <p:custDataLst>
              <p:tags r:id="rId12"/>
            </p:custDataLst>
          </p:nvPr>
        </p:nvSpPr>
        <p:spPr>
          <a:xfrm>
            <a:off x="0" y="4215130"/>
            <a:ext cx="4170045" cy="460375"/>
          </a:xfrm>
          <a:prstGeom prst="rect">
            <a:avLst/>
          </a:prstGeom>
          <a:solidFill>
            <a:schemeClr val="accent1">
              <a:lumMod val="20000"/>
              <a:lumOff val="80000"/>
            </a:schemeClr>
          </a:solidFill>
          <a:ln>
            <a:noFill/>
          </a:ln>
        </p:spPr>
        <p:txBody>
          <a:bodyPr wrap="square" rtlCol="0">
            <a:spAutoFit/>
          </a:bodyPr>
          <a:lstStyle/>
          <a:p>
            <a:r>
              <a:rPr lang="zh-CN" altLang="en-US" sz="2400">
                <a:latin typeface="微软雅黑" panose="020B0503020204020204" charset="-122"/>
                <a:ea typeface="微软雅黑" panose="020B0503020204020204" charset="-122"/>
                <a:sym typeface="+mn-ea"/>
              </a:rPr>
              <a:t>保存</a:t>
            </a:r>
            <a:r>
              <a:rPr lang="zh-CN" altLang="en-US" sz="2400">
                <a:latin typeface="微软雅黑" panose="020B0503020204020204" charset="-122"/>
                <a:ea typeface="微软雅黑" panose="020B0503020204020204" charset="-122"/>
                <a:sym typeface="+mn-ea"/>
              </a:rPr>
              <a:t>食物</a:t>
            </a:r>
            <a:r>
              <a:rPr lang="zh-CN" altLang="en-US" sz="2400">
                <a:latin typeface="微软雅黑" panose="020B0503020204020204" charset="-122"/>
                <a:ea typeface="微软雅黑" panose="020B0503020204020204" charset="-122"/>
                <a:sym typeface="+mn-ea"/>
              </a:rPr>
              <a:t>在冰箱中可</a:t>
            </a:r>
            <a:r>
              <a:rPr lang="zh-CN" altLang="en-US" sz="2400">
                <a:latin typeface="微软雅黑" panose="020B0503020204020204" charset="-122"/>
                <a:ea typeface="微软雅黑" panose="020B0503020204020204" charset="-122"/>
                <a:sym typeface="+mn-ea"/>
              </a:rPr>
              <a:t>延长储存</a:t>
            </a:r>
            <a:endParaRPr lang="zh-CN" altLang="en-US" sz="2400">
              <a:solidFill>
                <a:schemeClr val="tx1"/>
              </a:solidFill>
              <a:latin typeface="微软雅黑" panose="020B0503020204020204" charset="-122"/>
              <a:ea typeface="微软雅黑" panose="020B0503020204020204"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heel(1)">
                                      <p:cBhvr>
                                        <p:cTn id="12" dur="2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strVal val="#ppt_w*0.70"/>
                                          </p:val>
                                        </p:tav>
                                        <p:tav tm="100000">
                                          <p:val>
                                            <p:strVal val="#ppt_w"/>
                                          </p:val>
                                        </p:tav>
                                      </p:tavLst>
                                    </p:anim>
                                    <p:anim calcmode="lin" valueType="num">
                                      <p:cBhvr>
                                        <p:cTn id="18" dur="1000" fill="hold"/>
                                        <p:tgtEl>
                                          <p:spTgt spid="5"/>
                                        </p:tgtEl>
                                        <p:attrNameLst>
                                          <p:attrName>ppt_h</p:attrName>
                                        </p:attrNameLst>
                                      </p:cBhvr>
                                      <p:tavLst>
                                        <p:tav tm="0">
                                          <p:val>
                                            <p:strVal val="#ppt_h"/>
                                          </p:val>
                                        </p:tav>
                                        <p:tav tm="100000">
                                          <p:val>
                                            <p:strVal val="#ppt_h"/>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p:cTn id="24" dur="1000" fill="hold"/>
                                        <p:tgtEl>
                                          <p:spTgt spid="15"/>
                                        </p:tgtEl>
                                        <p:attrNameLst>
                                          <p:attrName>ppt_w</p:attrName>
                                        </p:attrNameLst>
                                      </p:cBhvr>
                                      <p:tavLst>
                                        <p:tav tm="0">
                                          <p:val>
                                            <p:strVal val="#ppt_w*0.70"/>
                                          </p:val>
                                        </p:tav>
                                        <p:tav tm="100000">
                                          <p:val>
                                            <p:strVal val="#ppt_w"/>
                                          </p:val>
                                        </p:tav>
                                      </p:tavLst>
                                    </p:anim>
                                    <p:anim calcmode="lin" valueType="num">
                                      <p:cBhvr>
                                        <p:cTn id="25" dur="1000" fill="hold"/>
                                        <p:tgtEl>
                                          <p:spTgt spid="15"/>
                                        </p:tgtEl>
                                        <p:attrNameLst>
                                          <p:attrName>ppt_h</p:attrName>
                                        </p:attrNameLst>
                                      </p:cBhvr>
                                      <p:tavLst>
                                        <p:tav tm="0">
                                          <p:val>
                                            <p:strVal val="#ppt_h"/>
                                          </p:val>
                                        </p:tav>
                                        <p:tav tm="100000">
                                          <p:val>
                                            <p:strVal val="#ppt_h"/>
                                          </p:val>
                                        </p:tav>
                                      </p:tavLst>
                                    </p:anim>
                                    <p:animEffect transition="in" filter="fade">
                                      <p:cBhvr>
                                        <p:cTn id="26" dur="10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checkerboard(across)">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p:cTn id="36" dur="1000" fill="hold"/>
                                        <p:tgtEl>
                                          <p:spTgt spid="2"/>
                                        </p:tgtEl>
                                        <p:attrNameLst>
                                          <p:attrName>ppt_w</p:attrName>
                                        </p:attrNameLst>
                                      </p:cBhvr>
                                      <p:tavLst>
                                        <p:tav tm="0">
                                          <p:val>
                                            <p:strVal val="#ppt_w*0.70"/>
                                          </p:val>
                                        </p:tav>
                                        <p:tav tm="100000">
                                          <p:val>
                                            <p:strVal val="#ppt_w"/>
                                          </p:val>
                                        </p:tav>
                                      </p:tavLst>
                                    </p:anim>
                                    <p:anim calcmode="lin" valueType="num">
                                      <p:cBhvr>
                                        <p:cTn id="37" dur="1000" fill="hold"/>
                                        <p:tgtEl>
                                          <p:spTgt spid="2"/>
                                        </p:tgtEl>
                                        <p:attrNameLst>
                                          <p:attrName>ppt_h</p:attrName>
                                        </p:attrNameLst>
                                      </p:cBhvr>
                                      <p:tavLst>
                                        <p:tav tm="0">
                                          <p:val>
                                            <p:strVal val="#ppt_h"/>
                                          </p:val>
                                        </p:tav>
                                        <p:tav tm="100000">
                                          <p:val>
                                            <p:strVal val="#ppt_h"/>
                                          </p:val>
                                        </p:tav>
                                      </p:tavLst>
                                    </p:anim>
                                    <p:animEffect transition="in" filter="fade">
                                      <p:cBhvr>
                                        <p:cTn id="38"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39" fill="hold" display="0">
                  <p:stCondLst>
                    <p:cond delay="indefinite"/>
                  </p:stCondLst>
                </p:cTn>
                <p:tgtEl>
                  <p:spTgt spid="18"/>
                </p:tgtEl>
              </p:cMediaNode>
            </p:video>
          </p:childTnLst>
        </p:cTn>
      </p:par>
    </p:tnLst>
    <p:bldLst>
      <p:bldP spid="5" grpId="0" bldLvl="0" animBg="1"/>
      <p:bldP spid="15" grpId="0" bldLvl="0" animBg="1"/>
      <p:bldP spid="2"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一、工业合成氨的原理分析</a:t>
            </a:r>
            <a:endParaRPr lang="zh-CN" altLang="en-US" sz="3200" b="1">
              <a:solidFill>
                <a:schemeClr val="bg1"/>
              </a:solidFill>
              <a:latin typeface="微软雅黑" panose="020B0503020204020204" charset="-122"/>
              <a:ea typeface="微软雅黑" panose="020B0503020204020204" charset="-122"/>
            </a:endParaRPr>
          </a:p>
        </p:txBody>
      </p:sp>
      <p:sp>
        <p:nvSpPr>
          <p:cNvPr id="12" name="矩形: 圆角 10"/>
          <p:cNvSpPr/>
          <p:nvPr>
            <p:custDataLst>
              <p:tags r:id="rId2"/>
            </p:custDataLst>
          </p:nvPr>
        </p:nvSpPr>
        <p:spPr>
          <a:xfrm>
            <a:off x="282575" y="784225"/>
            <a:ext cx="1456055" cy="488950"/>
          </a:xfrm>
          <a:prstGeom prst="roundRect">
            <a:avLst>
              <a:gd name="adj" fmla="val 50000"/>
            </a:avLst>
          </a:prstGeom>
          <a:gradFill>
            <a:gsLst>
              <a:gs pos="68000">
                <a:srgbClr val="0070C0"/>
              </a:gs>
              <a:gs pos="0">
                <a:schemeClr val="accent1">
                  <a:lumMod val="40000"/>
                  <a:lumOff val="6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t>任务一</a:t>
            </a:r>
            <a:endParaRPr lang="zh-CN" altLang="en-US" sz="2800"/>
          </a:p>
        </p:txBody>
      </p:sp>
      <p:sp>
        <p:nvSpPr>
          <p:cNvPr id="3" name="文本框 2"/>
          <p:cNvSpPr txBox="1"/>
          <p:nvPr>
            <p:custDataLst>
              <p:tags r:id="rId3"/>
            </p:custDataLst>
          </p:nvPr>
        </p:nvSpPr>
        <p:spPr>
          <a:xfrm>
            <a:off x="1795145" y="768985"/>
            <a:ext cx="9961245" cy="607695"/>
          </a:xfrm>
          <a:prstGeom prst="rect">
            <a:avLst/>
          </a:prstGeom>
          <a:noFill/>
        </p:spPr>
        <p:txBody>
          <a:bodyPr wrap="square" rtlCol="0">
            <a:spAutoFit/>
          </a:bodyPr>
          <a:lstStyle/>
          <a:p>
            <a:pPr algn="l" eaLnBrk="1" hangingPunct="1">
              <a:lnSpc>
                <a:spcPct val="120000"/>
              </a:lnSpc>
            </a:pPr>
            <a:r>
              <a:rPr lang="zh-CN" altLang="en-US" sz="2800" b="1">
                <a:solidFill>
                  <a:schemeClr val="tx1"/>
                </a:solidFill>
                <a:latin typeface="微软雅黑" panose="020B0503020204020204" charset="-122"/>
                <a:ea typeface="微软雅黑" panose="020B0503020204020204" charset="-122"/>
                <a:sym typeface="+mn-ea"/>
              </a:rPr>
              <a:t>如果你是工程师，如何设计合成氨的条件呢？从哪些角度分析？</a:t>
            </a:r>
            <a:endParaRPr lang="zh-CN" altLang="en-US" sz="2800" b="1">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custDataLst>
              <p:tags r:id="rId4"/>
            </p:custDataLst>
          </p:nvPr>
        </p:nvSpPr>
        <p:spPr>
          <a:xfrm>
            <a:off x="2960370" y="5605780"/>
            <a:ext cx="6271260" cy="460375"/>
          </a:xfrm>
          <a:prstGeom prst="rect">
            <a:avLst/>
          </a:prstGeom>
          <a:solidFill>
            <a:schemeClr val="accent1">
              <a:lumMod val="20000"/>
              <a:lumOff val="80000"/>
            </a:schemeClr>
          </a:solidFill>
        </p:spPr>
        <p:txBody>
          <a:bodyPr wrap="square" rtlCol="0" anchor="t">
            <a:spAutoFit/>
          </a:bodyPr>
          <a:lstStyle/>
          <a:p>
            <a:r>
              <a:rPr lang="zh-CN" altLang="en-US" sz="2400">
                <a:latin typeface="微软雅黑" panose="020B0503020204020204" charset="-122"/>
                <a:ea typeface="微软雅黑" panose="020B0503020204020204" charset="-122"/>
                <a:sym typeface="+mn-ea"/>
              </a:rPr>
              <a:t>工业合成氨是人类科学技术的一项重大突破。</a:t>
            </a:r>
            <a:endParaRPr lang="zh-CN" altLang="en-US" sz="2400">
              <a:latin typeface="微软雅黑" panose="020B0503020204020204" charset="-122"/>
              <a:ea typeface="微软雅黑" panose="020B0503020204020204" charset="-122"/>
              <a:sym typeface="+mn-ea"/>
            </a:endParaRPr>
          </a:p>
        </p:txBody>
      </p:sp>
      <p:pic>
        <p:nvPicPr>
          <p:cNvPr id="5" name="c42eb8ccb1325c497b361ecf75cb89c1">
            <a:hlinkClick r:id="" action="ppaction://media"/>
          </p:cNvPr>
          <p:cNvPicPr/>
          <p:nvPr>
            <a:videoFile r:link="rId5"/>
            <p:extLst>
              <p:ext uri="{DAA4B4D4-6D71-4841-9C94-3DE7FCFB9230}">
                <p14:media xmlns:p14="http://schemas.microsoft.com/office/powerpoint/2010/main" r:embed="rId6"/>
              </p:ext>
            </p:extLst>
            <p:custDataLst>
              <p:tags r:id="rId7"/>
            </p:custDataLst>
          </p:nvPr>
        </p:nvPicPr>
        <p:blipFill>
          <a:blip r:embed="rId8"/>
          <a:stretch>
            <a:fillRect/>
          </a:stretch>
        </p:blipFill>
        <p:spPr>
          <a:xfrm>
            <a:off x="2860040" y="1448435"/>
            <a:ext cx="6595110" cy="3785235"/>
          </a:xfrm>
          <a:prstGeom prst="rect">
            <a:avLst/>
          </a:prstGeom>
        </p:spPr>
      </p:pic>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heckerboard(across)">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strVal val="#ppt_w*0.70"/>
                                          </p:val>
                                        </p:tav>
                                        <p:tav tm="100000">
                                          <p:val>
                                            <p:strVal val="#ppt_w"/>
                                          </p:val>
                                        </p:tav>
                                      </p:tavLst>
                                    </p:anim>
                                    <p:anim calcmode="lin" valueType="num">
                                      <p:cBhvr>
                                        <p:cTn id="20" dur="1000" fill="hold"/>
                                        <p:tgtEl>
                                          <p:spTgt spid="6"/>
                                        </p:tgtEl>
                                        <p:attrNameLst>
                                          <p:attrName>ppt_h</p:attrName>
                                        </p:attrNameLst>
                                      </p:cBhvr>
                                      <p:tavLst>
                                        <p:tav tm="0">
                                          <p:val>
                                            <p:strVal val="#ppt_h"/>
                                          </p:val>
                                        </p:tav>
                                        <p:tav tm="100000">
                                          <p:val>
                                            <p:strVal val="#ppt_h"/>
                                          </p:val>
                                        </p:tav>
                                      </p:tavLst>
                                    </p:anim>
                                    <p:animEffect transition="in" filter="fade">
                                      <p:cBhvr>
                                        <p:cTn id="2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22" fill="hold" display="0">
                  <p:stCondLst>
                    <p:cond delay="indefinite"/>
                  </p:stCondLst>
                </p:cTn>
                <p:tgtEl>
                  <p:spTgt spid="5"/>
                </p:tgtEl>
              </p:cMediaNode>
            </p:video>
          </p:childTnLst>
        </p:cTn>
      </p:par>
    </p:tnLst>
    <p:bldLst>
      <p:bldP spid="3" grpId="0"/>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58775" y="1325880"/>
            <a:ext cx="3053715" cy="460375"/>
          </a:xfrm>
          <a:prstGeom prst="rect">
            <a:avLst/>
          </a:prstGeom>
          <a:noFill/>
        </p:spPr>
        <p:txBody>
          <a:bodyPr wrap="square" rtlCol="0" anchor="t">
            <a:spAutoFit/>
          </a:bodyPr>
          <a:lstStyle/>
          <a:p>
            <a:r>
              <a:rPr lang="en-US" altLang="zh-CN" sz="2400" b="1">
                <a:latin typeface="微软雅黑" panose="020B0503020204020204" charset="-122"/>
                <a:ea typeface="微软雅黑" panose="020B0503020204020204" charset="-122"/>
                <a:cs typeface="微软雅黑" panose="020B0503020204020204" charset="-122"/>
                <a:sym typeface="+mn-ea"/>
              </a:rPr>
              <a:t>1.</a:t>
            </a:r>
            <a:r>
              <a:rPr lang="zh-CN" sz="24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合成氨反应的特点</a:t>
            </a:r>
            <a:endParaRPr lang="zh-CN" altLang="en-US" sz="2400" b="1" smtClean="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一、工业合成氨的原理分析</a:t>
            </a:r>
            <a:endParaRPr lang="zh-CN" altLang="en-US" sz="3200" b="1">
              <a:solidFill>
                <a:schemeClr val="bg1"/>
              </a:solidFill>
              <a:latin typeface="微软雅黑" panose="020B0503020204020204" charset="-122"/>
              <a:ea typeface="微软雅黑" panose="020B0503020204020204" charset="-122"/>
            </a:endParaRPr>
          </a:p>
        </p:txBody>
      </p:sp>
      <p:grpSp>
        <p:nvGrpSpPr>
          <p:cNvPr id="29" name="组合 28"/>
          <p:cNvGrpSpPr/>
          <p:nvPr>
            <p:custDataLst>
              <p:tags r:id="rId3"/>
            </p:custDataLst>
          </p:nvPr>
        </p:nvGrpSpPr>
        <p:grpSpPr>
          <a:xfrm>
            <a:off x="673735" y="1971040"/>
            <a:ext cx="7075805" cy="645160"/>
            <a:chOff x="2700" y="1936"/>
            <a:chExt cx="11143" cy="1016"/>
          </a:xfrm>
        </p:grpSpPr>
        <p:sp>
          <p:nvSpPr>
            <p:cNvPr id="100" name="文本框 99"/>
            <p:cNvSpPr txBox="1"/>
            <p:nvPr>
              <p:custDataLst>
                <p:tags r:id="rId4"/>
              </p:custDataLst>
            </p:nvPr>
          </p:nvSpPr>
          <p:spPr>
            <a:xfrm>
              <a:off x="2700" y="1936"/>
              <a:ext cx="11143" cy="1016"/>
            </a:xfrm>
            <a:prstGeom prst="rect">
              <a:avLst/>
            </a:prstGeom>
            <a:noFill/>
            <a:ln w="9525">
              <a:noFill/>
            </a:ln>
          </p:spPr>
          <p:txBody>
            <a:bodyPr wrap="square">
              <a:spAutoFit/>
            </a:bodyPr>
            <a:lstStyle/>
            <a:p>
              <a:pPr indent="0" fontAlgn="auto">
                <a:lnSpc>
                  <a:spcPct val="150000"/>
                </a:lnSpc>
              </a:pPr>
              <a:r>
                <a:rPr lang="en-US" sz="2400">
                  <a:latin typeface="Times New Roman" panose="02020603050405020304" charset="0"/>
                  <a:ea typeface="微软雅黑" panose="020B0503020204020204" charset="-122"/>
                  <a:cs typeface="Times New Roman" panose="02020603050405020304" charset="0"/>
                </a:rPr>
                <a:t>N</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a:t>
              </a:r>
              <a:r>
                <a:rPr lang="zh-CN" sz="2400">
                  <a:latin typeface="Times New Roman" panose="02020603050405020304" charset="0"/>
                  <a:ea typeface="微软雅黑" panose="020B0503020204020204" charset="-122"/>
                  <a:cs typeface="Times New Roman" panose="02020603050405020304" charset="0"/>
                </a:rPr>
                <a:t>＋</a:t>
              </a:r>
              <a:r>
                <a:rPr lang="en-US" sz="2400">
                  <a:latin typeface="Times New Roman" panose="02020603050405020304" charset="0"/>
                  <a:ea typeface="微软雅黑" panose="020B0503020204020204" charset="-122"/>
                  <a:cs typeface="Times New Roman" panose="02020603050405020304" charset="0"/>
                </a:rPr>
                <a:t>3H</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           </a:t>
              </a:r>
              <a:r>
                <a:rPr lang="en-US" sz="2400">
                  <a:latin typeface="Times New Roman" panose="02020603050405020304" charset="0"/>
                  <a:ea typeface="微软雅黑" panose="020B0503020204020204" charset="-122"/>
                  <a:cs typeface="Times New Roman" panose="02020603050405020304" charset="0"/>
                  <a:sym typeface="+mn-ea"/>
                </a:rPr>
                <a:t>2NH</a:t>
              </a:r>
              <a:r>
                <a:rPr lang="en-US" sz="2400" baseline="-25000">
                  <a:latin typeface="Times New Roman" panose="02020603050405020304" charset="0"/>
                  <a:ea typeface="微软雅黑" panose="020B0503020204020204" charset="-122"/>
                  <a:cs typeface="Times New Roman" panose="02020603050405020304" charset="0"/>
                  <a:sym typeface="+mn-ea"/>
                </a:rPr>
                <a:t>3</a:t>
              </a:r>
              <a:r>
                <a:rPr lang="en-US" sz="2400">
                  <a:latin typeface="Times New Roman" panose="02020603050405020304" charset="0"/>
                  <a:ea typeface="微软雅黑" panose="020B0503020204020204" charset="-122"/>
                  <a:cs typeface="Times New Roman" panose="02020603050405020304" charset="0"/>
                  <a:sym typeface="+mn-ea"/>
                </a:rPr>
                <a:t>(g)   Δ</a:t>
              </a:r>
              <a:r>
                <a:rPr lang="en-US" sz="2400" i="1">
                  <a:latin typeface="Times New Roman" panose="02020603050405020304" charset="0"/>
                  <a:ea typeface="微软雅黑" panose="020B0503020204020204" charset="-122"/>
                  <a:cs typeface="Times New Roman" panose="02020603050405020304" charset="0"/>
                  <a:sym typeface="+mn-ea"/>
                </a:rPr>
                <a:t>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92.4 kJ·mol</a:t>
              </a:r>
              <a:r>
                <a:rPr lang="zh-CN" sz="2400" baseline="30000">
                  <a:latin typeface="Times New Roman" panose="02020603050405020304" charset="0"/>
                  <a:ea typeface="微软雅黑" panose="020B0503020204020204" charset="-122"/>
                  <a:cs typeface="Times New Roman" panose="02020603050405020304" charset="0"/>
                  <a:sym typeface="+mn-ea"/>
                </a:rPr>
                <a:t>－</a:t>
              </a:r>
              <a:r>
                <a:rPr lang="en-US" sz="2400" baseline="30000">
                  <a:latin typeface="Times New Roman" panose="02020603050405020304" charset="0"/>
                  <a:ea typeface="微软雅黑" panose="020B0503020204020204" charset="-122"/>
                  <a:cs typeface="Times New Roman" panose="02020603050405020304" charset="0"/>
                  <a:sym typeface="+mn-ea"/>
                </a:rPr>
                <a:t>1</a:t>
              </a: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0" name="图片 29"/>
            <p:cNvPicPr/>
            <p:nvPr>
              <p:custDataLst>
                <p:tags r:id="rId5"/>
              </p:custDataLst>
            </p:nvPr>
          </p:nvPicPr>
          <p:blipFill>
            <a:blip r:embed="rId6">
              <a:lum bright="-6000"/>
            </a:blip>
            <a:stretch>
              <a:fillRect/>
            </a:stretch>
          </p:blipFill>
          <p:spPr>
            <a:xfrm>
              <a:off x="5862" y="2454"/>
              <a:ext cx="898" cy="281"/>
            </a:xfrm>
            <a:prstGeom prst="rect">
              <a:avLst/>
            </a:prstGeom>
            <a:noFill/>
            <a:ln w="9525">
              <a:noFill/>
            </a:ln>
          </p:spPr>
        </p:pic>
      </p:grpSp>
      <p:sp>
        <p:nvSpPr>
          <p:cNvPr id="14" name="文本框 13"/>
          <p:cNvSpPr txBox="1"/>
          <p:nvPr>
            <p:custDataLst>
              <p:tags r:id="rId7"/>
            </p:custDataLst>
          </p:nvPr>
        </p:nvSpPr>
        <p:spPr>
          <a:xfrm>
            <a:off x="673735" y="2822575"/>
            <a:ext cx="4336415" cy="460375"/>
          </a:xfrm>
          <a:prstGeom prst="rect">
            <a:avLst/>
          </a:prstGeom>
          <a:noFill/>
          <a:ln>
            <a:solidFill>
              <a:srgbClr val="0B66EE"/>
            </a:solidFill>
          </a:ln>
        </p:spPr>
        <p:txBody>
          <a:bodyPr wrap="square" rtlCol="0" anchor="t">
            <a:spAutoFit/>
          </a:bodyPr>
          <a:lstStyle/>
          <a:p>
            <a:pPr indent="0" fontAlgn="auto">
              <a:lnSpc>
                <a:spcPct val="100000"/>
              </a:lnSpc>
            </a:pPr>
            <a:r>
              <a:rPr lang="en-US" sz="2400">
                <a:latin typeface="Times New Roman" panose="02020603050405020304" charset="0"/>
                <a:ea typeface="微软雅黑" panose="020B0503020204020204" charset="-122"/>
                <a:cs typeface="Times New Roman" panose="02020603050405020304" charset="0"/>
                <a:sym typeface="+mn-ea"/>
              </a:rPr>
              <a:t>(1)</a:t>
            </a:r>
            <a:r>
              <a:rPr lang="zh-CN" sz="2400">
                <a:latin typeface="Times New Roman" panose="02020603050405020304" charset="0"/>
                <a:ea typeface="微软雅黑" panose="020B0503020204020204" charset="-122"/>
                <a:cs typeface="Times New Roman" panose="02020603050405020304" charset="0"/>
                <a:sym typeface="+mn-ea"/>
              </a:rPr>
              <a:t>可逆性：反应为</a:t>
            </a:r>
            <a:r>
              <a:rPr lang="zh-CN" altLang="en-US" sz="2400">
                <a:latin typeface="Times New Roman" panose="02020603050405020304" charset="0"/>
                <a:ea typeface="微软雅黑" panose="020B0503020204020204" charset="-122"/>
                <a:cs typeface="Times New Roman" panose="02020603050405020304" charset="0"/>
                <a:sym typeface="+mn-ea"/>
              </a:rPr>
              <a:t>可逆</a:t>
            </a:r>
            <a:r>
              <a:rPr lang="zh-CN" sz="2400">
                <a:latin typeface="Times New Roman" panose="02020603050405020304" charset="0"/>
                <a:ea typeface="微软雅黑" panose="020B0503020204020204" charset="-122"/>
                <a:cs typeface="Times New Roman" panose="02020603050405020304" charset="0"/>
                <a:sym typeface="+mn-ea"/>
              </a:rPr>
              <a:t>反应</a:t>
            </a:r>
            <a:r>
              <a:rPr lang="zh-CN" sz="2400" smtClean="0">
                <a:latin typeface="Times New Roman" panose="02020603050405020304" charset="0"/>
                <a:ea typeface="微软雅黑" panose="020B0503020204020204" charset="-122"/>
                <a:cs typeface="Times New Roman" panose="02020603050405020304" charset="0"/>
                <a:sym typeface="+mn-ea"/>
              </a:rPr>
              <a:t>。</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p:txBody>
      </p:sp>
      <p:sp>
        <p:nvSpPr>
          <p:cNvPr id="17" name="文本框 16"/>
          <p:cNvSpPr txBox="1"/>
          <p:nvPr>
            <p:custDataLst>
              <p:tags r:id="rId8"/>
            </p:custDataLst>
          </p:nvPr>
        </p:nvSpPr>
        <p:spPr>
          <a:xfrm>
            <a:off x="673735" y="3443605"/>
            <a:ext cx="6096000" cy="460375"/>
          </a:xfrm>
          <a:prstGeom prst="rect">
            <a:avLst/>
          </a:prstGeom>
          <a:noFill/>
          <a:ln>
            <a:solidFill>
              <a:srgbClr val="0B66EE"/>
            </a:solidFill>
          </a:ln>
        </p:spPr>
        <p:txBody>
          <a:bodyPr wrap="square" rtlCol="0" anchor="t">
            <a:spAutoFit/>
          </a:bodyPr>
          <a:lstStyle/>
          <a:p>
            <a:r>
              <a:rPr lang="en-US" sz="2400" smtClean="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2)</a:t>
            </a:r>
            <a:r>
              <a:rPr lang="zh-CN" sz="2400">
                <a:latin typeface="Times New Roman" panose="02020603050405020304" charset="0"/>
                <a:ea typeface="微软雅黑" panose="020B0503020204020204" charset="-122"/>
                <a:cs typeface="Times New Roman" panose="02020603050405020304" charset="0"/>
                <a:sym typeface="+mn-ea"/>
              </a:rPr>
              <a:t>体积变化：正反应是气体体积</a:t>
            </a:r>
            <a:r>
              <a:rPr lang="zh-CN" altLang="en-US" sz="2400">
                <a:latin typeface="Times New Roman" panose="02020603050405020304" charset="0"/>
                <a:ea typeface="微软雅黑" panose="020B0503020204020204" charset="-122"/>
                <a:cs typeface="Times New Roman" panose="02020603050405020304" charset="0"/>
                <a:sym typeface="+mn-ea"/>
              </a:rPr>
              <a:t>缩小</a:t>
            </a:r>
            <a:r>
              <a:rPr lang="zh-CN" sz="2400">
                <a:latin typeface="Times New Roman" panose="02020603050405020304" charset="0"/>
                <a:ea typeface="微软雅黑" panose="020B0503020204020204" charset="-122"/>
                <a:cs typeface="Times New Roman" panose="02020603050405020304" charset="0"/>
                <a:sym typeface="+mn-ea"/>
              </a:rPr>
              <a:t>的反应</a:t>
            </a:r>
            <a:r>
              <a:rPr lang="zh-CN" sz="2400" smtClean="0">
                <a:latin typeface="Times New Roman" panose="02020603050405020304" charset="0"/>
                <a:ea typeface="微软雅黑" panose="020B0503020204020204" charset="-122"/>
                <a:cs typeface="Times New Roman" panose="02020603050405020304" charset="0"/>
                <a:sym typeface="+mn-ea"/>
              </a:rPr>
              <a:t>。</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p:txBody>
      </p:sp>
      <p:sp>
        <p:nvSpPr>
          <p:cNvPr id="18" name="文本框 17"/>
          <p:cNvSpPr txBox="1"/>
          <p:nvPr>
            <p:custDataLst>
              <p:tags r:id="rId9"/>
            </p:custDataLst>
          </p:nvPr>
        </p:nvSpPr>
        <p:spPr>
          <a:xfrm>
            <a:off x="673735" y="4064635"/>
            <a:ext cx="4460240" cy="460375"/>
          </a:xfrm>
          <a:prstGeom prst="rect">
            <a:avLst/>
          </a:prstGeom>
          <a:noFill/>
          <a:ln>
            <a:solidFill>
              <a:srgbClr val="0B66EE"/>
            </a:solidFill>
          </a:ln>
        </p:spPr>
        <p:txBody>
          <a:bodyPr wrap="square" rtlCol="0" anchor="t">
            <a:spAutoFit/>
          </a:bodyPr>
          <a:lstStyle/>
          <a:p>
            <a:pPr indent="0" fontAlgn="auto">
              <a:lnSpc>
                <a:spcPct val="100000"/>
              </a:lnSpc>
            </a:pPr>
            <a:r>
              <a:rPr lang="en-US" sz="2400" smtClean="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3)</a:t>
            </a:r>
            <a:r>
              <a:rPr lang="zh-CN" sz="2400">
                <a:latin typeface="Times New Roman" panose="02020603050405020304" charset="0"/>
                <a:ea typeface="微软雅黑" panose="020B0503020204020204" charset="-122"/>
                <a:cs typeface="Times New Roman" panose="02020603050405020304" charset="0"/>
                <a:sym typeface="+mn-ea"/>
              </a:rPr>
              <a:t>焓变：</a:t>
            </a:r>
            <a:r>
              <a:rPr lang="en-US" sz="2400">
                <a:latin typeface="Times New Roman" panose="02020603050405020304" charset="0"/>
                <a:ea typeface="微软雅黑" panose="020B0503020204020204" charset="-122"/>
                <a:cs typeface="Times New Roman" panose="02020603050405020304" charset="0"/>
                <a:sym typeface="+mn-ea"/>
              </a:rPr>
              <a:t>ΔH</a:t>
            </a:r>
            <a:r>
              <a:rPr lang="en-US" altLang="zh-CN" sz="2400">
                <a:latin typeface="Times New Roman" panose="02020603050405020304" charset="0"/>
                <a:ea typeface="微软雅黑" panose="020B0503020204020204" charset="-122"/>
                <a:cs typeface="Times New Roman" panose="02020603050405020304" charset="0"/>
                <a:sym typeface="+mn-ea"/>
              </a:rPr>
              <a:t>&lt;</a:t>
            </a:r>
            <a:r>
              <a:rPr lang="en-US" sz="2400">
                <a:latin typeface="Times New Roman" panose="02020603050405020304" charset="0"/>
                <a:ea typeface="微软雅黑" panose="020B0503020204020204" charset="-122"/>
                <a:cs typeface="Times New Roman" panose="02020603050405020304" charset="0"/>
                <a:sym typeface="+mn-ea"/>
              </a:rPr>
              <a:t>0</a:t>
            </a:r>
            <a:r>
              <a:rPr lang="zh-CN" sz="2400">
                <a:latin typeface="Times New Roman" panose="02020603050405020304" charset="0"/>
                <a:ea typeface="微软雅黑" panose="020B0503020204020204" charset="-122"/>
                <a:cs typeface="Times New Roman" panose="02020603050405020304" charset="0"/>
                <a:sym typeface="+mn-ea"/>
              </a:rPr>
              <a:t>，熵变：</a:t>
            </a:r>
            <a:r>
              <a:rPr lang="en-US" sz="2400">
                <a:latin typeface="Times New Roman" panose="02020603050405020304" charset="0"/>
                <a:ea typeface="微软雅黑" panose="020B0503020204020204" charset="-122"/>
                <a:cs typeface="Times New Roman" panose="02020603050405020304" charset="0"/>
                <a:sym typeface="+mn-ea"/>
              </a:rPr>
              <a:t>ΔS</a:t>
            </a:r>
            <a:r>
              <a:rPr lang="en-US" altLang="zh-CN" sz="2400">
                <a:latin typeface="Times New Roman" panose="02020603050405020304" charset="0"/>
                <a:ea typeface="微软雅黑" panose="020B0503020204020204" charset="-122"/>
                <a:cs typeface="Times New Roman" panose="02020603050405020304" charset="0"/>
                <a:sym typeface="+mn-ea"/>
              </a:rPr>
              <a:t>&lt;</a:t>
            </a:r>
            <a:r>
              <a:rPr lang="en-US" sz="2400">
                <a:latin typeface="Times New Roman" panose="02020603050405020304" charset="0"/>
                <a:ea typeface="微软雅黑" panose="020B0503020204020204" charset="-122"/>
                <a:cs typeface="Times New Roman" panose="02020603050405020304" charset="0"/>
                <a:sym typeface="+mn-ea"/>
              </a:rPr>
              <a:t>0</a:t>
            </a:r>
            <a:r>
              <a:rPr lang="zh-CN" sz="2400" smtClean="0">
                <a:latin typeface="Times New Roman" panose="02020603050405020304" charset="0"/>
                <a:ea typeface="微软雅黑" panose="020B0503020204020204" charset="-122"/>
                <a:cs typeface="Times New Roman" panose="02020603050405020304" charset="0"/>
                <a:sym typeface="+mn-ea"/>
              </a:rPr>
              <a:t>。</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p:txBody>
      </p:sp>
      <p:sp>
        <p:nvSpPr>
          <p:cNvPr id="19" name="文本框 18"/>
          <p:cNvSpPr txBox="1"/>
          <p:nvPr>
            <p:custDataLst>
              <p:tags r:id="rId10"/>
            </p:custDataLst>
          </p:nvPr>
        </p:nvSpPr>
        <p:spPr>
          <a:xfrm>
            <a:off x="673735" y="4685665"/>
            <a:ext cx="7885430" cy="460375"/>
          </a:xfrm>
          <a:prstGeom prst="rect">
            <a:avLst/>
          </a:prstGeom>
          <a:noFill/>
          <a:ln>
            <a:solidFill>
              <a:srgbClr val="0B66EE"/>
            </a:solidFill>
          </a:ln>
        </p:spPr>
        <p:txBody>
          <a:bodyPr wrap="square" rtlCol="0" anchor="t">
            <a:spAutoFit/>
          </a:bodyPr>
          <a:lstStyle/>
          <a:p>
            <a:r>
              <a:rPr lang="en-US" sz="2400" smtClean="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4)</a:t>
            </a:r>
            <a:r>
              <a:rPr lang="zh-CN" sz="2400">
                <a:latin typeface="Times New Roman" panose="02020603050405020304" charset="0"/>
                <a:ea typeface="微软雅黑" panose="020B0503020204020204" charset="-122"/>
                <a:cs typeface="Times New Roman" panose="02020603050405020304" charset="0"/>
                <a:sym typeface="+mn-ea"/>
              </a:rPr>
              <a:t>自发性：常温</a:t>
            </a:r>
            <a:r>
              <a:rPr lang="en-US" sz="2400">
                <a:latin typeface="Times New Roman" panose="02020603050405020304" charset="0"/>
                <a:ea typeface="微软雅黑" panose="020B0503020204020204" charset="-122"/>
                <a:cs typeface="Times New Roman" panose="02020603050405020304" charset="0"/>
                <a:sym typeface="+mn-ea"/>
              </a:rPr>
              <a:t>(298 K)</a:t>
            </a:r>
            <a:r>
              <a:rPr lang="zh-CN" sz="2400">
                <a:latin typeface="Times New Roman" panose="02020603050405020304" charset="0"/>
                <a:ea typeface="微软雅黑" panose="020B0503020204020204" charset="-122"/>
                <a:cs typeface="Times New Roman" panose="02020603050405020304" charset="0"/>
                <a:sym typeface="+mn-ea"/>
              </a:rPr>
              <a:t>下，</a:t>
            </a:r>
            <a:r>
              <a:rPr lang="en-US" sz="2400">
                <a:latin typeface="Times New Roman" panose="02020603050405020304" charset="0"/>
                <a:ea typeface="微软雅黑" panose="020B0503020204020204" charset="-122"/>
                <a:cs typeface="Times New Roman" panose="02020603050405020304" charset="0"/>
                <a:sym typeface="+mn-ea"/>
              </a:rPr>
              <a:t>ΔH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TΔS</a:t>
            </a:r>
            <a:r>
              <a:rPr lang="en-US" altLang="zh-CN" sz="2400">
                <a:latin typeface="Times New Roman" panose="02020603050405020304" charset="0"/>
                <a:ea typeface="微软雅黑" panose="020B0503020204020204" charset="-122"/>
                <a:cs typeface="Times New Roman" panose="02020603050405020304" charset="0"/>
                <a:sym typeface="+mn-ea"/>
              </a:rPr>
              <a:t>&lt;</a:t>
            </a:r>
            <a:r>
              <a:rPr lang="en-US" sz="2400">
                <a:latin typeface="Times New Roman" panose="02020603050405020304" charset="0"/>
                <a:ea typeface="微软雅黑" panose="020B0503020204020204" charset="-122"/>
                <a:cs typeface="Times New Roman" panose="02020603050405020304" charset="0"/>
                <a:sym typeface="+mn-ea"/>
              </a:rPr>
              <a:t>0</a:t>
            </a:r>
            <a:r>
              <a:rPr lang="zh-CN" sz="2400">
                <a:latin typeface="Times New Roman" panose="02020603050405020304" charset="0"/>
                <a:ea typeface="微软雅黑" panose="020B0503020204020204" charset="-122"/>
                <a:cs typeface="Times New Roman" panose="02020603050405020304" charset="0"/>
                <a:sym typeface="+mn-ea"/>
              </a:rPr>
              <a:t>，能自发进行。</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pic>
        <p:nvPicPr>
          <p:cNvPr id="23" name="图片 22"/>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8254613" y="1748862"/>
            <a:ext cx="3195756" cy="21551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heel(1)">
                                      <p:cBhvr>
                                        <p:cTn id="15" dur="20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1000" fill="hold"/>
                                        <p:tgtEl>
                                          <p:spTgt spid="17"/>
                                        </p:tgtEl>
                                        <p:attrNameLst>
                                          <p:attrName>ppt_w</p:attrName>
                                        </p:attrNameLst>
                                      </p:cBhvr>
                                      <p:tavLst>
                                        <p:tav tm="0">
                                          <p:val>
                                            <p:strVal val="#ppt_w*0.70"/>
                                          </p:val>
                                        </p:tav>
                                        <p:tav tm="100000">
                                          <p:val>
                                            <p:strVal val="#ppt_w"/>
                                          </p:val>
                                        </p:tav>
                                      </p:tavLst>
                                    </p:anim>
                                    <p:anim calcmode="lin" valueType="num">
                                      <p:cBhvr>
                                        <p:cTn id="25" dur="1000" fill="hold"/>
                                        <p:tgtEl>
                                          <p:spTgt spid="17"/>
                                        </p:tgtEl>
                                        <p:attrNameLst>
                                          <p:attrName>ppt_h</p:attrName>
                                        </p:attrNameLst>
                                      </p:cBhvr>
                                      <p:tavLst>
                                        <p:tav tm="0">
                                          <p:val>
                                            <p:strVal val="#ppt_h"/>
                                          </p:val>
                                        </p:tav>
                                        <p:tav tm="100000">
                                          <p:val>
                                            <p:strVal val="#ppt_h"/>
                                          </p:val>
                                        </p:tav>
                                      </p:tavLst>
                                    </p:anim>
                                    <p:animEffect transition="in" filter="fade">
                                      <p:cBhvr>
                                        <p:cTn id="26" dur="10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p:cTn id="35" dur="1000" fill="hold"/>
                                        <p:tgtEl>
                                          <p:spTgt spid="19"/>
                                        </p:tgtEl>
                                        <p:attrNameLst>
                                          <p:attrName>ppt_w</p:attrName>
                                        </p:attrNameLst>
                                      </p:cBhvr>
                                      <p:tavLst>
                                        <p:tav tm="0">
                                          <p:val>
                                            <p:strVal val="#ppt_w*0.70"/>
                                          </p:val>
                                        </p:tav>
                                        <p:tav tm="100000">
                                          <p:val>
                                            <p:strVal val="#ppt_w"/>
                                          </p:val>
                                        </p:tav>
                                      </p:tavLst>
                                    </p:anim>
                                    <p:anim calcmode="lin" valueType="num">
                                      <p:cBhvr>
                                        <p:cTn id="36" dur="1000" fill="hold"/>
                                        <p:tgtEl>
                                          <p:spTgt spid="19"/>
                                        </p:tgtEl>
                                        <p:attrNameLst>
                                          <p:attrName>ppt_h</p:attrName>
                                        </p:attrNameLst>
                                      </p:cBhvr>
                                      <p:tavLst>
                                        <p:tav tm="0">
                                          <p:val>
                                            <p:strVal val="#ppt_h"/>
                                          </p:val>
                                        </p:tav>
                                        <p:tav tm="100000">
                                          <p:val>
                                            <p:strVal val="#ppt_h"/>
                                          </p:val>
                                        </p:tav>
                                      </p:tavLst>
                                    </p:anim>
                                    <p:animEffect transition="in" filter="fade">
                                      <p:cBhvr>
                                        <p:cTn id="37"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bldLvl="0" animBg="1"/>
      <p:bldP spid="17" grpId="0" bldLvl="0" animBg="1"/>
      <p:bldP spid="18" grpId="0" bldLvl="0" animBg="1"/>
      <p:bldP spid="19"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58775" y="1236345"/>
            <a:ext cx="3029585" cy="460375"/>
          </a:xfrm>
          <a:prstGeom prst="rect">
            <a:avLst/>
          </a:prstGeom>
          <a:noFill/>
        </p:spPr>
        <p:txBody>
          <a:bodyPr wrap="square" rtlCol="0" anchor="t">
            <a:spAutoFit/>
          </a:bodyPr>
          <a:lstStyle/>
          <a:p>
            <a:r>
              <a:rPr lang="en-US" altLang="zh-CN" sz="2400" b="1" spc="150" noProof="0">
                <a:ln>
                  <a:noFill/>
                </a:ln>
                <a:effectLst/>
                <a:uLnTx/>
                <a:uFillTx/>
                <a:latin typeface="微软雅黑" panose="020B0503020204020204" charset="-122"/>
                <a:ea typeface="微软雅黑" panose="020B0503020204020204" charset="-122"/>
                <a:cs typeface="微软雅黑" panose="020B0503020204020204" charset="-122"/>
                <a:sym typeface="+mn-ea"/>
              </a:rPr>
              <a:t>2.</a:t>
            </a:r>
            <a:r>
              <a:rPr lang="zh-CN" sz="24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合成氨的</a:t>
            </a:r>
            <a:r>
              <a:rPr lang="zh-CN" altLang="zh-CN" sz="2400" b="1" kern="0" noProof="0" smtClean="0">
                <a:ln>
                  <a:noFill/>
                </a:ln>
                <a:solidFill>
                  <a:srgbClr val="000000"/>
                </a:solidFill>
                <a:effectLst/>
                <a:highlight>
                  <a:srgbClr val="000000">
                    <a:alpha val="0"/>
                  </a:srgbClr>
                </a:highlight>
                <a:uLnTx/>
                <a:uFillTx/>
                <a:latin typeface="微软雅黑" panose="020B0503020204020204" charset="-122"/>
                <a:ea typeface="微软雅黑" panose="020B0503020204020204" charset="-122"/>
                <a:cs typeface="微软雅黑" panose="020B0503020204020204" charset="-122"/>
                <a:sym typeface="+mn-ea"/>
              </a:rPr>
              <a:t>原理分析</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6" name="文本框 5"/>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一、工业合成氨的原理分析</a:t>
            </a:r>
            <a:endParaRPr lang="zh-CN" altLang="en-US" sz="3200" b="1">
              <a:solidFill>
                <a:schemeClr val="bg1"/>
              </a:solidFill>
              <a:latin typeface="微软雅黑" panose="020B0503020204020204" charset="-122"/>
              <a:ea typeface="微软雅黑" panose="020B0503020204020204" charset="-122"/>
            </a:endParaRPr>
          </a:p>
        </p:txBody>
      </p:sp>
      <p:grpSp>
        <p:nvGrpSpPr>
          <p:cNvPr id="29" name="组合 28"/>
          <p:cNvGrpSpPr/>
          <p:nvPr>
            <p:custDataLst>
              <p:tags r:id="rId3"/>
            </p:custDataLst>
          </p:nvPr>
        </p:nvGrpSpPr>
        <p:grpSpPr>
          <a:xfrm>
            <a:off x="673735" y="1696720"/>
            <a:ext cx="7075805" cy="645160"/>
            <a:chOff x="2700" y="1936"/>
            <a:chExt cx="11143" cy="1016"/>
          </a:xfrm>
        </p:grpSpPr>
        <p:sp>
          <p:nvSpPr>
            <p:cNvPr id="100" name="文本框 99"/>
            <p:cNvSpPr txBox="1"/>
            <p:nvPr>
              <p:custDataLst>
                <p:tags r:id="rId4"/>
              </p:custDataLst>
            </p:nvPr>
          </p:nvSpPr>
          <p:spPr>
            <a:xfrm>
              <a:off x="2700" y="1936"/>
              <a:ext cx="11143" cy="1016"/>
            </a:xfrm>
            <a:prstGeom prst="rect">
              <a:avLst/>
            </a:prstGeom>
            <a:noFill/>
            <a:ln w="9525">
              <a:noFill/>
            </a:ln>
          </p:spPr>
          <p:txBody>
            <a:bodyPr wrap="square">
              <a:spAutoFit/>
            </a:bodyPr>
            <a:lstStyle/>
            <a:p>
              <a:pPr indent="0" fontAlgn="auto">
                <a:lnSpc>
                  <a:spcPct val="150000"/>
                </a:lnSpc>
              </a:pPr>
              <a:r>
                <a:rPr lang="en-US" sz="2400">
                  <a:latin typeface="Times New Roman" panose="02020603050405020304" charset="0"/>
                  <a:ea typeface="微软雅黑" panose="020B0503020204020204" charset="-122"/>
                  <a:cs typeface="Times New Roman" panose="02020603050405020304" charset="0"/>
                </a:rPr>
                <a:t>N</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a:t>
              </a:r>
              <a:r>
                <a:rPr lang="zh-CN" sz="2400">
                  <a:latin typeface="Times New Roman" panose="02020603050405020304" charset="0"/>
                  <a:ea typeface="微软雅黑" panose="020B0503020204020204" charset="-122"/>
                  <a:cs typeface="Times New Roman" panose="02020603050405020304" charset="0"/>
                </a:rPr>
                <a:t>＋</a:t>
              </a:r>
              <a:r>
                <a:rPr lang="en-US" sz="2400">
                  <a:latin typeface="Times New Roman" panose="02020603050405020304" charset="0"/>
                  <a:ea typeface="微软雅黑" panose="020B0503020204020204" charset="-122"/>
                  <a:cs typeface="Times New Roman" panose="02020603050405020304" charset="0"/>
                </a:rPr>
                <a:t>3H</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           </a:t>
              </a:r>
              <a:r>
                <a:rPr lang="en-US" sz="2400">
                  <a:latin typeface="Times New Roman" panose="02020603050405020304" charset="0"/>
                  <a:ea typeface="微软雅黑" panose="020B0503020204020204" charset="-122"/>
                  <a:cs typeface="Times New Roman" panose="02020603050405020304" charset="0"/>
                  <a:sym typeface="+mn-ea"/>
                </a:rPr>
                <a:t>2NH</a:t>
              </a:r>
              <a:r>
                <a:rPr lang="en-US" sz="2400" baseline="-25000">
                  <a:latin typeface="Times New Roman" panose="02020603050405020304" charset="0"/>
                  <a:ea typeface="微软雅黑" panose="020B0503020204020204" charset="-122"/>
                  <a:cs typeface="Times New Roman" panose="02020603050405020304" charset="0"/>
                  <a:sym typeface="+mn-ea"/>
                </a:rPr>
                <a:t>3</a:t>
              </a:r>
              <a:r>
                <a:rPr lang="en-US" sz="2400">
                  <a:latin typeface="Times New Roman" panose="02020603050405020304" charset="0"/>
                  <a:ea typeface="微软雅黑" panose="020B0503020204020204" charset="-122"/>
                  <a:cs typeface="Times New Roman" panose="02020603050405020304" charset="0"/>
                  <a:sym typeface="+mn-ea"/>
                </a:rPr>
                <a:t>(g)   Δ</a:t>
              </a:r>
              <a:r>
                <a:rPr lang="en-US" sz="2400" i="1">
                  <a:latin typeface="Times New Roman" panose="02020603050405020304" charset="0"/>
                  <a:ea typeface="微软雅黑" panose="020B0503020204020204" charset="-122"/>
                  <a:cs typeface="Times New Roman" panose="02020603050405020304" charset="0"/>
                  <a:sym typeface="+mn-ea"/>
                </a:rPr>
                <a:t>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92.4 kJ·mol</a:t>
              </a:r>
              <a:r>
                <a:rPr lang="zh-CN" sz="2400" baseline="30000">
                  <a:latin typeface="Times New Roman" panose="02020603050405020304" charset="0"/>
                  <a:ea typeface="微软雅黑" panose="020B0503020204020204" charset="-122"/>
                  <a:cs typeface="Times New Roman" panose="02020603050405020304" charset="0"/>
                  <a:sym typeface="+mn-ea"/>
                </a:rPr>
                <a:t>－</a:t>
              </a:r>
              <a:r>
                <a:rPr lang="en-US" sz="2400" baseline="30000">
                  <a:latin typeface="Times New Roman" panose="02020603050405020304" charset="0"/>
                  <a:ea typeface="微软雅黑" panose="020B0503020204020204" charset="-122"/>
                  <a:cs typeface="Times New Roman" panose="02020603050405020304" charset="0"/>
                  <a:sym typeface="+mn-ea"/>
                </a:rPr>
                <a:t>1</a:t>
              </a: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0" name="图片 29"/>
            <p:cNvPicPr/>
            <p:nvPr>
              <p:custDataLst>
                <p:tags r:id="rId5"/>
              </p:custDataLst>
            </p:nvPr>
          </p:nvPicPr>
          <p:blipFill>
            <a:blip r:embed="rId6">
              <a:lum bright="-6000"/>
            </a:blip>
            <a:stretch>
              <a:fillRect/>
            </a:stretch>
          </p:blipFill>
          <p:spPr>
            <a:xfrm>
              <a:off x="5862" y="2454"/>
              <a:ext cx="898" cy="281"/>
            </a:xfrm>
            <a:prstGeom prst="rect">
              <a:avLst/>
            </a:prstGeom>
            <a:noFill/>
            <a:ln w="9525">
              <a:noFill/>
            </a:ln>
          </p:spPr>
        </p:pic>
      </p:grpSp>
      <p:sp>
        <p:nvSpPr>
          <p:cNvPr id="15" name="文本框 14"/>
          <p:cNvSpPr txBox="1"/>
          <p:nvPr>
            <p:custDataLst>
              <p:tags r:id="rId7"/>
            </p:custDataLst>
          </p:nvPr>
        </p:nvSpPr>
        <p:spPr>
          <a:xfrm>
            <a:off x="397510" y="2385695"/>
            <a:ext cx="5139055" cy="460375"/>
          </a:xfrm>
          <a:prstGeom prst="rect">
            <a:avLst/>
          </a:prstGeom>
          <a:solidFill>
            <a:schemeClr val="accent1">
              <a:lumMod val="20000"/>
              <a:lumOff val="80000"/>
            </a:schemeClr>
          </a:solidFill>
          <a:ln>
            <a:noFill/>
          </a:ln>
        </p:spPr>
        <p:txBody>
          <a:bodyPr wrap="square" rtlCol="0" anchor="t">
            <a:spAutoFit/>
          </a:bodyPr>
          <a:lstStyle/>
          <a:p>
            <a:r>
              <a:rPr lang="zh-CN" altLang="en-US" sz="2400" spc="150">
                <a:solidFill>
                  <a:schemeClr val="tx1"/>
                </a:solidFill>
                <a:latin typeface="微软雅黑" panose="020B0503020204020204" charset="-122"/>
                <a:ea typeface="微软雅黑" panose="020B0503020204020204" charset="-122"/>
                <a:cs typeface="Times New Roman" panose="02020603050405020304" charset="0"/>
                <a:sym typeface="+mn-ea"/>
              </a:rPr>
              <a:t>⑴</a:t>
            </a:r>
            <a:r>
              <a:rPr lang="zh-CN" altLang="en-US" sz="2400" spc="150">
                <a:solidFill>
                  <a:schemeClr val="tx1"/>
                </a:solidFill>
                <a:latin typeface="Times New Roman" panose="02020603050405020304" charset="0"/>
                <a:ea typeface="微软雅黑" panose="020B0503020204020204" charset="-122"/>
                <a:cs typeface="Times New Roman" panose="02020603050405020304" charset="0"/>
                <a:sym typeface="+mn-ea"/>
              </a:rPr>
              <a:t>从化学反应速率、化学平衡分析</a:t>
            </a:r>
            <a:endParaRPr lang="zh-CN" altLang="en-US" sz="2400" spc="150">
              <a:solidFill>
                <a:schemeClr val="tx1"/>
              </a:solidFill>
              <a:latin typeface="Times New Roman" panose="02020603050405020304" charset="0"/>
              <a:ea typeface="微软雅黑" panose="020B0503020204020204" charset="-122"/>
              <a:cs typeface="Times New Roman" panose="02020603050405020304" charset="0"/>
              <a:sym typeface="+mn-ea"/>
            </a:endParaRPr>
          </a:p>
        </p:txBody>
      </p:sp>
      <p:graphicFrame>
        <p:nvGraphicFramePr>
          <p:cNvPr id="66" name="表格 65"/>
          <p:cNvGraphicFramePr>
            <a:graphicFrameLocks noGrp="1"/>
          </p:cNvGraphicFramePr>
          <p:nvPr>
            <p:custDataLst>
              <p:tags r:id="rId8"/>
            </p:custDataLst>
          </p:nvPr>
        </p:nvGraphicFramePr>
        <p:xfrm>
          <a:off x="525780" y="3141345"/>
          <a:ext cx="10547350" cy="2805430"/>
        </p:xfrm>
        <a:graphic>
          <a:graphicData uri="http://schemas.openxmlformats.org/drawingml/2006/table">
            <a:tbl>
              <a:tblPr>
                <a:tableStyleId>{5940675A-B579-460E-94D1-54222C63F5DA}</a:tableStyleId>
              </a:tblPr>
              <a:tblGrid>
                <a:gridCol w="2400935"/>
                <a:gridCol w="2784475"/>
                <a:gridCol w="1991995"/>
                <a:gridCol w="1675130"/>
                <a:gridCol w="1694815"/>
              </a:tblGrid>
              <a:tr h="496570">
                <a:tc rowSpan="2">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对合成氨</a:t>
                      </a:r>
                      <a:endParaRPr lang="en-US" altLang="zh-CN" sz="2400" b="0" kern="1200">
                        <a:solidFill>
                          <a:prstClr val="black"/>
                        </a:solidFill>
                        <a:latin typeface="Times New Roman" panose="02020603050405020304" charset="0"/>
                        <a:ea typeface="微软雅黑" panose="020B0503020204020204" charset="-122"/>
                        <a:cs typeface="+mn-cs"/>
                      </a:endParaRPr>
                    </a:p>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反应的影响</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gridSpan="4">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影响因素</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hMerge="1">
                  <a:tcPr/>
                </a:tc>
                <a:tc hMerge="1">
                  <a:tcPr/>
                </a:tc>
                <a:tc hMerge="1">
                  <a:tcPr/>
                </a:tc>
              </a:tr>
              <a:tr h="457200">
                <a:tc vMerge="1">
                  <a:tcPr/>
                </a:tc>
                <a:tc>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浓度</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温度</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压强</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催化剂</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R w="28575" cap="flat" cmpd="sng" algn="ctr">
                      <a:solidFill>
                        <a:schemeClr val="tx1"/>
                      </a:solidFill>
                      <a:prstDash val="solid"/>
                      <a:round/>
                      <a:headEnd type="none" w="med" len="med"/>
                      <a:tailEnd type="none" w="med" len="med"/>
                    </a:lnR>
                  </a:tcPr>
                </a:tc>
              </a:tr>
              <a:tr h="822960">
                <a:tc>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增大合成氨</a:t>
                      </a:r>
                      <a:endParaRPr lang="en-US" altLang="zh-CN" sz="2400" b="0" kern="1200">
                        <a:solidFill>
                          <a:prstClr val="black"/>
                        </a:solidFill>
                        <a:latin typeface="Times New Roman" panose="02020603050405020304" charset="0"/>
                        <a:ea typeface="微软雅黑" panose="020B0503020204020204" charset="-122"/>
                        <a:cs typeface="+mn-cs"/>
                      </a:endParaRPr>
                    </a:p>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的反应速率</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r h="1028700">
                <a:tc>
                  <a:txBody>
                    <a:bodyPr wrap="square"/>
                    <a:lstStyle/>
                    <a:p>
                      <a:pPr algn="ctr">
                        <a:lnSpc>
                          <a:spcPct val="100000"/>
                        </a:lnSpc>
                        <a:buNone/>
                      </a:pPr>
                      <a:r>
                        <a:rPr lang="zh-CN" altLang="en-US" sz="2400" b="0">
                          <a:solidFill>
                            <a:schemeClr val="tx1"/>
                          </a:solidFill>
                          <a:latin typeface="Times New Roman" panose="02020603050405020304" charset="0"/>
                          <a:ea typeface="微软雅黑" panose="020B0503020204020204" charset="-122"/>
                          <a:cs typeface="Times New Roman" panose="02020603050405020304" charset="0"/>
                          <a:sym typeface="+mn-ea"/>
                        </a:rPr>
                        <a:t>提高</a:t>
                      </a:r>
                      <a:r>
                        <a:rPr lang="zh-CN" altLang="en-US" sz="2400" b="0" smtClean="0">
                          <a:solidFill>
                            <a:schemeClr val="tx1"/>
                          </a:solidFill>
                          <a:latin typeface="Times New Roman" panose="02020603050405020304" charset="0"/>
                          <a:ea typeface="微软雅黑" panose="020B0503020204020204" charset="-122"/>
                          <a:cs typeface="Times New Roman" panose="02020603050405020304" charset="0"/>
                          <a:sym typeface="+mn-ea"/>
                        </a:rPr>
                        <a:t>平衡混合物</a:t>
                      </a:r>
                      <a:r>
                        <a:rPr lang="zh-CN" altLang="en-US" sz="2400" b="0">
                          <a:solidFill>
                            <a:schemeClr val="tx1"/>
                          </a:solidFill>
                          <a:latin typeface="Times New Roman" panose="02020603050405020304" charset="0"/>
                          <a:ea typeface="微软雅黑" panose="020B0503020204020204" charset="-122"/>
                          <a:cs typeface="Times New Roman" panose="02020603050405020304" charset="0"/>
                          <a:sym typeface="+mn-ea"/>
                        </a:rPr>
                        <a:t>中</a:t>
                      </a:r>
                      <a:r>
                        <a:rPr lang="en-US" altLang="zh-CN" sz="2400" b="0">
                          <a:solidFill>
                            <a:schemeClr val="tx1"/>
                          </a:solidFill>
                          <a:latin typeface="Times New Roman" panose="02020603050405020304" charset="0"/>
                          <a:ea typeface="微软雅黑" panose="020B0503020204020204" charset="-122"/>
                          <a:cs typeface="Times New Roman" panose="02020603050405020304" charset="0"/>
                          <a:sym typeface="+mn-ea"/>
                        </a:rPr>
                        <a:t>NH</a:t>
                      </a:r>
                      <a:r>
                        <a:rPr lang="en-US" altLang="zh-CN" sz="2400" b="0" baseline="-25000">
                          <a:solidFill>
                            <a:schemeClr val="tx1"/>
                          </a:solidFill>
                          <a:latin typeface="Times New Roman" panose="02020603050405020304" charset="0"/>
                          <a:ea typeface="微软雅黑" panose="020B0503020204020204" charset="-122"/>
                          <a:cs typeface="Times New Roman" panose="02020603050405020304" charset="0"/>
                          <a:sym typeface="+mn-ea"/>
                        </a:rPr>
                        <a:t>3</a:t>
                      </a:r>
                      <a:r>
                        <a:rPr lang="zh-CN" altLang="en-US" sz="2400" b="0" smtClean="0">
                          <a:solidFill>
                            <a:schemeClr val="tx1"/>
                          </a:solidFill>
                          <a:latin typeface="Times New Roman" panose="02020603050405020304" charset="0"/>
                          <a:ea typeface="微软雅黑" panose="020B0503020204020204" charset="-122"/>
                          <a:cs typeface="Times New Roman" panose="02020603050405020304" charset="0"/>
                          <a:sym typeface="+mn-ea"/>
                        </a:rPr>
                        <a:t>的含量</a:t>
                      </a:r>
                      <a:endParaRPr lang="zh-CN" altLang="en-US" sz="2400" b="0" kern="1200" smtClean="0">
                        <a:solidFill>
                          <a:schemeClr val="tx1"/>
                        </a:solidFill>
                        <a:latin typeface="Times New Roman" panose="02020603050405020304" charset="0"/>
                        <a:ea typeface="微软雅黑" panose="020B0503020204020204" charset="-122"/>
                        <a:cs typeface="Times New Roman" panose="02020603050405020304" charset="0"/>
                        <a:sym typeface="+mn-ea"/>
                      </a:endParaRPr>
                    </a:p>
                  </a:txBody>
                  <a:tcPr vert="horz">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7" name="TextBox 19"/>
          <p:cNvSpPr txBox="1"/>
          <p:nvPr>
            <p:custDataLst>
              <p:tags r:id="rId9"/>
            </p:custDataLst>
          </p:nvPr>
        </p:nvSpPr>
        <p:spPr>
          <a:xfrm>
            <a:off x="3495675" y="4236041"/>
            <a:ext cx="1722120" cy="460375"/>
          </a:xfrm>
          <a:prstGeom prst="rect">
            <a:avLst/>
          </a:prstGeom>
          <a:noFill/>
        </p:spPr>
        <p:txBody>
          <a:bodyPr wrap="square" rtlCol="0">
            <a:spAutoFit/>
          </a:bodyPr>
          <a:lstStyle/>
          <a:p>
            <a:pPr algn="ctr">
              <a:lnSpc>
                <a:spcPct val="100000"/>
              </a:lnSpc>
            </a:pPr>
            <a:r>
              <a:rPr lang="zh-CN" altLang="en-US" sz="2400">
                <a:solidFill>
                  <a:srgbClr val="FF0000"/>
                </a:solidFill>
                <a:latin typeface="微软雅黑" panose="020B0503020204020204" charset="-122"/>
                <a:ea typeface="微软雅黑" panose="020B0503020204020204" charset="-122"/>
              </a:rPr>
              <a:t>增大</a:t>
            </a:r>
            <a:endParaRPr lang="zh-CN" altLang="en-US" sz="2400">
              <a:solidFill>
                <a:srgbClr val="FF0000"/>
              </a:solidFill>
              <a:latin typeface="微软雅黑" panose="020B0503020204020204" charset="-122"/>
              <a:ea typeface="微软雅黑" panose="020B0503020204020204" charset="-122"/>
            </a:endParaRPr>
          </a:p>
        </p:txBody>
      </p:sp>
      <p:sp>
        <p:nvSpPr>
          <p:cNvPr id="68" name="TextBox 28"/>
          <p:cNvSpPr txBox="1"/>
          <p:nvPr>
            <p:custDataLst>
              <p:tags r:id="rId10"/>
            </p:custDataLst>
          </p:nvPr>
        </p:nvSpPr>
        <p:spPr>
          <a:xfrm>
            <a:off x="6104890" y="4235930"/>
            <a:ext cx="144780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升高</a:t>
            </a:r>
            <a:endParaRPr lang="zh-CN" altLang="en-US" sz="2400">
              <a:solidFill>
                <a:srgbClr val="FF0000"/>
              </a:solidFill>
              <a:latin typeface="微软雅黑" panose="020B0503020204020204" charset="-122"/>
              <a:ea typeface="微软雅黑" panose="020B0503020204020204" charset="-122"/>
            </a:endParaRPr>
          </a:p>
        </p:txBody>
      </p:sp>
      <p:sp>
        <p:nvSpPr>
          <p:cNvPr id="69" name="TextBox 29"/>
          <p:cNvSpPr txBox="1"/>
          <p:nvPr>
            <p:custDataLst>
              <p:tags r:id="rId11"/>
            </p:custDataLst>
          </p:nvPr>
        </p:nvSpPr>
        <p:spPr>
          <a:xfrm>
            <a:off x="8060055" y="4235930"/>
            <a:ext cx="112014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增大</a:t>
            </a:r>
            <a:endParaRPr lang="zh-CN" altLang="en-US" sz="2400">
              <a:solidFill>
                <a:srgbClr val="FF0000"/>
              </a:solidFill>
              <a:latin typeface="微软雅黑" panose="020B0503020204020204" charset="-122"/>
              <a:ea typeface="微软雅黑" panose="020B0503020204020204" charset="-122"/>
            </a:endParaRPr>
          </a:p>
        </p:txBody>
      </p:sp>
      <p:sp>
        <p:nvSpPr>
          <p:cNvPr id="70" name="TextBox 30"/>
          <p:cNvSpPr txBox="1"/>
          <p:nvPr>
            <p:custDataLst>
              <p:tags r:id="rId12"/>
            </p:custDataLst>
          </p:nvPr>
        </p:nvSpPr>
        <p:spPr>
          <a:xfrm>
            <a:off x="9687560" y="4236042"/>
            <a:ext cx="144780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使用</a:t>
            </a:r>
            <a:endParaRPr lang="zh-CN" altLang="en-US" sz="2400">
              <a:solidFill>
                <a:srgbClr val="FF0000"/>
              </a:solidFill>
              <a:latin typeface="微软雅黑" panose="020B0503020204020204" charset="-122"/>
              <a:ea typeface="微软雅黑" panose="020B0503020204020204" charset="-122"/>
            </a:endParaRPr>
          </a:p>
        </p:txBody>
      </p:sp>
      <p:sp>
        <p:nvSpPr>
          <p:cNvPr id="20" name="TextBox 1"/>
          <p:cNvSpPr txBox="1"/>
          <p:nvPr>
            <p:custDataLst>
              <p:tags r:id="rId13"/>
            </p:custDataLst>
          </p:nvPr>
        </p:nvSpPr>
        <p:spPr>
          <a:xfrm>
            <a:off x="2931795" y="4904105"/>
            <a:ext cx="2694305" cy="460375"/>
          </a:xfrm>
          <a:prstGeom prst="rect">
            <a:avLst/>
          </a:prstGeom>
          <a:noFill/>
        </p:spPr>
        <p:txBody>
          <a:bodyPr wrap="square" rtlCol="0">
            <a:spAutoFit/>
          </a:bodyPr>
          <a:lstStyle/>
          <a:p>
            <a:pPr lvl="0" algn="ctr"/>
            <a:r>
              <a:rPr lang="zh-CN" altLang="en-US" sz="2400">
                <a:solidFill>
                  <a:srgbClr val="FF0000"/>
                </a:solidFill>
                <a:latin typeface="微软雅黑" panose="020B0503020204020204" charset="-122"/>
                <a:ea typeface="微软雅黑" panose="020B0503020204020204" charset="-122"/>
              </a:rPr>
              <a:t>增大反应为浓度</a:t>
            </a:r>
            <a:endParaRPr lang="zh-CN" altLang="en-US" sz="2400">
              <a:solidFill>
                <a:srgbClr val="FF0000"/>
              </a:solidFill>
              <a:latin typeface="微软雅黑" panose="020B0503020204020204" charset="-122"/>
              <a:ea typeface="微软雅黑" panose="020B0503020204020204" charset="-122"/>
            </a:endParaRPr>
          </a:p>
        </p:txBody>
      </p:sp>
      <p:sp>
        <p:nvSpPr>
          <p:cNvPr id="21" name="TextBox 2"/>
          <p:cNvSpPr txBox="1"/>
          <p:nvPr>
            <p:custDataLst>
              <p:tags r:id="rId14"/>
            </p:custDataLst>
          </p:nvPr>
        </p:nvSpPr>
        <p:spPr>
          <a:xfrm>
            <a:off x="2834005" y="5403850"/>
            <a:ext cx="2792095" cy="460375"/>
          </a:xfrm>
          <a:prstGeom prst="rect">
            <a:avLst/>
          </a:prstGeom>
          <a:noFill/>
        </p:spPr>
        <p:txBody>
          <a:bodyPr wrap="square" rtlCol="0">
            <a:spAutoFit/>
          </a:bodyPr>
          <a:lstStyle/>
          <a:p>
            <a:pPr lvl="0" algn="ctr"/>
            <a:r>
              <a:rPr lang="zh-CN" altLang="en-US" sz="2400">
                <a:solidFill>
                  <a:srgbClr val="FF0000"/>
                </a:solidFill>
                <a:latin typeface="微软雅黑" panose="020B0503020204020204" charset="-122"/>
                <a:ea typeface="微软雅黑" panose="020B0503020204020204" charset="-122"/>
              </a:rPr>
              <a:t>及时移走产生的氨</a:t>
            </a:r>
            <a:endParaRPr lang="zh-CN" altLang="en-US" sz="2400">
              <a:solidFill>
                <a:srgbClr val="FF0000"/>
              </a:solidFill>
              <a:latin typeface="微软雅黑" panose="020B0503020204020204" charset="-122"/>
              <a:ea typeface="微软雅黑" panose="020B0503020204020204" charset="-122"/>
            </a:endParaRPr>
          </a:p>
        </p:txBody>
      </p:sp>
      <p:sp>
        <p:nvSpPr>
          <p:cNvPr id="22" name="TextBox 18"/>
          <p:cNvSpPr txBox="1"/>
          <p:nvPr>
            <p:custDataLst>
              <p:tags r:id="rId15"/>
            </p:custDataLst>
          </p:nvPr>
        </p:nvSpPr>
        <p:spPr>
          <a:xfrm>
            <a:off x="6185006" y="5158681"/>
            <a:ext cx="1083169" cy="460375"/>
          </a:xfrm>
          <a:prstGeom prst="rect">
            <a:avLst/>
          </a:prstGeom>
          <a:noFill/>
        </p:spPr>
        <p:txBody>
          <a:bodyPr wrap="square" rtlCol="0">
            <a:spAutoFit/>
          </a:bodyPr>
          <a:lstStyle/>
          <a:p>
            <a:pPr lvl="0" algn="ctr"/>
            <a:r>
              <a:rPr lang="zh-CN" altLang="en-US" sz="2400" smtClean="0">
                <a:solidFill>
                  <a:srgbClr val="FF0000"/>
                </a:solidFill>
                <a:latin typeface="微软雅黑" panose="020B0503020204020204" charset="-122"/>
                <a:ea typeface="微软雅黑" panose="020B0503020204020204" charset="-122"/>
              </a:rPr>
              <a:t>降低</a:t>
            </a:r>
            <a:endParaRPr lang="zh-CN" altLang="en-US" sz="2400" smtClean="0">
              <a:solidFill>
                <a:srgbClr val="FF0000"/>
              </a:solidFill>
              <a:latin typeface="微软雅黑" panose="020B0503020204020204" charset="-122"/>
              <a:ea typeface="微软雅黑" panose="020B0503020204020204" charset="-122"/>
            </a:endParaRPr>
          </a:p>
        </p:txBody>
      </p:sp>
      <p:sp>
        <p:nvSpPr>
          <p:cNvPr id="23" name="TextBox 19"/>
          <p:cNvSpPr txBox="1"/>
          <p:nvPr>
            <p:custDataLst>
              <p:tags r:id="rId16"/>
            </p:custDataLst>
          </p:nvPr>
        </p:nvSpPr>
        <p:spPr>
          <a:xfrm>
            <a:off x="7979285" y="5158519"/>
            <a:ext cx="1083169" cy="460375"/>
          </a:xfrm>
          <a:prstGeom prst="rect">
            <a:avLst/>
          </a:prstGeom>
          <a:noFill/>
        </p:spPr>
        <p:txBody>
          <a:bodyPr wrap="square" rtlCol="0">
            <a:spAutoFit/>
          </a:bodyPr>
          <a:lstStyle/>
          <a:p>
            <a:pPr lvl="0" algn="ctr"/>
            <a:r>
              <a:rPr lang="zh-CN" altLang="en-US" sz="2400" smtClean="0">
                <a:solidFill>
                  <a:srgbClr val="FF0000"/>
                </a:solidFill>
                <a:latin typeface="微软雅黑" panose="020B0503020204020204" charset="-122"/>
                <a:ea typeface="微软雅黑" panose="020B0503020204020204" charset="-122"/>
              </a:rPr>
              <a:t>增大</a:t>
            </a:r>
            <a:endParaRPr lang="zh-CN" altLang="en-US" sz="2400" smtClean="0">
              <a:solidFill>
                <a:srgbClr val="FF0000"/>
              </a:solidFill>
              <a:latin typeface="微软雅黑" panose="020B0503020204020204" charset="-122"/>
              <a:ea typeface="微软雅黑" panose="020B0503020204020204" charset="-122"/>
            </a:endParaRPr>
          </a:p>
        </p:txBody>
      </p:sp>
      <p:sp>
        <p:nvSpPr>
          <p:cNvPr id="25" name="文本框 24"/>
          <p:cNvSpPr txBox="1"/>
          <p:nvPr>
            <p:custDataLst>
              <p:tags r:id="rId17"/>
            </p:custDataLst>
          </p:nvPr>
        </p:nvSpPr>
        <p:spPr>
          <a:xfrm>
            <a:off x="9540088" y="5158906"/>
            <a:ext cx="1532759" cy="460375"/>
          </a:xfrm>
          <a:prstGeom prst="rect">
            <a:avLst/>
          </a:prstGeom>
          <a:noFill/>
        </p:spPr>
        <p:txBody>
          <a:bodyPr wrap="square">
            <a:spAutoFit/>
          </a:bodyPr>
          <a:lstStyle/>
          <a:p>
            <a:pPr algn="ctr"/>
            <a:r>
              <a:rPr lang="zh-CN" altLang="en-US" sz="2400">
                <a:solidFill>
                  <a:srgbClr val="FF0000"/>
                </a:solidFill>
                <a:latin typeface="Times New Roman" panose="02020603050405020304" charset="0"/>
                <a:ea typeface="微软雅黑" panose="020B0503020204020204" charset="-122"/>
                <a:cs typeface="Times New Roman" panose="02020603050405020304" charset="0"/>
              </a:rPr>
              <a:t>不影响</a:t>
            </a:r>
            <a:endParaRPr lang="zh-CN" altLang="en-US" sz="2400">
              <a:solidFill>
                <a:srgbClr val="FF0000"/>
              </a:solidFill>
              <a:latin typeface="Times New Roman" panose="02020603050405020304" charset="0"/>
              <a:ea typeface="微软雅黑" panose="020B0503020204020204" charset="-122"/>
              <a:cs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animEffect transition="in" filter="checkerboard(across)">
                                      <p:cBhvr>
                                        <p:cTn id="19" dur="500"/>
                                        <p:tgtEl>
                                          <p:spTgt spid="6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7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bldLvl="0" animBg="1"/>
      <p:bldP spid="67" grpId="0"/>
      <p:bldP spid="68" grpId="0"/>
      <p:bldP spid="69" grpId="0"/>
      <p:bldP spid="70" grpId="0"/>
      <p:bldP spid="20" grpId="0"/>
      <p:bldP spid="21" grpId="0"/>
      <p:bldP spid="22" grpId="0"/>
      <p:bldP spid="23"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custDataLst>
              <p:tags r:id="rId1"/>
            </p:custDataLst>
          </p:nvPr>
        </p:nvSpPr>
        <p:spPr>
          <a:xfrm>
            <a:off x="1795145" y="768985"/>
            <a:ext cx="9710420" cy="521970"/>
          </a:xfrm>
          <a:prstGeom prst="rect">
            <a:avLst/>
          </a:prstGeom>
          <a:noFill/>
        </p:spPr>
        <p:txBody>
          <a:bodyPr wrap="square" rtlCol="0">
            <a:spAutoFit/>
          </a:bodyPr>
          <a:lstStyle/>
          <a:p>
            <a:pPr algn="l"/>
            <a:r>
              <a:rPr lang="zh-CN" altLang="en-US" sz="2800" b="1">
                <a:latin typeface="微软雅黑" panose="020B0503020204020204" charset="-122"/>
                <a:ea typeface="微软雅黑" panose="020B0503020204020204" charset="-122"/>
                <a:sym typeface="+mn-ea"/>
              </a:rPr>
              <a:t>思考与讨论：根据合成氨反应的特点，应如何选择反应条件？</a:t>
            </a:r>
            <a:endParaRPr lang="zh-CN" altLang="en-US" sz="28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一、工业合成氨的原理分析</a:t>
            </a:r>
            <a:endParaRPr lang="zh-CN" altLang="en-US" sz="3200" b="1">
              <a:solidFill>
                <a:schemeClr val="bg1"/>
              </a:solidFill>
              <a:latin typeface="微软雅黑" panose="020B0503020204020204" charset="-122"/>
              <a:ea typeface="微软雅黑" panose="020B0503020204020204" charset="-122"/>
            </a:endParaRPr>
          </a:p>
        </p:txBody>
      </p:sp>
      <p:grpSp>
        <p:nvGrpSpPr>
          <p:cNvPr id="6" name="组合 5"/>
          <p:cNvGrpSpPr/>
          <p:nvPr>
            <p:custDataLst>
              <p:tags r:id="rId3"/>
            </p:custDataLst>
          </p:nvPr>
        </p:nvGrpSpPr>
        <p:grpSpPr>
          <a:xfrm>
            <a:off x="1593850" y="1487805"/>
            <a:ext cx="8859520" cy="4347210"/>
            <a:chOff x="2510" y="2343"/>
            <a:chExt cx="13952" cy="6846"/>
          </a:xfrm>
        </p:grpSpPr>
        <p:grpSp>
          <p:nvGrpSpPr>
            <p:cNvPr id="19" name="组合 18"/>
            <p:cNvGrpSpPr/>
            <p:nvPr>
              <p:custDataLst>
                <p:tags r:id="rId4"/>
              </p:custDataLst>
            </p:nvPr>
          </p:nvGrpSpPr>
          <p:grpSpPr>
            <a:xfrm>
              <a:off x="2510" y="2343"/>
              <a:ext cx="13952" cy="6847"/>
              <a:chOff x="2510" y="2343"/>
              <a:chExt cx="13952" cy="6847"/>
            </a:xfrm>
          </p:grpSpPr>
          <p:grpSp>
            <p:nvGrpSpPr>
              <p:cNvPr id="9" name="组合 8"/>
              <p:cNvGrpSpPr/>
              <p:nvPr>
                <p:custDataLst>
                  <p:tags r:id="rId5"/>
                </p:custDataLst>
              </p:nvPr>
            </p:nvGrpSpPr>
            <p:grpSpPr>
              <a:xfrm>
                <a:off x="2510" y="2343"/>
                <a:ext cx="13952" cy="6847"/>
                <a:chOff x="1989" y="2687"/>
                <a:chExt cx="13952" cy="6847"/>
              </a:xfrm>
            </p:grpSpPr>
            <p:pic>
              <p:nvPicPr>
                <p:cNvPr id="10" name="图片 9"/>
                <p:cNvPicPr>
                  <a:picLocks noChangeAspect="1"/>
                </p:cNvPicPr>
                <p:nvPr>
                  <p:custDataLst>
                    <p:tags r:id="rId6"/>
                  </p:custDataLst>
                </p:nvPr>
              </p:nvPicPr>
              <p:blipFill>
                <a:blip r:embed="rId7"/>
                <a:stretch>
                  <a:fillRect/>
                </a:stretch>
              </p:blipFill>
              <p:spPr>
                <a:xfrm>
                  <a:off x="2531" y="2888"/>
                  <a:ext cx="3099" cy="729"/>
                </a:xfrm>
                <a:prstGeom prst="rect">
                  <a:avLst/>
                </a:prstGeom>
              </p:spPr>
            </p:pic>
            <p:grpSp>
              <p:nvGrpSpPr>
                <p:cNvPr id="11" name="组合 10"/>
                <p:cNvGrpSpPr/>
                <p:nvPr>
                  <p:custDataLst>
                    <p:tags r:id="rId8"/>
                  </p:custDataLst>
                </p:nvPr>
              </p:nvGrpSpPr>
              <p:grpSpPr>
                <a:xfrm>
                  <a:off x="1989" y="2687"/>
                  <a:ext cx="13952" cy="6847"/>
                  <a:chOff x="1989" y="2687"/>
                  <a:chExt cx="13952" cy="6847"/>
                </a:xfrm>
              </p:grpSpPr>
              <p:sp>
                <p:nvSpPr>
                  <p:cNvPr id="2" name="圆角矩形 1"/>
                  <p:cNvSpPr/>
                  <p:nvPr>
                    <p:custDataLst>
                      <p:tags r:id="rId9"/>
                    </p:custDataLst>
                  </p:nvPr>
                </p:nvSpPr>
                <p:spPr>
                  <a:xfrm>
                    <a:off x="1989" y="2687"/>
                    <a:ext cx="13952" cy="6847"/>
                  </a:xfrm>
                  <a:prstGeom prst="roundRect">
                    <a:avLst/>
                  </a:prstGeom>
                  <a:ln w="12700" cap="flat" cmpd="sng" algn="ctr">
                    <a:solidFill>
                      <a:schemeClr val="accent1"/>
                    </a:solidFill>
                    <a:prstDash val="dash"/>
                    <a:miter lim="800000"/>
                  </a:ln>
                  <a:extLst>
                    <a:ext uri="{909E8E84-426E-40DD-AFC4-6F175D3DCCD1}">
                      <a14:hiddenFill xmlns:a14="http://schemas.microsoft.com/office/drawing/2010/main">
                        <a:solidFill>
                          <a:schemeClr val="accent3">
                            <a:lumMod val="20000"/>
                            <a:lumOff val="80000"/>
                          </a:schemeClr>
                        </a:solidFill>
                      </a14:hiddenFill>
                    </a:ext>
                  </a:extLst>
                </p:spPr>
                <p:style>
                  <a:lnRef idx="0">
                    <a:schemeClr val="accent1"/>
                  </a:lnRef>
                  <a:fillRef idx="0">
                    <a:srgbClr val="FFFFFF"/>
                  </a:fillRef>
                  <a:effectRef idx="0">
                    <a:srgbClr val="FFFFFF"/>
                  </a:effectRef>
                  <a:fontRef idx="minor">
                    <a:schemeClr val="tx1"/>
                  </a:fontRef>
                </p:style>
                <p:txBody>
                  <a:bodyPr anchor="ctr"/>
                  <a:lstStyle/>
                  <a:p>
                    <a:pPr algn="ctr">
                      <a:defRPr/>
                    </a:pPr>
                    <a:endParaRPr lang="zh-CN" altLang="en-US" sz="2800">
                      <a:latin typeface="楷体" panose="02010609060101010101" pitchFamily="49" charset="-122"/>
                      <a:ea typeface="楷体" panose="02010609060101010101" pitchFamily="49" charset="-122"/>
                    </a:endParaRPr>
                  </a:p>
                </p:txBody>
              </p:sp>
              <p:sp>
                <p:nvSpPr>
                  <p:cNvPr id="4" name="文本框 3"/>
                  <p:cNvSpPr txBox="1"/>
                  <p:nvPr>
                    <p:custDataLst>
                      <p:tags r:id="rId10"/>
                    </p:custDataLst>
                  </p:nvPr>
                </p:nvSpPr>
                <p:spPr>
                  <a:xfrm>
                    <a:off x="2217" y="3617"/>
                    <a:ext cx="13724" cy="542"/>
                  </a:xfrm>
                  <a:prstGeom prst="rect">
                    <a:avLst/>
                  </a:prstGeom>
                </p:spPr>
                <p:txBody>
                  <a:bodyPr wrap="square">
                    <a:noAutofit/>
                  </a:bodyPr>
                  <a:lstStyle/>
                  <a:p>
                    <a:pPr marL="0" indent="0" algn="l" fontAlgn="ctr">
                      <a:lnSpc>
                        <a:spcPct val="110000"/>
                      </a:lnSpc>
                    </a:pPr>
                    <a:r>
                      <a:rPr lang="zh-CN" altLang="en-US">
                        <a:solidFill>
                          <a:srgbClr val="231F20"/>
                        </a:solidFill>
                        <a:latin typeface="Times New Roman" panose="02020603050405020304" charset="0"/>
                        <a:ea typeface="微软雅黑" panose="020B0503020204020204" charset="-122"/>
                        <a:cs typeface="Times New Roman" panose="02020603050405020304" charset="0"/>
                      </a:rPr>
                      <a:t>（表2-2 不同条件下，合成氨反应达到化学平衡时反应混合物中氨的含量（体积分数）</a:t>
                    </a:r>
                    <a:endParaRPr lang="zh-CN" altLang="en-US">
                      <a:solidFill>
                        <a:srgbClr val="231F20"/>
                      </a:solidFill>
                      <a:latin typeface="Times New Roman" panose="02020603050405020304" charset="0"/>
                      <a:ea typeface="微软雅黑" panose="020B0503020204020204" charset="-122"/>
                      <a:cs typeface="Times New Roman" panose="02020603050405020304" charset="0"/>
                    </a:endParaRPr>
                  </a:p>
                </p:txBody>
              </p:sp>
            </p:grpSp>
          </p:grpSp>
          <p:sp>
            <p:nvSpPr>
              <p:cNvPr id="18" name="文本框 17"/>
              <p:cNvSpPr txBox="1"/>
              <p:nvPr>
                <p:custDataLst>
                  <p:tags r:id="rId11"/>
                </p:custDataLst>
              </p:nvPr>
            </p:nvSpPr>
            <p:spPr>
              <a:xfrm>
                <a:off x="3052" y="8077"/>
                <a:ext cx="13019" cy="1016"/>
              </a:xfrm>
              <a:prstGeom prst="rect">
                <a:avLst/>
              </a:prstGeom>
            </p:spPr>
            <p:txBody>
              <a:bodyPr wrap="square">
                <a:spAutoFit/>
              </a:bodyPr>
              <a:lstStyle/>
              <a:p>
                <a:pPr marL="0" indent="0" algn="l" fontAlgn="ctr">
                  <a:lnSpc>
                    <a:spcPct val="100000"/>
                  </a:lnSpc>
                </a:pPr>
                <a:r>
                  <a:rPr lang="zh-CN" altLang="en-US">
                    <a:solidFill>
                      <a:srgbClr val="231F20"/>
                    </a:solidFill>
                    <a:latin typeface="Times New Roman" panose="02020603050405020304" charset="0"/>
                    <a:ea typeface="微软雅黑" panose="020B0503020204020204" charset="-122"/>
                    <a:cs typeface="Times New Roman" panose="02020603050405020304" charset="0"/>
                  </a:rPr>
                  <a:t>综合上述两个方面，分析增大合成氨的反应速率与提高平衡混合物中氨的含量所</a:t>
                </a:r>
                <a:endParaRPr lang="zh-CN" altLang="en-US">
                  <a:solidFill>
                    <a:srgbClr val="231F20"/>
                  </a:solidFill>
                  <a:latin typeface="Times New Roman" panose="02020603050405020304" charset="0"/>
                  <a:ea typeface="微软雅黑" panose="020B0503020204020204" charset="-122"/>
                  <a:cs typeface="Times New Roman" panose="02020603050405020304" charset="0"/>
                </a:endParaRPr>
              </a:p>
              <a:p>
                <a:pPr marL="0" indent="0" algn="l" fontAlgn="ctr">
                  <a:lnSpc>
                    <a:spcPct val="100000"/>
                  </a:lnSpc>
                </a:pPr>
                <a:r>
                  <a:rPr lang="zh-CN" altLang="en-US">
                    <a:solidFill>
                      <a:srgbClr val="231F20"/>
                    </a:solidFill>
                    <a:latin typeface="Times New Roman" panose="02020603050405020304" charset="0"/>
                    <a:ea typeface="微软雅黑" panose="020B0503020204020204" charset="-122"/>
                    <a:cs typeface="Times New Roman" panose="02020603050405020304" charset="0"/>
                  </a:rPr>
                  <a:t>应采取的措施是否一致。</a:t>
                </a:r>
                <a:endParaRPr lang="zh-CN" altLang="en-US">
                  <a:solidFill>
                    <a:srgbClr val="231F20"/>
                  </a:solidFill>
                  <a:latin typeface="Times New Roman" panose="02020603050405020304" charset="0"/>
                  <a:ea typeface="微软雅黑" panose="020B0503020204020204" charset="-122"/>
                  <a:cs typeface="Times New Roman" panose="02020603050405020304" charset="0"/>
                </a:endParaRPr>
              </a:p>
            </p:txBody>
          </p:sp>
        </p:grpSp>
        <p:pic>
          <p:nvPicPr>
            <p:cNvPr id="5" name="图片 4"/>
            <p:cNvPicPr>
              <a:picLocks noChangeAspect="1"/>
            </p:cNvPicPr>
            <p:nvPr>
              <p:custDataLst>
                <p:tags r:id="rId12"/>
              </p:custDataLst>
            </p:nvPr>
          </p:nvPicPr>
          <p:blipFill>
            <a:blip r:embed="rId13"/>
            <a:stretch>
              <a:fillRect/>
            </a:stretch>
          </p:blipFill>
          <p:spPr>
            <a:xfrm>
              <a:off x="3534" y="4071"/>
              <a:ext cx="12133" cy="4006"/>
            </a:xfrm>
            <a:prstGeom prst="rect">
              <a:avLst/>
            </a:prstGeom>
          </p:spPr>
        </p:pic>
      </p:grpSp>
    </p:spTree>
    <p:custDataLst>
      <p:tags r:id="rId1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1000" fill="hold"/>
                                        <p:tgtEl>
                                          <p:spTgt spid="14"/>
                                        </p:tgtEl>
                                        <p:attrNameLst>
                                          <p:attrName>ppt_w</p:attrName>
                                        </p:attrNameLst>
                                      </p:cBhvr>
                                      <p:tavLst>
                                        <p:tav tm="0">
                                          <p:val>
                                            <p:strVal val="#ppt_w*0.70"/>
                                          </p:val>
                                        </p:tav>
                                        <p:tav tm="100000">
                                          <p:val>
                                            <p:strVal val="#ppt_w"/>
                                          </p:val>
                                        </p:tav>
                                      </p:tavLst>
                                    </p:anim>
                                    <p:anim calcmode="lin" valueType="num">
                                      <p:cBhvr>
                                        <p:cTn id="8" dur="1000" fill="hold"/>
                                        <p:tgtEl>
                                          <p:spTgt spid="14"/>
                                        </p:tgtEl>
                                        <p:attrNameLst>
                                          <p:attrName>ppt_h</p:attrName>
                                        </p:attrNameLst>
                                      </p:cBhvr>
                                      <p:tavLst>
                                        <p:tav tm="0">
                                          <p:val>
                                            <p:strVal val="#ppt_h"/>
                                          </p:val>
                                        </p:tav>
                                        <p:tav tm="100000">
                                          <p:val>
                                            <p:strVal val="#ppt_h"/>
                                          </p:val>
                                        </p:tav>
                                      </p:tavLst>
                                    </p:anim>
                                    <p:animEffect transition="in" filter="fade">
                                      <p:cBhvr>
                                        <p:cTn id="9" dur="1000"/>
                                        <p:tgtEl>
                                          <p:spTgt spid="14"/>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heckerboard(across)">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58775" y="1236345"/>
            <a:ext cx="3697605" cy="460375"/>
          </a:xfrm>
          <a:prstGeom prst="rect">
            <a:avLst/>
          </a:prstGeom>
          <a:noFill/>
        </p:spPr>
        <p:txBody>
          <a:bodyPr wrap="square" rtlCol="0" anchor="t">
            <a:spAutoFit/>
          </a:bodyPr>
          <a:lstStyle/>
          <a:p>
            <a:r>
              <a:rPr lang="en-US" altLang="zh-CN" sz="2400" b="1" spc="150" noProof="0">
                <a:ln>
                  <a:noFill/>
                </a:ln>
                <a:effectLst/>
                <a:uLnTx/>
                <a:uFillTx/>
                <a:latin typeface="微软雅黑" panose="020B0503020204020204" charset="-122"/>
                <a:ea typeface="微软雅黑" panose="020B0503020204020204" charset="-122"/>
                <a:cs typeface="微软雅黑" panose="020B0503020204020204" charset="-122"/>
                <a:sym typeface="+mn-ea"/>
              </a:rPr>
              <a:t>2.</a:t>
            </a:r>
            <a:r>
              <a:rPr lang="zh-CN" sz="24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合成氨的</a:t>
            </a:r>
            <a:r>
              <a:rPr lang="zh-CN" altLang="zh-CN" sz="2400" b="1" kern="0" noProof="0" smtClean="0">
                <a:ln>
                  <a:noFill/>
                </a:ln>
                <a:solidFill>
                  <a:srgbClr val="000000"/>
                </a:solidFill>
                <a:effectLst/>
                <a:highlight>
                  <a:srgbClr val="000000">
                    <a:alpha val="0"/>
                  </a:srgbClr>
                </a:highlight>
                <a:uLnTx/>
                <a:uFillTx/>
                <a:latin typeface="微软雅黑" panose="020B0503020204020204" charset="-122"/>
                <a:ea typeface="微软雅黑" panose="020B0503020204020204" charset="-122"/>
                <a:cs typeface="微软雅黑" panose="020B0503020204020204" charset="-122"/>
                <a:sym typeface="+mn-ea"/>
              </a:rPr>
              <a:t>原理分析</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8" name="文本框 7"/>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一、工业合成氨的原理分析</a:t>
            </a:r>
            <a:endParaRPr lang="zh-CN" altLang="en-US" sz="3200" b="1">
              <a:solidFill>
                <a:schemeClr val="bg1"/>
              </a:solidFill>
              <a:latin typeface="微软雅黑" panose="020B0503020204020204" charset="-122"/>
              <a:ea typeface="微软雅黑" panose="020B0503020204020204" charset="-122"/>
            </a:endParaRPr>
          </a:p>
        </p:txBody>
      </p:sp>
      <p:grpSp>
        <p:nvGrpSpPr>
          <p:cNvPr id="29" name="组合 28"/>
          <p:cNvGrpSpPr/>
          <p:nvPr>
            <p:custDataLst>
              <p:tags r:id="rId3"/>
            </p:custDataLst>
          </p:nvPr>
        </p:nvGrpSpPr>
        <p:grpSpPr>
          <a:xfrm>
            <a:off x="3914775" y="894080"/>
            <a:ext cx="7075805" cy="645160"/>
            <a:chOff x="2700" y="1936"/>
            <a:chExt cx="11143" cy="1016"/>
          </a:xfrm>
        </p:grpSpPr>
        <p:sp>
          <p:nvSpPr>
            <p:cNvPr id="100" name="文本框 99"/>
            <p:cNvSpPr txBox="1"/>
            <p:nvPr>
              <p:custDataLst>
                <p:tags r:id="rId4"/>
              </p:custDataLst>
            </p:nvPr>
          </p:nvSpPr>
          <p:spPr>
            <a:xfrm>
              <a:off x="2700" y="1936"/>
              <a:ext cx="11143" cy="1016"/>
            </a:xfrm>
            <a:prstGeom prst="rect">
              <a:avLst/>
            </a:prstGeom>
            <a:noFill/>
            <a:ln w="9525">
              <a:noFill/>
            </a:ln>
          </p:spPr>
          <p:txBody>
            <a:bodyPr wrap="square">
              <a:spAutoFit/>
            </a:bodyPr>
            <a:lstStyle/>
            <a:p>
              <a:pPr indent="0" fontAlgn="auto">
                <a:lnSpc>
                  <a:spcPct val="150000"/>
                </a:lnSpc>
              </a:pPr>
              <a:r>
                <a:rPr lang="en-US" sz="2400">
                  <a:latin typeface="Times New Roman" panose="02020603050405020304" charset="0"/>
                  <a:ea typeface="微软雅黑" panose="020B0503020204020204" charset="-122"/>
                  <a:cs typeface="Times New Roman" panose="02020603050405020304" charset="0"/>
                </a:rPr>
                <a:t>N</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a:t>
              </a:r>
              <a:r>
                <a:rPr lang="zh-CN" sz="2400">
                  <a:latin typeface="Times New Roman" panose="02020603050405020304" charset="0"/>
                  <a:ea typeface="微软雅黑" panose="020B0503020204020204" charset="-122"/>
                  <a:cs typeface="Times New Roman" panose="02020603050405020304" charset="0"/>
                </a:rPr>
                <a:t>＋</a:t>
              </a:r>
              <a:r>
                <a:rPr lang="en-US" sz="2400">
                  <a:latin typeface="Times New Roman" panose="02020603050405020304" charset="0"/>
                  <a:ea typeface="微软雅黑" panose="020B0503020204020204" charset="-122"/>
                  <a:cs typeface="Times New Roman" panose="02020603050405020304" charset="0"/>
                </a:rPr>
                <a:t>3H</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           </a:t>
              </a:r>
              <a:r>
                <a:rPr lang="en-US" sz="2400">
                  <a:latin typeface="Times New Roman" panose="02020603050405020304" charset="0"/>
                  <a:ea typeface="微软雅黑" panose="020B0503020204020204" charset="-122"/>
                  <a:cs typeface="Times New Roman" panose="02020603050405020304" charset="0"/>
                  <a:sym typeface="+mn-ea"/>
                </a:rPr>
                <a:t>2NH</a:t>
              </a:r>
              <a:r>
                <a:rPr lang="en-US" sz="2400" baseline="-25000">
                  <a:latin typeface="Times New Roman" panose="02020603050405020304" charset="0"/>
                  <a:ea typeface="微软雅黑" panose="020B0503020204020204" charset="-122"/>
                  <a:cs typeface="Times New Roman" panose="02020603050405020304" charset="0"/>
                  <a:sym typeface="+mn-ea"/>
                </a:rPr>
                <a:t>3</a:t>
              </a:r>
              <a:r>
                <a:rPr lang="en-US" sz="2400">
                  <a:latin typeface="Times New Roman" panose="02020603050405020304" charset="0"/>
                  <a:ea typeface="微软雅黑" panose="020B0503020204020204" charset="-122"/>
                  <a:cs typeface="Times New Roman" panose="02020603050405020304" charset="0"/>
                  <a:sym typeface="+mn-ea"/>
                </a:rPr>
                <a:t>(g)   Δ</a:t>
              </a:r>
              <a:r>
                <a:rPr lang="en-US" sz="2400" i="1">
                  <a:latin typeface="Times New Roman" panose="02020603050405020304" charset="0"/>
                  <a:ea typeface="微软雅黑" panose="020B0503020204020204" charset="-122"/>
                  <a:cs typeface="Times New Roman" panose="02020603050405020304" charset="0"/>
                  <a:sym typeface="+mn-ea"/>
                </a:rPr>
                <a:t>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92.4 kJ·mol</a:t>
              </a:r>
              <a:r>
                <a:rPr lang="zh-CN" sz="2400" baseline="30000">
                  <a:latin typeface="Times New Roman" panose="02020603050405020304" charset="0"/>
                  <a:ea typeface="微软雅黑" panose="020B0503020204020204" charset="-122"/>
                  <a:cs typeface="Times New Roman" panose="02020603050405020304" charset="0"/>
                  <a:sym typeface="+mn-ea"/>
                </a:rPr>
                <a:t>－</a:t>
              </a:r>
              <a:r>
                <a:rPr lang="en-US" sz="2400" baseline="30000">
                  <a:latin typeface="Times New Roman" panose="02020603050405020304" charset="0"/>
                  <a:ea typeface="微软雅黑" panose="020B0503020204020204" charset="-122"/>
                  <a:cs typeface="Times New Roman" panose="02020603050405020304" charset="0"/>
                  <a:sym typeface="+mn-ea"/>
                </a:rPr>
                <a:t>1</a:t>
              </a: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0" name="图片 29"/>
            <p:cNvPicPr/>
            <p:nvPr>
              <p:custDataLst>
                <p:tags r:id="rId5"/>
              </p:custDataLst>
            </p:nvPr>
          </p:nvPicPr>
          <p:blipFill>
            <a:blip r:embed="rId6">
              <a:lum bright="-6000"/>
            </a:blip>
            <a:stretch>
              <a:fillRect/>
            </a:stretch>
          </p:blipFill>
          <p:spPr>
            <a:xfrm>
              <a:off x="5862" y="2454"/>
              <a:ext cx="898" cy="281"/>
            </a:xfrm>
            <a:prstGeom prst="rect">
              <a:avLst/>
            </a:prstGeom>
            <a:noFill/>
            <a:ln w="9525">
              <a:noFill/>
            </a:ln>
          </p:spPr>
        </p:pic>
      </p:grpSp>
      <p:sp>
        <p:nvSpPr>
          <p:cNvPr id="9" name="文本框 8"/>
          <p:cNvSpPr txBox="1"/>
          <p:nvPr>
            <p:custDataLst>
              <p:tags r:id="rId7"/>
            </p:custDataLst>
          </p:nvPr>
        </p:nvSpPr>
        <p:spPr>
          <a:xfrm>
            <a:off x="358775" y="1696720"/>
            <a:ext cx="2742565" cy="460375"/>
          </a:xfrm>
          <a:prstGeom prst="rect">
            <a:avLst/>
          </a:prstGeom>
          <a:solidFill>
            <a:schemeClr val="accent1">
              <a:lumMod val="20000"/>
              <a:lumOff val="80000"/>
            </a:schemeClr>
          </a:solidFill>
        </p:spPr>
        <p:txBody>
          <a:bodyPr wrap="square" rtlCol="0" anchor="t">
            <a:spAutoFit/>
          </a:bodyPr>
          <a:lstStyle/>
          <a:p>
            <a:r>
              <a:rPr lang="zh-CN" altLang="en-US" sz="2400" smtClean="0">
                <a:latin typeface="微软雅黑" panose="020B0503020204020204" charset="-122"/>
                <a:ea typeface="微软雅黑" panose="020B0503020204020204" charset="-122"/>
                <a:cs typeface="微软雅黑" panose="020B0503020204020204" charset="-122"/>
                <a:sym typeface="+mn-ea"/>
              </a:rPr>
              <a:t>⑵从</a:t>
            </a:r>
            <a:r>
              <a:rPr sz="2400">
                <a:latin typeface="微软雅黑" panose="020B0503020204020204" charset="-122"/>
                <a:ea typeface="微软雅黑" panose="020B0503020204020204" charset="-122"/>
                <a:cs typeface="微软雅黑" panose="020B0503020204020204" charset="-122"/>
                <a:sym typeface="+mn-ea"/>
              </a:rPr>
              <a:t>实验</a:t>
            </a:r>
            <a:r>
              <a:rPr lang="zh-CN" sz="2400">
                <a:latin typeface="微软雅黑" panose="020B0503020204020204" charset="-122"/>
                <a:ea typeface="微软雅黑" panose="020B0503020204020204" charset="-122"/>
                <a:cs typeface="微软雅黑" panose="020B0503020204020204" charset="-122"/>
                <a:sym typeface="+mn-ea"/>
              </a:rPr>
              <a:t>数据</a:t>
            </a:r>
            <a:r>
              <a:rPr lang="zh-CN" altLang="en-US" sz="2400" smtClean="0">
                <a:latin typeface="微软雅黑" panose="020B0503020204020204" charset="-122"/>
                <a:ea typeface="微软雅黑" panose="020B0503020204020204" charset="-122"/>
                <a:cs typeface="微软雅黑" panose="020B0503020204020204" charset="-122"/>
                <a:sym typeface="+mn-ea"/>
              </a:rPr>
              <a:t>分析</a:t>
            </a:r>
            <a:endParaRPr lang="zh-CN" altLang="en-US" sz="2400" smtClean="0">
              <a:latin typeface="微软雅黑" panose="020B0503020204020204" charset="-122"/>
              <a:ea typeface="微软雅黑" panose="020B0503020204020204" charset="-122"/>
              <a:cs typeface="微软雅黑" panose="020B0503020204020204" charset="-122"/>
              <a:sym typeface="+mn-ea"/>
            </a:endParaRPr>
          </a:p>
        </p:txBody>
      </p:sp>
      <p:graphicFrame>
        <p:nvGraphicFramePr>
          <p:cNvPr id="19" name="表格 18"/>
          <p:cNvGraphicFramePr>
            <a:graphicFrameLocks noGrp="1"/>
          </p:cNvGraphicFramePr>
          <p:nvPr>
            <p:custDataLst>
              <p:tags r:id="rId8"/>
            </p:custDataLst>
          </p:nvPr>
        </p:nvGraphicFramePr>
        <p:xfrm>
          <a:off x="2334578" y="2769553"/>
          <a:ext cx="7960550" cy="3200400"/>
        </p:xfrm>
        <a:graphic>
          <a:graphicData uri="http://schemas.openxmlformats.org/drawingml/2006/table">
            <a:tbl>
              <a:tblPr firstRow="1" firstCol="1" bandRow="1">
                <a:tableStyleId>{5C22544A-7EE6-4342-B048-85BDC9FD1C3A}</a:tableStyleId>
              </a:tblPr>
              <a:tblGrid>
                <a:gridCol w="1202690"/>
                <a:gridCol w="1070504"/>
                <a:gridCol w="1136724"/>
                <a:gridCol w="1137658"/>
                <a:gridCol w="1137658"/>
                <a:gridCol w="1137658"/>
                <a:gridCol w="1137658"/>
              </a:tblGrid>
              <a:tr h="457200">
                <a:tc rowSpan="2">
                  <a:txBody>
                    <a:bodyPr wrap="square"/>
                    <a:lstStyle/>
                    <a:p>
                      <a:pPr algn="l">
                        <a:lnSpc>
                          <a:spcPct val="150000"/>
                        </a:lnSpc>
                        <a:spcAft>
                          <a:spcPct val="0"/>
                        </a:spcAft>
                      </a:pPr>
                      <a:r>
                        <a:rPr lang="zh-CN" sz="2000" b="0" kern="100">
                          <a:solidFill>
                            <a:schemeClr val="tx1"/>
                          </a:solidFill>
                          <a:effectLst/>
                          <a:latin typeface="Times New Roman" panose="02020603050405020304" charset="0"/>
                          <a:ea typeface="微软雅黑" panose="020B0503020204020204" charset="-122"/>
                          <a:cs typeface="Times New Roman" panose="02020603050405020304" charset="0"/>
                        </a:rPr>
                        <a:t>温度</a:t>
                      </a: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a:t>
                      </a:r>
                      <a:r>
                        <a:rPr lang="zh-CN" sz="2000" b="0" kern="100">
                          <a:solidFill>
                            <a:schemeClr val="tx1"/>
                          </a:solidFill>
                          <a:effectLst/>
                          <a:latin typeface="Times New Roman" panose="02020603050405020304" charset="0"/>
                          <a:ea typeface="微软雅黑" panose="020B0503020204020204" charset="-122"/>
                          <a:cs typeface="Times New Roman" panose="02020603050405020304" charset="0"/>
                        </a:rPr>
                        <a:t>℃</a:t>
                      </a:r>
                      <a:endParaRPr lang="zh-CN"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gridSpan="6">
                  <a:txBody>
                    <a:bodyPr wrap="square"/>
                    <a:lstStyle/>
                    <a:p>
                      <a:pPr algn="l">
                        <a:lnSpc>
                          <a:spcPct val="150000"/>
                        </a:lnSpc>
                        <a:spcAft>
                          <a:spcPct val="0"/>
                        </a:spcAft>
                      </a:pPr>
                      <a:r>
                        <a:rPr lang="zh-CN" sz="2000" b="0" kern="100">
                          <a:solidFill>
                            <a:schemeClr val="tx1"/>
                          </a:solidFill>
                          <a:effectLst/>
                          <a:latin typeface="Times New Roman" panose="02020603050405020304" charset="0"/>
                          <a:ea typeface="微软雅黑" panose="020B0503020204020204" charset="-122"/>
                          <a:cs typeface="Times New Roman" panose="02020603050405020304" charset="0"/>
                        </a:rPr>
                        <a:t>氨的含量</a:t>
                      </a: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hMerge="1">
                  <a:tcPr/>
                </a:tc>
                <a:tc hMerge="1">
                  <a:tcPr/>
                </a:tc>
                <a:tc hMerge="1">
                  <a:tcPr/>
                </a:tc>
                <a:tc hMerge="1">
                  <a:tcPr/>
                </a:tc>
                <a:tc hMerge="1">
                  <a:tcPr/>
                </a:tc>
              </a:tr>
              <a:tr h="301916">
                <a:tc vMerge="1">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0.1MPa</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10 MPa</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20 MPa</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30 MPa</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60 MPa</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100 MPa</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r>
              <a:tr h="301916">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200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15.3</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81.5</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86.4</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89.9</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95.4</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98.8</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r>
              <a:tr h="301916">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300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2.20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52.0</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64.2</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71.0</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84.2</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92.6</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r>
              <a:tr h="301916">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400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0.40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25.1</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38.2</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47.0</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65.2</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79.8</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r>
              <a:tr h="301916">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500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0.10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10.6</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19.1</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26.4</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42.2</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57.5</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r>
              <a:tr h="301916">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600</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accent1">
                        <a:lumMod val="20000"/>
                        <a:lumOff val="80000"/>
                      </a:schemeClr>
                    </a:solidFill>
                  </a:tcPr>
                </a:tc>
                <a:tc>
                  <a:txBody>
                    <a:bodyPr wrap="square"/>
                    <a:lstStyle/>
                    <a:p>
                      <a:pPr algn="l">
                        <a:lnSpc>
                          <a:spcPct val="150000"/>
                        </a:lnSpc>
                        <a:spcAft>
                          <a:spcPct val="0"/>
                        </a:spcAft>
                      </a:pPr>
                      <a:r>
                        <a:rPr lang="en-US" sz="2000" b="0" kern="100">
                          <a:solidFill>
                            <a:schemeClr val="tx1"/>
                          </a:solidFill>
                          <a:effectLst/>
                          <a:latin typeface="Times New Roman" panose="02020603050405020304" charset="0"/>
                          <a:ea typeface="微软雅黑" panose="020B0503020204020204" charset="-122"/>
                          <a:cs typeface="Times New Roman" panose="02020603050405020304" charset="0"/>
                        </a:rPr>
                        <a:t>0.05</a:t>
                      </a:r>
                      <a:endParaRPr lang="en-US" sz="2000" b="0" kern="100">
                        <a:solidFill>
                          <a:schemeClr val="tx1"/>
                        </a:solidFill>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4.50</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9.10</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13.8</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23.1</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c>
                  <a:txBody>
                    <a:bodyPr wrap="square"/>
                    <a:lstStyle/>
                    <a:p>
                      <a:pPr algn="l">
                        <a:lnSpc>
                          <a:spcPct val="150000"/>
                        </a:lnSpc>
                        <a:spcAft>
                          <a:spcPct val="0"/>
                        </a:spcAft>
                      </a:pPr>
                      <a:r>
                        <a:rPr lang="en-US" sz="2000" b="0" kern="100">
                          <a:effectLst/>
                          <a:latin typeface="Times New Roman" panose="02020603050405020304" charset="0"/>
                          <a:ea typeface="微软雅黑" panose="020B0503020204020204" charset="-122"/>
                          <a:cs typeface="Times New Roman" panose="02020603050405020304" charset="0"/>
                        </a:rPr>
                        <a:t>31.4</a:t>
                      </a:r>
                      <a:endParaRPr lang="en-US" sz="2000" b="0" kern="100">
                        <a:effectLst/>
                        <a:latin typeface="Times New Roman" panose="02020603050405020304" charset="0"/>
                        <a:ea typeface="微软雅黑" panose="020B0503020204020204" charset="-122"/>
                        <a:cs typeface="Times New Roman" panose="02020603050405020304" charset="0"/>
                      </a:endParaRPr>
                    </a:p>
                  </a:txBody>
                  <a:tcPr marL="68580" marR="68580" marT="0" marB="0" vert="horz">
                    <a:solidFill>
                      <a:schemeClr val="bg1">
                        <a:lumMod val="95000"/>
                      </a:schemeClr>
                    </a:solidFill>
                  </a:tcPr>
                </a:tc>
              </a:tr>
            </a:tbl>
          </a:graphicData>
        </a:graphic>
      </p:graphicFrame>
      <p:sp>
        <p:nvSpPr>
          <p:cNvPr id="10" name="文本框 9"/>
          <p:cNvSpPr txBox="1"/>
          <p:nvPr>
            <p:custDataLst>
              <p:tags r:id="rId9"/>
            </p:custDataLst>
          </p:nvPr>
        </p:nvSpPr>
        <p:spPr>
          <a:xfrm>
            <a:off x="2021840" y="2287905"/>
            <a:ext cx="8856980" cy="398780"/>
          </a:xfrm>
          <a:prstGeom prst="rect">
            <a:avLst/>
          </a:prstGeom>
          <a:noFill/>
          <a:ln>
            <a:solidFill>
              <a:srgbClr val="0959C7"/>
            </a:solidFill>
          </a:ln>
          <a:extLst>
            <a:ext uri="{909E8E84-426E-40DD-AFC4-6F175D3DCCD1}">
              <a14:hiddenFill xmlns:a14="http://schemas.microsoft.com/office/drawing/2010/main">
                <a:solidFill>
                  <a:schemeClr val="accent6">
                    <a:lumMod val="20000"/>
                    <a:lumOff val="80000"/>
                  </a:schemeClr>
                </a:solidFill>
              </a14:hiddenFill>
            </a:ext>
          </a:extLst>
        </p:spPr>
        <p:txBody>
          <a:bodyPr wrap="square" rtlCol="0" anchor="t">
            <a:spAutoFit/>
          </a:bodyPr>
          <a:lstStyle/>
          <a:p>
            <a:r>
              <a:rPr lang="zh-CN" altLang="en-US" sz="2000" err="1">
                <a:solidFill>
                  <a:schemeClr val="tx1"/>
                </a:solidFill>
                <a:latin typeface="微软雅黑" panose="020B0503020204020204" charset="-122"/>
                <a:ea typeface="微软雅黑" panose="020B0503020204020204" charset="-122"/>
                <a:cs typeface="Times New Roman" panose="02020603050405020304" charset="0"/>
                <a:sym typeface="+mn-ea"/>
              </a:rPr>
              <a:t>不同条件下，合成氨反应达到化学平衡时，反应混合物中氨的含量（体积分数）</a:t>
            </a:r>
            <a:endParaRPr lang="zh-CN" altLang="en-US" sz="2000" err="1">
              <a:solidFill>
                <a:schemeClr val="tx1"/>
              </a:solidFill>
              <a:latin typeface="微软雅黑" panose="020B0503020204020204" charset="-122"/>
              <a:ea typeface="微软雅黑" panose="020B0503020204020204" charset="-122"/>
              <a:cs typeface="Times New Roman" panose="02020603050405020304" charset="0"/>
              <a:sym typeface="+mn-ea"/>
            </a:endParaRPr>
          </a:p>
        </p:txBody>
      </p:sp>
      <p:cxnSp>
        <p:nvCxnSpPr>
          <p:cNvPr id="11" name="直接箭头连接符 10"/>
          <p:cNvCxnSpPr/>
          <p:nvPr>
            <p:custDataLst>
              <p:tags r:id="rId10"/>
            </p:custDataLst>
          </p:nvPr>
        </p:nvCxnSpPr>
        <p:spPr>
          <a:xfrm flipV="1">
            <a:off x="3475355" y="4646295"/>
            <a:ext cx="6564630" cy="22225"/>
          </a:xfrm>
          <a:prstGeom prst="straightConnector1">
            <a:avLst/>
          </a:prstGeom>
          <a:ln w="44450" cmpd="sng">
            <a:solidFill>
              <a:srgbClr val="C00000"/>
            </a:solid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custDataLst>
              <p:tags r:id="rId11"/>
            </p:custDataLst>
          </p:nvPr>
        </p:nvCxnSpPr>
        <p:spPr>
          <a:xfrm>
            <a:off x="4494530" y="3350260"/>
            <a:ext cx="8255" cy="2555240"/>
          </a:xfrm>
          <a:prstGeom prst="straightConnector1">
            <a:avLst/>
          </a:prstGeom>
          <a:ln w="44450" cmpd="sng">
            <a:gradFill>
              <a:gsLst>
                <a:gs pos="0">
                  <a:srgbClr val="14CD68"/>
                </a:gs>
                <a:gs pos="100000">
                  <a:srgbClr val="0B6E38"/>
                </a:gs>
              </a:gsLst>
            </a:gradFill>
            <a:prstDash val="solid"/>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custDataLst>
              <p:tags r:id="rId12"/>
            </p:custDataLst>
          </p:nvPr>
        </p:nvSpPr>
        <p:spPr>
          <a:xfrm>
            <a:off x="2719070" y="6057265"/>
            <a:ext cx="7576185" cy="460375"/>
          </a:xfrm>
          <a:prstGeom prst="rect">
            <a:avLst/>
          </a:prstGeom>
          <a:solidFill>
            <a:schemeClr val="accent1">
              <a:lumMod val="20000"/>
              <a:lumOff val="80000"/>
            </a:schemeClr>
          </a:solidFill>
        </p:spPr>
        <p:txBody>
          <a:bodyPr wrap="square" rtlCol="0" anchor="t">
            <a:spAutoFit/>
          </a:bodyPr>
          <a:lstStyle/>
          <a:p>
            <a:r>
              <a:rPr lang="zh-CN" altLang="en-US" sz="2400">
                <a:solidFill>
                  <a:schemeClr val="tx1"/>
                </a:solidFill>
                <a:latin typeface="微软雅黑" panose="020B0503020204020204" charset="-122"/>
                <a:ea typeface="微软雅黑" panose="020B0503020204020204" charset="-122"/>
                <a:sym typeface="+mn-ea"/>
              </a:rPr>
              <a:t>压强增大，氨的含量增大，温度升高，氨的含量降低</a:t>
            </a:r>
            <a:endParaRPr lang="zh-CN" altLang="en-US" sz="2400">
              <a:solidFill>
                <a:schemeClr val="tx1"/>
              </a:solidFill>
              <a:latin typeface="微软雅黑" panose="020B0503020204020204" charset="-122"/>
              <a:ea typeface="微软雅黑" panose="020B0503020204020204" charset="-122"/>
              <a:sym typeface="+mn-ea"/>
            </a:endParaRPr>
          </a:p>
        </p:txBody>
      </p:sp>
    </p:spTree>
    <p:custDataLst>
      <p:tags r:id="rId1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up)">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bldLvl="0" animBg="1"/>
      <p:bldP spid="10" grpId="0" bldLvl="0" animBg="1"/>
      <p:bldP spid="14"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795145" y="768985"/>
            <a:ext cx="8065135" cy="521970"/>
          </a:xfrm>
          <a:prstGeom prst="rect">
            <a:avLst/>
          </a:prstGeom>
          <a:noFill/>
        </p:spPr>
        <p:txBody>
          <a:bodyPr wrap="square" rtlCol="0">
            <a:spAutoFit/>
          </a:bodyPr>
          <a:lstStyle/>
          <a:p>
            <a:r>
              <a:rPr lang="zh-CN" altLang="en-US" sz="2800" b="1">
                <a:latin typeface="微软雅黑" panose="020B0503020204020204" charset="-122"/>
                <a:ea typeface="微软雅黑" panose="020B0503020204020204" charset="-122"/>
                <a:sym typeface="+mn-ea"/>
              </a:rPr>
              <a:t>思考：在实际生产中到底选择哪些适宜的条件呢？</a:t>
            </a:r>
            <a:endParaRPr lang="zh-CN" altLang="en-US" sz="2800" b="1">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grpSp>
        <p:nvGrpSpPr>
          <p:cNvPr id="29" name="组合 28"/>
          <p:cNvGrpSpPr/>
          <p:nvPr>
            <p:custDataLst>
              <p:tags r:id="rId3"/>
            </p:custDataLst>
          </p:nvPr>
        </p:nvGrpSpPr>
        <p:grpSpPr>
          <a:xfrm>
            <a:off x="2289810" y="1488440"/>
            <a:ext cx="7075805" cy="645160"/>
            <a:chOff x="2700" y="1936"/>
            <a:chExt cx="11143" cy="1016"/>
          </a:xfrm>
        </p:grpSpPr>
        <p:sp>
          <p:nvSpPr>
            <p:cNvPr id="100" name="文本框 99"/>
            <p:cNvSpPr txBox="1"/>
            <p:nvPr>
              <p:custDataLst>
                <p:tags r:id="rId4"/>
              </p:custDataLst>
            </p:nvPr>
          </p:nvSpPr>
          <p:spPr>
            <a:xfrm>
              <a:off x="2700" y="1936"/>
              <a:ext cx="11143" cy="1016"/>
            </a:xfrm>
            <a:prstGeom prst="rect">
              <a:avLst/>
            </a:prstGeom>
            <a:noFill/>
            <a:ln w="9525">
              <a:noFill/>
            </a:ln>
          </p:spPr>
          <p:txBody>
            <a:bodyPr wrap="square">
              <a:spAutoFit/>
            </a:bodyPr>
            <a:lstStyle/>
            <a:p>
              <a:pPr indent="0" fontAlgn="auto">
                <a:lnSpc>
                  <a:spcPct val="150000"/>
                </a:lnSpc>
              </a:pPr>
              <a:r>
                <a:rPr lang="en-US" sz="2400">
                  <a:latin typeface="Times New Roman" panose="02020603050405020304" charset="0"/>
                  <a:ea typeface="微软雅黑" panose="020B0503020204020204" charset="-122"/>
                  <a:cs typeface="Times New Roman" panose="02020603050405020304" charset="0"/>
                </a:rPr>
                <a:t>N</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a:t>
              </a:r>
              <a:r>
                <a:rPr lang="zh-CN" sz="2400">
                  <a:latin typeface="Times New Roman" panose="02020603050405020304" charset="0"/>
                  <a:ea typeface="微软雅黑" panose="020B0503020204020204" charset="-122"/>
                  <a:cs typeface="Times New Roman" panose="02020603050405020304" charset="0"/>
                </a:rPr>
                <a:t>＋</a:t>
              </a:r>
              <a:r>
                <a:rPr lang="en-US" sz="2400">
                  <a:latin typeface="Times New Roman" panose="02020603050405020304" charset="0"/>
                  <a:ea typeface="微软雅黑" panose="020B0503020204020204" charset="-122"/>
                  <a:cs typeface="Times New Roman" panose="02020603050405020304" charset="0"/>
                </a:rPr>
                <a:t>3H</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           </a:t>
              </a:r>
              <a:r>
                <a:rPr lang="en-US" sz="2400">
                  <a:latin typeface="Times New Roman" panose="02020603050405020304" charset="0"/>
                  <a:ea typeface="微软雅黑" panose="020B0503020204020204" charset="-122"/>
                  <a:cs typeface="Times New Roman" panose="02020603050405020304" charset="0"/>
                  <a:sym typeface="+mn-ea"/>
                </a:rPr>
                <a:t>2NH</a:t>
              </a:r>
              <a:r>
                <a:rPr lang="en-US" sz="2400" baseline="-25000">
                  <a:latin typeface="Times New Roman" panose="02020603050405020304" charset="0"/>
                  <a:ea typeface="微软雅黑" panose="020B0503020204020204" charset="-122"/>
                  <a:cs typeface="Times New Roman" panose="02020603050405020304" charset="0"/>
                  <a:sym typeface="+mn-ea"/>
                </a:rPr>
                <a:t>3</a:t>
              </a:r>
              <a:r>
                <a:rPr lang="en-US" sz="2400">
                  <a:latin typeface="Times New Roman" panose="02020603050405020304" charset="0"/>
                  <a:ea typeface="微软雅黑" panose="020B0503020204020204" charset="-122"/>
                  <a:cs typeface="Times New Roman" panose="02020603050405020304" charset="0"/>
                  <a:sym typeface="+mn-ea"/>
                </a:rPr>
                <a:t>(g)   Δ</a:t>
              </a:r>
              <a:r>
                <a:rPr lang="en-US" sz="2400" i="1">
                  <a:latin typeface="Times New Roman" panose="02020603050405020304" charset="0"/>
                  <a:ea typeface="微软雅黑" panose="020B0503020204020204" charset="-122"/>
                  <a:cs typeface="Times New Roman" panose="02020603050405020304" charset="0"/>
                  <a:sym typeface="+mn-ea"/>
                </a:rPr>
                <a:t>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92.4 kJ·mol</a:t>
              </a:r>
              <a:r>
                <a:rPr lang="zh-CN" sz="2400" baseline="30000">
                  <a:latin typeface="Times New Roman" panose="02020603050405020304" charset="0"/>
                  <a:ea typeface="微软雅黑" panose="020B0503020204020204" charset="-122"/>
                  <a:cs typeface="Times New Roman" panose="02020603050405020304" charset="0"/>
                  <a:sym typeface="+mn-ea"/>
                </a:rPr>
                <a:t>－</a:t>
              </a:r>
              <a:r>
                <a:rPr lang="en-US" sz="2400" baseline="30000">
                  <a:latin typeface="Times New Roman" panose="02020603050405020304" charset="0"/>
                  <a:ea typeface="微软雅黑" panose="020B0503020204020204" charset="-122"/>
                  <a:cs typeface="Times New Roman" panose="02020603050405020304" charset="0"/>
                  <a:sym typeface="+mn-ea"/>
                </a:rPr>
                <a:t>1</a:t>
              </a: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0" name="图片 29"/>
            <p:cNvPicPr/>
            <p:nvPr>
              <p:custDataLst>
                <p:tags r:id="rId5"/>
              </p:custDataLst>
            </p:nvPr>
          </p:nvPicPr>
          <p:blipFill>
            <a:blip r:embed="rId6">
              <a:lum bright="-6000"/>
            </a:blip>
            <a:stretch>
              <a:fillRect/>
            </a:stretch>
          </p:blipFill>
          <p:spPr>
            <a:xfrm>
              <a:off x="5862" y="2454"/>
              <a:ext cx="898" cy="281"/>
            </a:xfrm>
            <a:prstGeom prst="rect">
              <a:avLst/>
            </a:prstGeom>
            <a:noFill/>
            <a:ln w="9525">
              <a:noFill/>
            </a:ln>
          </p:spPr>
        </p:pic>
      </p:grpSp>
      <p:graphicFrame>
        <p:nvGraphicFramePr>
          <p:cNvPr id="66" name="表格 65"/>
          <p:cNvGraphicFramePr>
            <a:graphicFrameLocks noGrp="1"/>
          </p:cNvGraphicFramePr>
          <p:nvPr>
            <p:custDataLst>
              <p:tags r:id="rId7"/>
            </p:custDataLst>
          </p:nvPr>
        </p:nvGraphicFramePr>
        <p:xfrm>
          <a:off x="659765" y="2452370"/>
          <a:ext cx="10547350" cy="2805430"/>
        </p:xfrm>
        <a:graphic>
          <a:graphicData uri="http://schemas.openxmlformats.org/drawingml/2006/table">
            <a:tbl>
              <a:tblPr>
                <a:tableStyleId>{5940675A-B579-460E-94D1-54222C63F5DA}</a:tableStyleId>
              </a:tblPr>
              <a:tblGrid>
                <a:gridCol w="2400935"/>
                <a:gridCol w="2784475"/>
                <a:gridCol w="1991995"/>
                <a:gridCol w="1675130"/>
                <a:gridCol w="1694815"/>
              </a:tblGrid>
              <a:tr h="496570">
                <a:tc rowSpan="2">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对合成氨</a:t>
                      </a:r>
                      <a:endParaRPr lang="en-US" altLang="zh-CN" sz="2400" b="0" kern="1200">
                        <a:solidFill>
                          <a:prstClr val="black"/>
                        </a:solidFill>
                        <a:latin typeface="Times New Roman" panose="02020603050405020304" charset="0"/>
                        <a:ea typeface="微软雅黑" panose="020B0503020204020204" charset="-122"/>
                        <a:cs typeface="+mn-cs"/>
                      </a:endParaRPr>
                    </a:p>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反应的影响</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gridSpan="4">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影响因素</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tc hMerge="1">
                  <a:tcPr/>
                </a:tc>
                <a:tc hMerge="1">
                  <a:tcPr/>
                </a:tc>
                <a:tc hMerge="1">
                  <a:tcPr/>
                </a:tc>
              </a:tr>
              <a:tr h="457200">
                <a:tc vMerge="1">
                  <a:tcPr/>
                </a:tc>
                <a:tc>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浓度</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温度</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压强</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tc>
                <a:tc>
                  <a:txBody>
                    <a:bodyPr wrap="square"/>
                    <a:lstStyle/>
                    <a:p>
                      <a:pPr marL="0" algn="ctr" defTabSz="914400" rtl="0" eaLnBrk="1" latinLnBrk="0" hangingPunct="1">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催化剂</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R w="28575" cap="flat" cmpd="sng" algn="ctr">
                      <a:solidFill>
                        <a:schemeClr val="tx1"/>
                      </a:solidFill>
                      <a:prstDash val="solid"/>
                      <a:round/>
                      <a:headEnd type="none" w="med" len="med"/>
                      <a:tailEnd type="none" w="med" len="med"/>
                    </a:lnR>
                  </a:tcPr>
                </a:tc>
              </a:tr>
              <a:tr h="822960">
                <a:tc>
                  <a:txBody>
                    <a:bodyPr wrap="square"/>
                    <a:lstStyle/>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增大合成氨</a:t>
                      </a:r>
                      <a:endParaRPr lang="en-US" altLang="zh-CN" sz="2400" b="0" kern="1200">
                        <a:solidFill>
                          <a:prstClr val="black"/>
                        </a:solidFill>
                        <a:latin typeface="Times New Roman" panose="02020603050405020304" charset="0"/>
                        <a:ea typeface="微软雅黑" panose="020B0503020204020204" charset="-122"/>
                        <a:cs typeface="+mn-cs"/>
                      </a:endParaRPr>
                    </a:p>
                    <a:p>
                      <a:pPr algn="ctr">
                        <a:lnSpc>
                          <a:spcPct val="100000"/>
                        </a:lnSpc>
                      </a:pPr>
                      <a:r>
                        <a:rPr lang="zh-CN" altLang="en-US" sz="2400" b="0" kern="1200">
                          <a:solidFill>
                            <a:prstClr val="black"/>
                          </a:solidFill>
                          <a:latin typeface="Times New Roman" panose="02020603050405020304" charset="0"/>
                          <a:ea typeface="微软雅黑" panose="020B0503020204020204" charset="-122"/>
                          <a:cs typeface="+mn-cs"/>
                        </a:rPr>
                        <a:t>的反应速率</a:t>
                      </a:r>
                      <a:endParaRPr lang="zh-CN" altLang="en-US" sz="2400" b="0" kern="1200">
                        <a:solidFill>
                          <a:prstClr val="black"/>
                        </a:solidFill>
                        <a:latin typeface="Times New Roman" panose="02020603050405020304" charset="0"/>
                        <a:ea typeface="微软雅黑" panose="020B0503020204020204" charset="-122"/>
                        <a:cs typeface="+mn-cs"/>
                      </a:endParaRPr>
                    </a:p>
                  </a:txBody>
                  <a:tcPr vert="horz">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r h="1028700">
                <a:tc>
                  <a:txBody>
                    <a:bodyPr wrap="square"/>
                    <a:lstStyle/>
                    <a:p>
                      <a:pPr algn="ctr">
                        <a:lnSpc>
                          <a:spcPct val="100000"/>
                        </a:lnSpc>
                        <a:buNone/>
                      </a:pPr>
                      <a:r>
                        <a:rPr lang="zh-CN" altLang="en-US" sz="2400" b="0">
                          <a:solidFill>
                            <a:schemeClr val="tx1"/>
                          </a:solidFill>
                          <a:latin typeface="Times New Roman" panose="02020603050405020304" charset="0"/>
                          <a:ea typeface="微软雅黑" panose="020B0503020204020204" charset="-122"/>
                          <a:cs typeface="Times New Roman" panose="02020603050405020304" charset="0"/>
                          <a:sym typeface="+mn-ea"/>
                        </a:rPr>
                        <a:t>提高</a:t>
                      </a:r>
                      <a:r>
                        <a:rPr lang="zh-CN" altLang="en-US" sz="2400" b="0" smtClean="0">
                          <a:solidFill>
                            <a:schemeClr val="tx1"/>
                          </a:solidFill>
                          <a:latin typeface="Times New Roman" panose="02020603050405020304" charset="0"/>
                          <a:ea typeface="微软雅黑" panose="020B0503020204020204" charset="-122"/>
                          <a:cs typeface="Times New Roman" panose="02020603050405020304" charset="0"/>
                          <a:sym typeface="+mn-ea"/>
                        </a:rPr>
                        <a:t>平衡混合物</a:t>
                      </a:r>
                      <a:r>
                        <a:rPr lang="zh-CN" altLang="en-US" sz="2400" b="0">
                          <a:solidFill>
                            <a:schemeClr val="tx1"/>
                          </a:solidFill>
                          <a:latin typeface="Times New Roman" panose="02020603050405020304" charset="0"/>
                          <a:ea typeface="微软雅黑" panose="020B0503020204020204" charset="-122"/>
                          <a:cs typeface="Times New Roman" panose="02020603050405020304" charset="0"/>
                          <a:sym typeface="+mn-ea"/>
                        </a:rPr>
                        <a:t>中</a:t>
                      </a:r>
                      <a:r>
                        <a:rPr lang="en-US" altLang="zh-CN" sz="2400" b="0">
                          <a:solidFill>
                            <a:schemeClr val="tx1"/>
                          </a:solidFill>
                          <a:latin typeface="Times New Roman" panose="02020603050405020304" charset="0"/>
                          <a:ea typeface="微软雅黑" panose="020B0503020204020204" charset="-122"/>
                          <a:cs typeface="Times New Roman" panose="02020603050405020304" charset="0"/>
                          <a:sym typeface="+mn-ea"/>
                        </a:rPr>
                        <a:t>NH</a:t>
                      </a:r>
                      <a:r>
                        <a:rPr lang="en-US" altLang="zh-CN" sz="2400" b="0" baseline="-25000">
                          <a:solidFill>
                            <a:schemeClr val="tx1"/>
                          </a:solidFill>
                          <a:latin typeface="Times New Roman" panose="02020603050405020304" charset="0"/>
                          <a:ea typeface="微软雅黑" panose="020B0503020204020204" charset="-122"/>
                          <a:cs typeface="Times New Roman" panose="02020603050405020304" charset="0"/>
                          <a:sym typeface="+mn-ea"/>
                        </a:rPr>
                        <a:t>3</a:t>
                      </a:r>
                      <a:r>
                        <a:rPr lang="zh-CN" altLang="en-US" sz="2400" b="0" smtClean="0">
                          <a:solidFill>
                            <a:schemeClr val="tx1"/>
                          </a:solidFill>
                          <a:latin typeface="Times New Roman" panose="02020603050405020304" charset="0"/>
                          <a:ea typeface="微软雅黑" panose="020B0503020204020204" charset="-122"/>
                          <a:cs typeface="Times New Roman" panose="02020603050405020304" charset="0"/>
                          <a:sym typeface="+mn-ea"/>
                        </a:rPr>
                        <a:t>的含量</a:t>
                      </a:r>
                      <a:endParaRPr lang="zh-CN" altLang="en-US" sz="2400" b="0" kern="1200" smtClean="0">
                        <a:solidFill>
                          <a:schemeClr val="tx1"/>
                        </a:solidFill>
                        <a:latin typeface="Times New Roman" panose="02020603050405020304" charset="0"/>
                        <a:ea typeface="微软雅黑" panose="020B0503020204020204" charset="-122"/>
                        <a:cs typeface="Times New Roman" panose="02020603050405020304" charset="0"/>
                        <a:sym typeface="+mn-ea"/>
                      </a:endParaRPr>
                    </a:p>
                  </a:txBody>
                  <a:tcPr vert="horz">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B w="28575" cap="flat" cmpd="sng" algn="ctr">
                      <a:solidFill>
                        <a:schemeClr val="tx1"/>
                      </a:solidFill>
                      <a:prstDash val="solid"/>
                      <a:round/>
                      <a:headEnd type="none" w="med" len="med"/>
                      <a:tailEnd type="none" w="med" len="med"/>
                    </a:lnB>
                  </a:tcPr>
                </a:tc>
                <a:tc>
                  <a:txBody>
                    <a:bodyPr wrap="square"/>
                    <a:lstStyle/>
                    <a:p>
                      <a:pPr algn="ctr">
                        <a:lnSpc>
                          <a:spcPct val="100000"/>
                        </a:lnSpc>
                        <a:buNone/>
                      </a:pPr>
                      <a:endParaRPr lang="zh-CN" altLang="en-US" sz="2400" b="0">
                        <a:latin typeface="Times New Roman" panose="02020603050405020304" charset="0"/>
                        <a:ea typeface="微软雅黑" panose="020B0503020204020204" charset="-122"/>
                        <a:cs typeface="Times New Roman" panose="02020603050405020304" charset="0"/>
                      </a:endParaRPr>
                    </a:p>
                  </a:txBody>
                  <a:tcPr vert="horz">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7" name="TextBox 19"/>
          <p:cNvSpPr txBox="1"/>
          <p:nvPr>
            <p:custDataLst>
              <p:tags r:id="rId8"/>
            </p:custDataLst>
          </p:nvPr>
        </p:nvSpPr>
        <p:spPr>
          <a:xfrm>
            <a:off x="3629660" y="3547066"/>
            <a:ext cx="1722120" cy="460375"/>
          </a:xfrm>
          <a:prstGeom prst="rect">
            <a:avLst/>
          </a:prstGeom>
          <a:noFill/>
        </p:spPr>
        <p:txBody>
          <a:bodyPr wrap="square" rtlCol="0">
            <a:spAutoFit/>
          </a:bodyPr>
          <a:lstStyle/>
          <a:p>
            <a:pPr algn="ctr">
              <a:lnSpc>
                <a:spcPct val="100000"/>
              </a:lnSpc>
            </a:pPr>
            <a:r>
              <a:rPr lang="zh-CN" altLang="en-US" sz="2400">
                <a:solidFill>
                  <a:srgbClr val="FF0000"/>
                </a:solidFill>
                <a:latin typeface="微软雅黑" panose="020B0503020204020204" charset="-122"/>
                <a:ea typeface="微软雅黑" panose="020B0503020204020204" charset="-122"/>
              </a:rPr>
              <a:t>增大</a:t>
            </a:r>
            <a:endParaRPr lang="zh-CN" altLang="en-US" sz="2400">
              <a:solidFill>
                <a:srgbClr val="FF0000"/>
              </a:solidFill>
              <a:latin typeface="微软雅黑" panose="020B0503020204020204" charset="-122"/>
              <a:ea typeface="微软雅黑" panose="020B0503020204020204" charset="-122"/>
            </a:endParaRPr>
          </a:p>
        </p:txBody>
      </p:sp>
      <p:sp>
        <p:nvSpPr>
          <p:cNvPr id="68" name="TextBox 28"/>
          <p:cNvSpPr txBox="1"/>
          <p:nvPr>
            <p:custDataLst>
              <p:tags r:id="rId9"/>
            </p:custDataLst>
          </p:nvPr>
        </p:nvSpPr>
        <p:spPr>
          <a:xfrm>
            <a:off x="6238875" y="3546955"/>
            <a:ext cx="144780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升高</a:t>
            </a:r>
            <a:endParaRPr lang="zh-CN" altLang="en-US" sz="2400">
              <a:solidFill>
                <a:srgbClr val="FF0000"/>
              </a:solidFill>
              <a:latin typeface="微软雅黑" panose="020B0503020204020204" charset="-122"/>
              <a:ea typeface="微软雅黑" panose="020B0503020204020204" charset="-122"/>
            </a:endParaRPr>
          </a:p>
        </p:txBody>
      </p:sp>
      <p:sp>
        <p:nvSpPr>
          <p:cNvPr id="69" name="TextBox 29"/>
          <p:cNvSpPr txBox="1"/>
          <p:nvPr>
            <p:custDataLst>
              <p:tags r:id="rId10"/>
            </p:custDataLst>
          </p:nvPr>
        </p:nvSpPr>
        <p:spPr>
          <a:xfrm>
            <a:off x="8194040" y="3546955"/>
            <a:ext cx="112014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增大</a:t>
            </a:r>
            <a:endParaRPr lang="zh-CN" altLang="en-US" sz="2400">
              <a:solidFill>
                <a:srgbClr val="FF0000"/>
              </a:solidFill>
              <a:latin typeface="微软雅黑" panose="020B0503020204020204" charset="-122"/>
              <a:ea typeface="微软雅黑" panose="020B0503020204020204" charset="-122"/>
            </a:endParaRPr>
          </a:p>
        </p:txBody>
      </p:sp>
      <p:sp>
        <p:nvSpPr>
          <p:cNvPr id="70" name="TextBox 30"/>
          <p:cNvSpPr txBox="1"/>
          <p:nvPr>
            <p:custDataLst>
              <p:tags r:id="rId11"/>
            </p:custDataLst>
          </p:nvPr>
        </p:nvSpPr>
        <p:spPr>
          <a:xfrm>
            <a:off x="9821545" y="3547067"/>
            <a:ext cx="1447800" cy="460375"/>
          </a:xfrm>
          <a:prstGeom prst="rect">
            <a:avLst/>
          </a:prstGeom>
          <a:noFill/>
        </p:spPr>
        <p:txBody>
          <a:bodyPr wrap="square" rtlCol="0">
            <a:spAutoFit/>
          </a:bodyPr>
          <a:lstStyle/>
          <a:p>
            <a:pPr lvl="0" algn="ctr">
              <a:lnSpc>
                <a:spcPct val="100000"/>
              </a:lnSpc>
            </a:pPr>
            <a:r>
              <a:rPr lang="zh-CN" altLang="en-US" sz="2400">
                <a:solidFill>
                  <a:srgbClr val="FF0000"/>
                </a:solidFill>
                <a:latin typeface="微软雅黑" panose="020B0503020204020204" charset="-122"/>
                <a:ea typeface="微软雅黑" panose="020B0503020204020204" charset="-122"/>
              </a:rPr>
              <a:t>使用</a:t>
            </a:r>
            <a:endParaRPr lang="zh-CN" altLang="en-US" sz="2400">
              <a:solidFill>
                <a:srgbClr val="FF0000"/>
              </a:solidFill>
              <a:latin typeface="微软雅黑" panose="020B0503020204020204" charset="-122"/>
              <a:ea typeface="微软雅黑" panose="020B0503020204020204" charset="-122"/>
            </a:endParaRPr>
          </a:p>
        </p:txBody>
      </p:sp>
      <p:sp>
        <p:nvSpPr>
          <p:cNvPr id="20" name="TextBox 1"/>
          <p:cNvSpPr txBox="1"/>
          <p:nvPr>
            <p:custDataLst>
              <p:tags r:id="rId12"/>
            </p:custDataLst>
          </p:nvPr>
        </p:nvSpPr>
        <p:spPr>
          <a:xfrm>
            <a:off x="3065780" y="4215130"/>
            <a:ext cx="2694305" cy="460375"/>
          </a:xfrm>
          <a:prstGeom prst="rect">
            <a:avLst/>
          </a:prstGeom>
          <a:noFill/>
        </p:spPr>
        <p:txBody>
          <a:bodyPr wrap="square" rtlCol="0">
            <a:spAutoFit/>
          </a:bodyPr>
          <a:lstStyle/>
          <a:p>
            <a:pPr lvl="0" algn="ctr"/>
            <a:r>
              <a:rPr lang="zh-CN" altLang="en-US" sz="2400">
                <a:solidFill>
                  <a:srgbClr val="FF0000"/>
                </a:solidFill>
                <a:latin typeface="微软雅黑" panose="020B0503020204020204" charset="-122"/>
                <a:ea typeface="微软雅黑" panose="020B0503020204020204" charset="-122"/>
              </a:rPr>
              <a:t>增大反应为浓度</a:t>
            </a:r>
            <a:endParaRPr lang="zh-CN" altLang="en-US" sz="2400">
              <a:solidFill>
                <a:srgbClr val="FF0000"/>
              </a:solidFill>
              <a:latin typeface="微软雅黑" panose="020B0503020204020204" charset="-122"/>
              <a:ea typeface="微软雅黑" panose="020B0503020204020204" charset="-122"/>
            </a:endParaRPr>
          </a:p>
        </p:txBody>
      </p:sp>
      <p:sp>
        <p:nvSpPr>
          <p:cNvPr id="21" name="TextBox 2"/>
          <p:cNvSpPr txBox="1"/>
          <p:nvPr>
            <p:custDataLst>
              <p:tags r:id="rId13"/>
            </p:custDataLst>
          </p:nvPr>
        </p:nvSpPr>
        <p:spPr>
          <a:xfrm>
            <a:off x="2967990" y="4714875"/>
            <a:ext cx="2792095" cy="460375"/>
          </a:xfrm>
          <a:prstGeom prst="rect">
            <a:avLst/>
          </a:prstGeom>
          <a:noFill/>
        </p:spPr>
        <p:txBody>
          <a:bodyPr wrap="square" rtlCol="0">
            <a:spAutoFit/>
          </a:bodyPr>
          <a:lstStyle/>
          <a:p>
            <a:pPr lvl="0" algn="ctr"/>
            <a:r>
              <a:rPr lang="zh-CN" altLang="en-US" sz="2400">
                <a:solidFill>
                  <a:srgbClr val="FF0000"/>
                </a:solidFill>
                <a:latin typeface="微软雅黑" panose="020B0503020204020204" charset="-122"/>
                <a:ea typeface="微软雅黑" panose="020B0503020204020204" charset="-122"/>
              </a:rPr>
              <a:t>及时移走产生的氨</a:t>
            </a:r>
            <a:endParaRPr lang="zh-CN" altLang="en-US" sz="2400">
              <a:solidFill>
                <a:srgbClr val="FF0000"/>
              </a:solidFill>
              <a:latin typeface="微软雅黑" panose="020B0503020204020204" charset="-122"/>
              <a:ea typeface="微软雅黑" panose="020B0503020204020204" charset="-122"/>
            </a:endParaRPr>
          </a:p>
        </p:txBody>
      </p:sp>
      <p:sp>
        <p:nvSpPr>
          <p:cNvPr id="11" name="TextBox 18"/>
          <p:cNvSpPr txBox="1"/>
          <p:nvPr>
            <p:custDataLst>
              <p:tags r:id="rId14"/>
            </p:custDataLst>
          </p:nvPr>
        </p:nvSpPr>
        <p:spPr>
          <a:xfrm>
            <a:off x="6318991" y="4469706"/>
            <a:ext cx="1083169" cy="460375"/>
          </a:xfrm>
          <a:prstGeom prst="rect">
            <a:avLst/>
          </a:prstGeom>
          <a:noFill/>
        </p:spPr>
        <p:txBody>
          <a:bodyPr wrap="square" rtlCol="0">
            <a:spAutoFit/>
          </a:bodyPr>
          <a:lstStyle/>
          <a:p>
            <a:pPr lvl="0" algn="ctr"/>
            <a:r>
              <a:rPr lang="zh-CN" altLang="en-US" sz="2400" smtClean="0">
                <a:solidFill>
                  <a:srgbClr val="FF0000"/>
                </a:solidFill>
                <a:latin typeface="微软雅黑" panose="020B0503020204020204" charset="-122"/>
                <a:ea typeface="微软雅黑" panose="020B0503020204020204" charset="-122"/>
              </a:rPr>
              <a:t>降低</a:t>
            </a:r>
            <a:endParaRPr lang="zh-CN" altLang="en-US" sz="2400" smtClean="0">
              <a:solidFill>
                <a:srgbClr val="FF0000"/>
              </a:solidFill>
              <a:latin typeface="微软雅黑" panose="020B0503020204020204" charset="-122"/>
              <a:ea typeface="微软雅黑" panose="020B0503020204020204" charset="-122"/>
            </a:endParaRPr>
          </a:p>
        </p:txBody>
      </p:sp>
      <p:sp>
        <p:nvSpPr>
          <p:cNvPr id="23" name="TextBox 19"/>
          <p:cNvSpPr txBox="1"/>
          <p:nvPr>
            <p:custDataLst>
              <p:tags r:id="rId15"/>
            </p:custDataLst>
          </p:nvPr>
        </p:nvSpPr>
        <p:spPr>
          <a:xfrm>
            <a:off x="8113270" y="4469544"/>
            <a:ext cx="1083169" cy="460375"/>
          </a:xfrm>
          <a:prstGeom prst="rect">
            <a:avLst/>
          </a:prstGeom>
          <a:noFill/>
        </p:spPr>
        <p:txBody>
          <a:bodyPr wrap="square" rtlCol="0">
            <a:spAutoFit/>
          </a:bodyPr>
          <a:lstStyle/>
          <a:p>
            <a:pPr lvl="0" algn="ctr"/>
            <a:r>
              <a:rPr lang="zh-CN" altLang="en-US" sz="2400" smtClean="0">
                <a:solidFill>
                  <a:srgbClr val="FF0000"/>
                </a:solidFill>
                <a:latin typeface="微软雅黑" panose="020B0503020204020204" charset="-122"/>
                <a:ea typeface="微软雅黑" panose="020B0503020204020204" charset="-122"/>
              </a:rPr>
              <a:t>增大</a:t>
            </a:r>
            <a:endParaRPr lang="zh-CN" altLang="en-US" sz="2400" smtClean="0">
              <a:solidFill>
                <a:srgbClr val="FF0000"/>
              </a:solidFill>
              <a:latin typeface="微软雅黑" panose="020B0503020204020204" charset="-122"/>
              <a:ea typeface="微软雅黑" panose="020B0503020204020204" charset="-122"/>
            </a:endParaRPr>
          </a:p>
        </p:txBody>
      </p:sp>
      <p:sp>
        <p:nvSpPr>
          <p:cNvPr id="25" name="文本框 24"/>
          <p:cNvSpPr txBox="1"/>
          <p:nvPr>
            <p:custDataLst>
              <p:tags r:id="rId16"/>
            </p:custDataLst>
          </p:nvPr>
        </p:nvSpPr>
        <p:spPr>
          <a:xfrm>
            <a:off x="9674073" y="4469931"/>
            <a:ext cx="1532759" cy="460375"/>
          </a:xfrm>
          <a:prstGeom prst="rect">
            <a:avLst/>
          </a:prstGeom>
          <a:noFill/>
        </p:spPr>
        <p:txBody>
          <a:bodyPr wrap="square">
            <a:spAutoFit/>
          </a:bodyPr>
          <a:lstStyle/>
          <a:p>
            <a:pPr algn="ctr"/>
            <a:r>
              <a:rPr lang="zh-CN" altLang="en-US" sz="2400">
                <a:solidFill>
                  <a:srgbClr val="FF0000"/>
                </a:solidFill>
                <a:latin typeface="Times New Roman" panose="02020603050405020304" charset="0"/>
                <a:ea typeface="微软雅黑" panose="020B0503020204020204" charset="-122"/>
                <a:cs typeface="Times New Roman" panose="02020603050405020304" charset="0"/>
              </a:rPr>
              <a:t>不影响</a:t>
            </a:r>
            <a:endParaRPr lang="zh-CN" altLang="en-US" sz="2400">
              <a:solidFill>
                <a:srgbClr val="FF0000"/>
              </a:solidFill>
              <a:latin typeface="Times New Roman" panose="02020603050405020304" charset="0"/>
              <a:ea typeface="微软雅黑" panose="020B0503020204020204" charset="-122"/>
              <a:cs typeface="Times New Roman" panose="02020603050405020304" charset="0"/>
            </a:endParaRPr>
          </a:p>
        </p:txBody>
      </p:sp>
      <p:sp>
        <p:nvSpPr>
          <p:cNvPr id="37" name="Oval 83"/>
          <p:cNvSpPr/>
          <p:nvPr>
            <p:custDataLst>
              <p:tags r:id="rId17"/>
            </p:custDataLst>
          </p:nvPr>
        </p:nvSpPr>
        <p:spPr>
          <a:xfrm flipH="1">
            <a:off x="6061075" y="3194685"/>
            <a:ext cx="1625600" cy="2336800"/>
          </a:xfrm>
          <a:prstGeom prst="ellipse">
            <a:avLst/>
          </a:prstGeom>
          <a:noFill/>
          <a:ln w="38100" cap="flat" cmpd="sng">
            <a:gradFill>
              <a:gsLst>
                <a:gs pos="0">
                  <a:srgbClr val="14CD68"/>
                </a:gs>
                <a:gs pos="100000">
                  <a:srgbClr val="0B6E38"/>
                </a:gs>
              </a:gsLst>
            </a:gradFill>
            <a:prstDash val="solid"/>
            <a:headEnd type="none" w="med" len="med"/>
            <a:tailEnd type="none" w="med" len="med"/>
          </a:ln>
        </p:spPr>
        <p:txBody>
          <a:bodyPr wrap="none"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checkerboard(across)">
                                      <p:cBhvr>
                                        <p:cTn id="11" dur="500"/>
                                        <p:tgtEl>
                                          <p:spTgt spid="6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1" presetClass="entr" presetSubtype="4"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wheel(4)">
                                      <p:cBhvr>
                                        <p:cTn id="56"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69" grpId="0"/>
      <p:bldP spid="70" grpId="0"/>
      <p:bldP spid="20" grpId="0"/>
      <p:bldP spid="21" grpId="0"/>
      <p:bldP spid="11" grpId="0"/>
      <p:bldP spid="23" grpId="0"/>
      <p:bldP spid="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58775" y="501650"/>
            <a:ext cx="1200150" cy="460375"/>
          </a:xfrm>
          <a:prstGeom prst="rect">
            <a:avLst/>
          </a:prstGeom>
          <a:noFill/>
        </p:spPr>
        <p:txBody>
          <a:bodyPr wrap="square" rtlCol="0" anchor="t">
            <a:spAutoFit/>
          </a:bodyPr>
          <a:lstStyle/>
          <a:p>
            <a:r>
              <a:rPr lang="en-US" altLang="zh-CN" sz="2400" b="1">
                <a:latin typeface="Times New Roman" panose="02020603050405020304" charset="0"/>
                <a:ea typeface="微软雅黑" panose="020B0503020204020204" charset="-122"/>
                <a:cs typeface="Times New Roman" panose="02020603050405020304" charset="0"/>
                <a:sym typeface="+mn-ea"/>
              </a:rPr>
              <a:t>1.</a:t>
            </a:r>
            <a:r>
              <a:rPr lang="zh-CN" altLang="en-US" sz="2400" b="1">
                <a:highlight>
                  <a:srgbClr val="000000">
                    <a:alpha val="0"/>
                  </a:srgbClr>
                </a:highlight>
                <a:latin typeface="Times New Roman" panose="02020603050405020304" charset="0"/>
                <a:ea typeface="微软雅黑" panose="020B0503020204020204" charset="-122"/>
                <a:cs typeface="微软雅黑" panose="020B0503020204020204" charset="-122"/>
                <a:sym typeface="+mn-ea"/>
              </a:rPr>
              <a:t>压强</a:t>
            </a:r>
            <a:endParaRPr lang="zh-CN" altLang="en-US" sz="2400" b="1" smtClean="0">
              <a:solidFill>
                <a:schemeClr val="tx1"/>
              </a:solidFill>
              <a:effectLst/>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custDataLst>
              <p:tags r:id="rId2"/>
            </p:custDataLst>
          </p:nvPr>
        </p:nvSpPr>
        <p:spPr>
          <a:xfrm>
            <a:off x="512445" y="1015365"/>
            <a:ext cx="4110990" cy="460375"/>
          </a:xfrm>
          <a:prstGeom prst="rect">
            <a:avLst/>
          </a:prstGeom>
          <a:noFill/>
          <a:ln>
            <a:solidFill>
              <a:srgbClr val="0B66EE"/>
            </a:solidFill>
          </a:ln>
          <a:extLst>
            <a:ext uri="{909E8E84-426E-40DD-AFC4-6F175D3DCCD1}">
              <a14:hiddenFill xmlns:a14="http://schemas.microsoft.com/office/drawing/2010/main">
                <a:solidFill>
                  <a:schemeClr val="accent1">
                    <a:lumMod val="20000"/>
                    <a:lumOff val="80000"/>
                  </a:schemeClr>
                </a:solidFill>
              </a14:hiddenFill>
            </a:ext>
          </a:extLst>
        </p:spPr>
        <p:txBody>
          <a:bodyPr wrap="square" rtlCol="0" anchor="t">
            <a:spAutoFit/>
          </a:bodyPr>
          <a:lstStyle/>
          <a:p>
            <a:pPr algn="l"/>
            <a:r>
              <a:rPr lang="zh-CN" altLang="en-US" sz="2400">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①原理分析：压强越大越好</a:t>
            </a:r>
            <a:r>
              <a:rPr lang="zh-CN" altLang="en-US" sz="2400">
                <a:highlight>
                  <a:srgbClr val="000000">
                    <a:alpha val="0"/>
                  </a:srgbClr>
                </a:highlight>
                <a:latin typeface="微软雅黑" panose="020B0503020204020204" charset="-122"/>
                <a:ea typeface="微软雅黑" panose="020B0503020204020204" charset="-122"/>
                <a:sym typeface="+mn-ea"/>
              </a:rPr>
              <a:t>。</a:t>
            </a:r>
            <a:endParaRPr lang="zh-CN" altLang="en-US" sz="2400">
              <a:highlight>
                <a:srgbClr val="000000">
                  <a:alpha val="0"/>
                </a:srgbClr>
              </a:highlight>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custDataLst>
              <p:tags r:id="rId3"/>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sp>
        <p:nvSpPr>
          <p:cNvPr id="10" name="文本框 9"/>
          <p:cNvSpPr txBox="1"/>
          <p:nvPr>
            <p:custDataLst>
              <p:tags r:id="rId4"/>
            </p:custDataLst>
          </p:nvPr>
        </p:nvSpPr>
        <p:spPr>
          <a:xfrm>
            <a:off x="512445" y="1596390"/>
            <a:ext cx="11284585" cy="1050290"/>
          </a:xfrm>
          <a:prstGeom prst="rect">
            <a:avLst/>
          </a:prstGeom>
          <a:noFill/>
          <a:ln>
            <a:solidFill>
              <a:srgbClr val="0959C7"/>
            </a:solidFill>
          </a:ln>
        </p:spPr>
        <p:txBody>
          <a:bodyPr wrap="square" rtlCol="0" anchor="t">
            <a:spAutoFit/>
          </a:bodyPr>
          <a:lstStyle/>
          <a:p>
            <a:pPr>
              <a:lnSpc>
                <a:spcPct val="130000"/>
              </a:lnSpc>
            </a:pPr>
            <a:r>
              <a:rPr lang="zh-CN" altLang="en-US" sz="2400">
                <a:latin typeface="微软雅黑" panose="020B0503020204020204" charset="-122"/>
                <a:ea typeface="微软雅黑" panose="020B0503020204020204" charset="-122"/>
                <a:cs typeface="Times New Roman" panose="02020603050405020304" charset="0"/>
                <a:sym typeface="+mn-ea"/>
              </a:rPr>
              <a:t>②</a:t>
            </a:r>
            <a:r>
              <a:rPr lang="zh-CN" altLang="en-US" sz="2400">
                <a:latin typeface="Times New Roman" panose="02020603050405020304" charset="0"/>
                <a:ea typeface="微软雅黑" panose="020B0503020204020204" charset="-122"/>
                <a:cs typeface="Times New Roman" panose="02020603050405020304" charset="0"/>
                <a:sym typeface="+mn-ea"/>
              </a:rPr>
              <a:t>合成氨时不采用更高压强的理由：压强越大，对材料的强度和设备的制造要求也越高，需要的动力也越大，这将会大大增加生产投资，并</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可能降低综合经济效益</a:t>
            </a:r>
            <a:r>
              <a:rPr lang="zh-CN" altLang="en-US" sz="2400">
                <a:latin typeface="Times New Roman" panose="02020603050405020304" charset="0"/>
                <a:ea typeface="微软雅黑" panose="020B0503020204020204" charset="-122"/>
                <a:cs typeface="Times New Roman" panose="02020603050405020304" charset="0"/>
                <a:sym typeface="+mn-ea"/>
              </a:rPr>
              <a:t>。</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pic>
        <p:nvPicPr>
          <p:cNvPr id="11" name="图片 10"/>
          <p:cNvPicPr>
            <a:picLocks noChangeAspect="1"/>
          </p:cNvPicPr>
          <p:nvPr>
            <p:custDataLst>
              <p:tags r:id="rId5"/>
            </p:custDataLst>
          </p:nvPr>
        </p:nvPicPr>
        <p:blipFill>
          <a:blip r:embed="rId6"/>
          <a:stretch>
            <a:fillRect/>
          </a:stretch>
        </p:blipFill>
        <p:spPr>
          <a:xfrm>
            <a:off x="7343775" y="2809875"/>
            <a:ext cx="4908550" cy="3836035"/>
          </a:xfrm>
          <a:prstGeom prst="rect">
            <a:avLst/>
          </a:prstGeom>
        </p:spPr>
      </p:pic>
      <p:sp>
        <p:nvSpPr>
          <p:cNvPr id="12" name="文本框 11"/>
          <p:cNvSpPr txBox="1"/>
          <p:nvPr>
            <p:custDataLst>
              <p:tags r:id="rId7"/>
            </p:custDataLst>
          </p:nvPr>
        </p:nvSpPr>
        <p:spPr>
          <a:xfrm>
            <a:off x="512445" y="3185160"/>
            <a:ext cx="6096000" cy="829945"/>
          </a:xfrm>
          <a:prstGeom prst="rect">
            <a:avLst/>
          </a:prstGeom>
          <a:noFill/>
          <a:ln>
            <a:solidFill>
              <a:srgbClr val="0B66EE"/>
            </a:solidFill>
          </a:ln>
        </p:spPr>
        <p:txBody>
          <a:bodyPr wrap="square" rtlCol="0" anchor="t">
            <a:spAutoFit/>
          </a:bodyPr>
          <a:lstStyle/>
          <a:p>
            <a:r>
              <a:rPr lang="zh-CN" altLang="en-US" sz="2400">
                <a:latin typeface="微软雅黑" panose="020B0503020204020204" charset="-122"/>
                <a:ea typeface="微软雅黑" panose="020B0503020204020204" charset="-122"/>
                <a:cs typeface="Times New Roman" panose="02020603050405020304" charset="0"/>
                <a:sym typeface="+mn-ea"/>
              </a:rPr>
              <a:t>③</a:t>
            </a:r>
            <a:r>
              <a:rPr lang="zh-CN" altLang="en-US" sz="2400">
                <a:latin typeface="Times New Roman" panose="02020603050405020304" charset="0"/>
                <a:ea typeface="微软雅黑" panose="020B0503020204020204" charset="-122"/>
                <a:cs typeface="Times New Roman" panose="02020603050405020304" charset="0"/>
                <a:sym typeface="+mn-ea"/>
              </a:rPr>
              <a:t>选用条件：目前，我国合成氨厂一般采用的压强为</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10～30 MPa</a:t>
            </a:r>
            <a:r>
              <a:rPr lang="zh-CN" altLang="en-US" sz="2400">
                <a:latin typeface="Times New Roman" panose="02020603050405020304" charset="0"/>
                <a:ea typeface="微软雅黑" panose="020B0503020204020204" charset="-122"/>
                <a:cs typeface="Times New Roman" panose="02020603050405020304" charset="0"/>
                <a:sym typeface="+mn-ea"/>
              </a:rPr>
              <a:t>。</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116" name="文本框 115"/>
          <p:cNvSpPr txBox="1"/>
          <p:nvPr>
            <p:custDataLst>
              <p:tags r:id="rId8"/>
            </p:custDataLst>
          </p:nvPr>
        </p:nvSpPr>
        <p:spPr>
          <a:xfrm>
            <a:off x="512445" y="4553585"/>
            <a:ext cx="6831330" cy="460375"/>
          </a:xfrm>
          <a:prstGeom prst="rect">
            <a:avLst/>
          </a:prstGeom>
          <a:solidFill>
            <a:schemeClr val="accent1">
              <a:lumMod val="20000"/>
              <a:lumOff val="80000"/>
            </a:schemeClr>
          </a:solidFill>
        </p:spPr>
        <p:txBody>
          <a:bodyPr wrap="square" rtlCol="0" anchor="t">
            <a:spAutoFit/>
          </a:bodyPr>
          <a:lstStyle/>
          <a:p>
            <a:r>
              <a:rPr lang="zh-CN" altLang="en-US" sz="2400">
                <a:solidFill>
                  <a:prstClr val="black"/>
                </a:solidFill>
                <a:latin typeface="Times New Roman" panose="02020603050405020304" charset="0"/>
                <a:ea typeface="微软雅黑" panose="020B0503020204020204" charset="-122"/>
                <a:cs typeface="Times New Roman" panose="02020603050405020304" charset="0"/>
                <a:sym typeface="+mn-ea"/>
              </a:rPr>
              <a:t>采用控制变量的方法：</a:t>
            </a:r>
            <a:r>
              <a:rPr lang="en-US" altLang="zh-CN" sz="2400">
                <a:solidFill>
                  <a:prstClr val="black"/>
                </a:solidFill>
                <a:latin typeface="Times New Roman" panose="02020603050405020304" charset="0"/>
                <a:ea typeface="微软雅黑" panose="020B0503020204020204" charset="-122"/>
                <a:cs typeface="Times New Roman" panose="02020603050405020304" charset="0"/>
                <a:sym typeface="+mn-ea"/>
              </a:rPr>
              <a:t> </a:t>
            </a:r>
            <a:r>
              <a:rPr lang="en-US" altLang="zh-CN" sz="2400" i="1">
                <a:latin typeface="Times New Roman" panose="02020603050405020304" charset="0"/>
                <a:ea typeface="微软雅黑" panose="020B0503020204020204" charset="-122"/>
                <a:cs typeface="Times New Roman" panose="02020603050405020304" charset="0"/>
                <a:sym typeface="+mn-ea"/>
              </a:rPr>
              <a:t>n</a:t>
            </a:r>
            <a:r>
              <a:rPr lang="en-US" altLang="zh-CN" sz="2400">
                <a:latin typeface="Times New Roman" panose="02020603050405020304" charset="0"/>
                <a:ea typeface="微软雅黑" panose="020B0503020204020204" charset="-122"/>
                <a:cs typeface="Times New Roman" panose="02020603050405020304" charset="0"/>
                <a:sym typeface="+mn-ea"/>
              </a:rPr>
              <a:t>(N</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r>
              <a:rPr lang="en-US" altLang="zh-CN" sz="2400">
                <a:latin typeface="Times New Roman" panose="02020603050405020304" charset="0"/>
                <a:ea typeface="微软雅黑" panose="020B0503020204020204" charset="-122"/>
                <a:cs typeface="Times New Roman" panose="02020603050405020304" charset="0"/>
                <a:sym typeface="+mn-ea"/>
              </a:rPr>
              <a:t>):</a:t>
            </a:r>
            <a:r>
              <a:rPr lang="en-US" altLang="zh-CN" sz="2400" i="1">
                <a:latin typeface="Times New Roman" panose="02020603050405020304" charset="0"/>
                <a:ea typeface="微软雅黑" panose="020B0503020204020204" charset="-122"/>
                <a:cs typeface="Times New Roman" panose="02020603050405020304" charset="0"/>
                <a:sym typeface="+mn-ea"/>
              </a:rPr>
              <a:t>n</a:t>
            </a:r>
            <a:r>
              <a:rPr lang="en-US" altLang="zh-CN" sz="2400">
                <a:latin typeface="Times New Roman" panose="02020603050405020304" charset="0"/>
                <a:ea typeface="微软雅黑" panose="020B0503020204020204" charset="-122"/>
                <a:cs typeface="Times New Roman" panose="02020603050405020304" charset="0"/>
                <a:sym typeface="+mn-ea"/>
              </a:rPr>
              <a:t>(H</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r>
              <a:rPr lang="en-US" altLang="zh-CN" sz="2400">
                <a:latin typeface="Times New Roman" panose="02020603050405020304" charset="0"/>
                <a:ea typeface="微软雅黑" panose="020B0503020204020204" charset="-122"/>
                <a:cs typeface="Times New Roman" panose="02020603050405020304" charset="0"/>
                <a:sym typeface="+mn-ea"/>
              </a:rPr>
              <a:t>)</a:t>
            </a:r>
            <a:r>
              <a:rPr lang="zh-CN" altLang="en-US" sz="2400">
                <a:latin typeface="Times New Roman" panose="02020603050405020304" charset="0"/>
                <a:ea typeface="微软雅黑" panose="020B0503020204020204" charset="-122"/>
                <a:cs typeface="Times New Roman" panose="02020603050405020304" charset="0"/>
                <a:sym typeface="+mn-ea"/>
              </a:rPr>
              <a:t> ≈ </a:t>
            </a:r>
            <a:r>
              <a:rPr lang="en-US" altLang="zh-CN" sz="2400">
                <a:latin typeface="Times New Roman" panose="02020603050405020304" charset="0"/>
                <a:ea typeface="微软雅黑" panose="020B0503020204020204" charset="-122"/>
                <a:cs typeface="Times New Roman" panose="02020603050405020304" charset="0"/>
                <a:sym typeface="+mn-ea"/>
              </a:rPr>
              <a:t>1:3   10 MPa</a:t>
            </a:r>
            <a:endParaRPr lang="en-US" altLang="zh-CN" sz="2400">
              <a:latin typeface="Times New Roman" panose="02020603050405020304" charset="0"/>
              <a:ea typeface="微软雅黑" panose="020B0503020204020204" charset="-122"/>
              <a:cs typeface="Times New Roman" panose="02020603050405020304" charset="0"/>
              <a:sym typeface="+mn-ea"/>
            </a:endParaRPr>
          </a:p>
        </p:txBody>
      </p:sp>
    </p:spTree>
    <p:custDataLst>
      <p:tags r:id="rId9"/>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1000" fill="hold"/>
                                        <p:tgtEl>
                                          <p:spTgt spid="10"/>
                                        </p:tgtEl>
                                        <p:attrNameLst>
                                          <p:attrName>ppt_w</p:attrName>
                                        </p:attrNameLst>
                                      </p:cBhvr>
                                      <p:tavLst>
                                        <p:tav tm="0">
                                          <p:val>
                                            <p:strVal val="#ppt_w*0.70"/>
                                          </p:val>
                                        </p:tav>
                                        <p:tav tm="100000">
                                          <p:val>
                                            <p:strVal val="#ppt_w"/>
                                          </p:val>
                                        </p:tav>
                                      </p:tavLst>
                                    </p:anim>
                                    <p:anim calcmode="lin" valueType="num">
                                      <p:cBhvr>
                                        <p:cTn id="16" dur="1000" fill="hold"/>
                                        <p:tgtEl>
                                          <p:spTgt spid="10"/>
                                        </p:tgtEl>
                                        <p:attrNameLst>
                                          <p:attrName>ppt_h</p:attrName>
                                        </p:attrNameLst>
                                      </p:cBhvr>
                                      <p:tavLst>
                                        <p:tav tm="0">
                                          <p:val>
                                            <p:strVal val="#ppt_h"/>
                                          </p:val>
                                        </p:tav>
                                        <p:tav tm="100000">
                                          <p:val>
                                            <p:strVal val="#ppt_h"/>
                                          </p:val>
                                        </p:tav>
                                      </p:tavLst>
                                    </p:anim>
                                    <p:animEffect transition="in" filter="fade">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16"/>
                                        </p:tgtEl>
                                        <p:attrNameLst>
                                          <p:attrName>style.visibility</p:attrName>
                                        </p:attrNameLst>
                                      </p:cBhvr>
                                      <p:to>
                                        <p:strVal val="visible"/>
                                      </p:to>
                                    </p:set>
                                    <p:animEffect transition="in" filter="wipe(left)">
                                      <p:cBhvr>
                                        <p:cTn id="31"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10" grpId="0" bldLvl="0" animBg="1"/>
      <p:bldP spid="116" grpId="0" bldLvl="0" animBg="1"/>
      <p:bldP spid="1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28930" y="293370"/>
            <a:ext cx="1354455" cy="460375"/>
          </a:xfrm>
          <a:prstGeom prst="rect">
            <a:avLst/>
          </a:prstGeom>
          <a:noFill/>
        </p:spPr>
        <p:txBody>
          <a:bodyPr wrap="square" rtlCol="0" anchor="t">
            <a:spAutoFit/>
          </a:bodyPr>
          <a:lstStyle/>
          <a:p>
            <a:pPr indent="0" algn="l" fontAlgn="auto">
              <a:lnSpc>
                <a:spcPct val="100000"/>
              </a:lnSpc>
            </a:pPr>
            <a:r>
              <a:rPr lang="en-US" altLang="zh-CN" sz="2400" b="1">
                <a:latin typeface="Times New Roman" panose="02020603050405020304" charset="0"/>
                <a:ea typeface="微软雅黑" panose="020B0503020204020204" charset="-122"/>
                <a:cs typeface="Times New Roman" panose="02020603050405020304" charset="0"/>
                <a:sym typeface="+mn-ea"/>
              </a:rPr>
              <a:t>2.</a:t>
            </a:r>
            <a:r>
              <a:rPr lang="zh-CN" altLang="en-US" sz="2400" b="1">
                <a:latin typeface="Times New Roman" panose="02020603050405020304" charset="0"/>
                <a:ea typeface="微软雅黑" panose="020B0503020204020204" charset="-122"/>
                <a:cs typeface="Times New Roman" panose="02020603050405020304" charset="0"/>
                <a:sym typeface="+mn-ea"/>
              </a:rPr>
              <a:t>温度</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29" name="文本框 28"/>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sp>
        <p:nvSpPr>
          <p:cNvPr id="2" name="文本框 1"/>
          <p:cNvSpPr txBox="1"/>
          <p:nvPr>
            <p:custDataLst>
              <p:tags r:id="rId3"/>
            </p:custDataLst>
          </p:nvPr>
        </p:nvSpPr>
        <p:spPr>
          <a:xfrm>
            <a:off x="467360" y="2794635"/>
            <a:ext cx="5015230" cy="829945"/>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③选用条件：目前，在实际生产中一般采用的温度为</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400～500 ℃</a:t>
            </a:r>
            <a:r>
              <a:rPr lang="zh-CN" altLang="en-US" sz="2400">
                <a:latin typeface="Times New Roman" panose="02020603050405020304" charset="0"/>
                <a:ea typeface="微软雅黑" panose="020B0503020204020204" charset="-122"/>
                <a:cs typeface="Times New Roman" panose="02020603050405020304" charset="0"/>
                <a:sym typeface="+mn-ea"/>
              </a:rPr>
              <a:t>。</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3" name="文本框 2"/>
          <p:cNvSpPr txBox="1"/>
          <p:nvPr>
            <p:custDataLst>
              <p:tags r:id="rId4"/>
            </p:custDataLst>
          </p:nvPr>
        </p:nvSpPr>
        <p:spPr>
          <a:xfrm>
            <a:off x="396240" y="875665"/>
            <a:ext cx="6715125" cy="460375"/>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①原理分析：低温有利于提高原料的平衡转化率。</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5" name="文本框 4"/>
          <p:cNvSpPr txBox="1"/>
          <p:nvPr>
            <p:custDataLst>
              <p:tags r:id="rId5"/>
            </p:custDataLst>
          </p:nvPr>
        </p:nvSpPr>
        <p:spPr>
          <a:xfrm>
            <a:off x="396240" y="1598930"/>
            <a:ext cx="11050270" cy="829945"/>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②不采用低温的理由：</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温度降低会使化学反应速率减小</a:t>
            </a:r>
            <a:r>
              <a:rPr lang="zh-CN" altLang="en-US" sz="2400">
                <a:latin typeface="Times New Roman" panose="02020603050405020304" charset="0"/>
                <a:ea typeface="微软雅黑" panose="020B0503020204020204" charset="-122"/>
                <a:cs typeface="Times New Roman" panose="02020603050405020304" charset="0"/>
                <a:sym typeface="+mn-ea"/>
              </a:rPr>
              <a:t>，达到平衡所需时间变长，这在工业生产中是很不经济的。</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pic>
        <p:nvPicPr>
          <p:cNvPr id="6" name="图片 5"/>
          <p:cNvPicPr>
            <a:picLocks noChangeAspect="1"/>
          </p:cNvPicPr>
          <p:nvPr>
            <p:custDataLst>
              <p:tags r:id="rId6"/>
            </p:custDataLst>
          </p:nvPr>
        </p:nvPicPr>
        <p:blipFill>
          <a:blip r:embed="rId7"/>
          <a:stretch>
            <a:fillRect/>
          </a:stretch>
        </p:blipFill>
        <p:spPr>
          <a:xfrm>
            <a:off x="6174105" y="2470150"/>
            <a:ext cx="5012690" cy="4387850"/>
          </a:xfrm>
          <a:prstGeom prst="rect">
            <a:avLst/>
          </a:prstGeom>
        </p:spPr>
      </p:pic>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strVal val="#ppt_w*0.70"/>
                                          </p:val>
                                        </p:tav>
                                        <p:tav tm="100000">
                                          <p:val>
                                            <p:strVal val="#ppt_w"/>
                                          </p:val>
                                        </p:tav>
                                      </p:tavLst>
                                    </p:anim>
                                    <p:anim calcmode="lin" valueType="num">
                                      <p:cBhvr>
                                        <p:cTn id="16" dur="1000" fill="hold"/>
                                        <p:tgtEl>
                                          <p:spTgt spid="5"/>
                                        </p:tgtEl>
                                        <p:attrNameLst>
                                          <p:attrName>ppt_h</p:attrName>
                                        </p:attrNameLst>
                                      </p:cBhvr>
                                      <p:tavLst>
                                        <p:tav tm="0">
                                          <p:val>
                                            <p:strVal val="#ppt_h"/>
                                          </p:val>
                                        </p:tav>
                                        <p:tav tm="100000">
                                          <p:val>
                                            <p:strVal val="#ppt_h"/>
                                          </p:val>
                                        </p:tav>
                                      </p:tavLst>
                                    </p:anim>
                                    <p:animEffect transition="in" filter="fade">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1000" fill="hold"/>
                                        <p:tgtEl>
                                          <p:spTgt spid="2"/>
                                        </p:tgtEl>
                                        <p:attrNameLst>
                                          <p:attrName>ppt_w</p:attrName>
                                        </p:attrNameLst>
                                      </p:cBhvr>
                                      <p:tavLst>
                                        <p:tav tm="0">
                                          <p:val>
                                            <p:strVal val="#ppt_w*0.70"/>
                                          </p:val>
                                        </p:tav>
                                        <p:tav tm="100000">
                                          <p:val>
                                            <p:strVal val="#ppt_w"/>
                                          </p:val>
                                        </p:tav>
                                      </p:tavLst>
                                    </p:anim>
                                    <p:anim calcmode="lin" valueType="num">
                                      <p:cBhvr>
                                        <p:cTn id="28" dur="1000" fill="hold"/>
                                        <p:tgtEl>
                                          <p:spTgt spid="2"/>
                                        </p:tgtEl>
                                        <p:attrNameLst>
                                          <p:attrName>ppt_h</p:attrName>
                                        </p:attrNameLst>
                                      </p:cBhvr>
                                      <p:tavLst>
                                        <p:tav tm="0">
                                          <p:val>
                                            <p:strVal val="#ppt_h"/>
                                          </p:val>
                                        </p:tav>
                                        <p:tav tm="100000">
                                          <p:val>
                                            <p:strVal val="#ppt_h"/>
                                          </p:val>
                                        </p:tav>
                                      </p:tavLst>
                                    </p:anim>
                                    <p:animEffect transition="in" filter="fade">
                                      <p:cBhvr>
                                        <p:cTn id="2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ldLvl="0" animBg="1"/>
      <p:bldP spid="5" grpId="0" bldLvl="0" animBg="1"/>
      <p:bldP spid="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custDataLst>
              <p:tags r:id="rId1"/>
            </p:custDataLst>
          </p:nvPr>
        </p:nvPicPr>
        <p:blipFill>
          <a:blip r:embed="rId2"/>
          <a:srcRect l="19025" t="14151" r="6737" b="9427"/>
          <a:stretch>
            <a:fillRect/>
          </a:stretch>
        </p:blipFill>
        <p:spPr>
          <a:xfrm>
            <a:off x="6185535" y="2208530"/>
            <a:ext cx="4257675" cy="2783840"/>
          </a:xfrm>
          <a:prstGeom prst="rect">
            <a:avLst/>
          </a:prstGeom>
        </p:spPr>
      </p:pic>
      <p:sp>
        <p:nvSpPr>
          <p:cNvPr id="4" name="文本框 3"/>
          <p:cNvSpPr txBox="1"/>
          <p:nvPr>
            <p:custDataLst>
              <p:tags r:id="rId3"/>
            </p:custDataLst>
          </p:nvPr>
        </p:nvSpPr>
        <p:spPr>
          <a:xfrm>
            <a:off x="358775" y="468630"/>
            <a:ext cx="1615440" cy="460375"/>
          </a:xfrm>
          <a:prstGeom prst="rect">
            <a:avLst/>
          </a:prstGeom>
          <a:noFill/>
        </p:spPr>
        <p:txBody>
          <a:bodyPr wrap="square" rtlCol="0" anchor="t">
            <a:spAutoFit/>
          </a:bodyPr>
          <a:lstStyle/>
          <a:p>
            <a:r>
              <a:rPr lang="en-US" altLang="zh-CN" sz="2400" b="1">
                <a:latin typeface="微软雅黑" panose="020B0503020204020204" charset="-122"/>
                <a:ea typeface="微软雅黑" panose="020B0503020204020204" charset="-122"/>
                <a:cs typeface="微软雅黑" panose="020B0503020204020204" charset="-122"/>
                <a:sym typeface="+mn-ea"/>
              </a:rPr>
              <a:t>3.</a:t>
            </a:r>
            <a:r>
              <a:rPr lang="zh-CN" altLang="en-US" sz="2400" b="1">
                <a:latin typeface="Calibri" panose="020F0502020204030204"/>
                <a:ea typeface="微软雅黑" panose="020B0503020204020204" charset="-122"/>
                <a:cs typeface="Times New Roman" panose="02020603050405020304" charset="0"/>
                <a:sym typeface="+mn-ea"/>
              </a:rPr>
              <a:t>催化剂</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9" name="文本框 8"/>
          <p:cNvSpPr txBox="1"/>
          <p:nvPr>
            <p:custDataLst>
              <p:tags r:id="rId4"/>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sp>
        <p:nvSpPr>
          <p:cNvPr id="5" name="文本框 4"/>
          <p:cNvSpPr txBox="1"/>
          <p:nvPr>
            <p:custDataLst>
              <p:tags r:id="rId5"/>
            </p:custDataLst>
          </p:nvPr>
        </p:nvSpPr>
        <p:spPr>
          <a:xfrm>
            <a:off x="429260" y="2514600"/>
            <a:ext cx="3741420" cy="1198880"/>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③选用条件：通常采用加入以铁为主体的多成分催化剂，又称</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铁触媒</a:t>
            </a:r>
            <a:r>
              <a:rPr lang="zh-CN" altLang="en-US" sz="2400">
                <a:latin typeface="Times New Roman" panose="02020603050405020304" charset="0"/>
                <a:ea typeface="微软雅黑" panose="020B0503020204020204" charset="-122"/>
                <a:cs typeface="Times New Roman" panose="02020603050405020304" charset="0"/>
                <a:sym typeface="+mn-ea"/>
              </a:rPr>
              <a:t>。</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3" name="文本框 2"/>
          <p:cNvSpPr txBox="1"/>
          <p:nvPr>
            <p:custDataLst>
              <p:tags r:id="rId6"/>
            </p:custDataLst>
          </p:nvPr>
        </p:nvSpPr>
        <p:spPr>
          <a:xfrm>
            <a:off x="429260" y="929005"/>
            <a:ext cx="8171180" cy="460375"/>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①原理分析：在高温、高压下，N</a:t>
            </a:r>
            <a:r>
              <a:rPr lang="zh-CN" altLang="en-US" sz="2400" baseline="-250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和H</a:t>
            </a:r>
            <a:r>
              <a:rPr lang="zh-CN" altLang="en-US" sz="2400" baseline="-250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的反应速率仍然很慢。</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6" name="文本框 5"/>
          <p:cNvSpPr txBox="1"/>
          <p:nvPr>
            <p:custDataLst>
              <p:tags r:id="rId7"/>
            </p:custDataLst>
          </p:nvPr>
        </p:nvSpPr>
        <p:spPr>
          <a:xfrm>
            <a:off x="429260" y="1483995"/>
            <a:ext cx="11343640" cy="829945"/>
          </a:xfrm>
          <a:prstGeom prst="rect">
            <a:avLst/>
          </a:prstGeom>
          <a:noFill/>
          <a:ln>
            <a:solidFill>
              <a:srgbClr val="0B66EE"/>
            </a:solidFill>
          </a:ln>
        </p:spPr>
        <p:txBody>
          <a:bodyPr wrap="square" rtlCol="0" anchor="t">
            <a:spAutoFit/>
          </a:bodyPr>
          <a:lstStyle/>
          <a:p>
            <a:pPr>
              <a:lnSpc>
                <a:spcPct val="100000"/>
              </a:lnSpc>
            </a:pPr>
            <a:r>
              <a:rPr lang="zh-CN" altLang="en-US" sz="2400">
                <a:latin typeface="Times New Roman" panose="02020603050405020304" charset="0"/>
                <a:ea typeface="微软雅黑" panose="020B0503020204020204" charset="-122"/>
                <a:cs typeface="Times New Roman" panose="02020603050405020304" charset="0"/>
                <a:sym typeface="+mn-ea"/>
              </a:rPr>
              <a:t>②选择催化剂的理由：改变反应历程，降低反应的活化能，使反应物在较低温度时能较快地进行反应。</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7" name="文本框 6"/>
          <p:cNvSpPr txBox="1"/>
          <p:nvPr>
            <p:custDataLst>
              <p:tags r:id="rId8"/>
            </p:custDataLst>
          </p:nvPr>
        </p:nvSpPr>
        <p:spPr>
          <a:xfrm>
            <a:off x="429260" y="5104130"/>
            <a:ext cx="9378315" cy="460375"/>
          </a:xfrm>
          <a:prstGeom prst="rect">
            <a:avLst/>
          </a:prstGeom>
          <a:noFill/>
          <a:ln>
            <a:solidFill>
              <a:srgbClr val="0B66EE"/>
            </a:solidFill>
          </a:ln>
        </p:spPr>
        <p:txBody>
          <a:bodyPr wrap="square" rtlCol="0" anchor="t">
            <a:spAutoFit/>
          </a:bodyPr>
          <a:lstStyle/>
          <a:p>
            <a:pPr>
              <a:lnSpc>
                <a:spcPct val="100000"/>
              </a:lnSpc>
            </a:pPr>
            <a:r>
              <a:rPr lang="zh-CN" altLang="en-US" sz="2400">
                <a:latin typeface="微软雅黑" panose="020B0503020204020204" charset="-122"/>
                <a:ea typeface="微软雅黑" panose="020B0503020204020204" charset="-122"/>
                <a:cs typeface="Times New Roman" panose="02020603050405020304" charset="0"/>
                <a:sym typeface="+mn-ea"/>
              </a:rPr>
              <a:t>⑤</a:t>
            </a:r>
            <a:r>
              <a:rPr lang="zh-CN" altLang="en-US" sz="2400">
                <a:latin typeface="Times New Roman" panose="02020603050405020304" charset="0"/>
                <a:ea typeface="微软雅黑" panose="020B0503020204020204" charset="-122"/>
                <a:cs typeface="Times New Roman" panose="02020603050405020304" charset="0"/>
                <a:sym typeface="+mn-ea"/>
              </a:rPr>
              <a:t>为了防止混有的杂质使催化剂“中毒”，原料气必须经过</a:t>
            </a:r>
            <a:r>
              <a:rPr lang="zh-CN" altLang="en-US" sz="2400">
                <a:solidFill>
                  <a:srgbClr val="FF0000"/>
                </a:solidFill>
                <a:latin typeface="Times New Roman" panose="02020603050405020304" charset="0"/>
                <a:ea typeface="微软雅黑" panose="020B0503020204020204" charset="-122"/>
                <a:cs typeface="Times New Roman" panose="02020603050405020304" charset="0"/>
                <a:sym typeface="+mn-ea"/>
              </a:rPr>
              <a:t>净化</a:t>
            </a:r>
            <a:r>
              <a:rPr lang="zh-CN" altLang="en-US" sz="2400">
                <a:latin typeface="Times New Roman" panose="02020603050405020304" charset="0"/>
                <a:ea typeface="微软雅黑" panose="020B0503020204020204" charset="-122"/>
                <a:cs typeface="Times New Roman" panose="02020603050405020304" charset="0"/>
                <a:sym typeface="+mn-ea"/>
              </a:rPr>
              <a:t>。</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8" name="文本框 7"/>
          <p:cNvSpPr txBox="1"/>
          <p:nvPr>
            <p:custDataLst>
              <p:tags r:id="rId9"/>
            </p:custDataLst>
          </p:nvPr>
        </p:nvSpPr>
        <p:spPr>
          <a:xfrm>
            <a:off x="429260" y="3841115"/>
            <a:ext cx="5170170" cy="1198880"/>
          </a:xfrm>
          <a:prstGeom prst="rect">
            <a:avLst/>
          </a:prstGeom>
          <a:noFill/>
          <a:ln>
            <a:solidFill>
              <a:srgbClr val="0B66EE"/>
            </a:solidFill>
          </a:ln>
        </p:spPr>
        <p:txBody>
          <a:bodyPr wrap="square" rtlCol="0" anchor="t">
            <a:spAutoFit/>
          </a:bodyPr>
          <a:lstStyle/>
          <a:p>
            <a:pPr>
              <a:lnSpc>
                <a:spcPct val="100000"/>
              </a:lnSpc>
            </a:pPr>
            <a:r>
              <a:rPr lang="zh-CN" altLang="en-US" sz="2400">
                <a:latin typeface="微软雅黑" panose="020B0503020204020204" charset="-122"/>
                <a:ea typeface="微软雅黑" panose="020B0503020204020204" charset="-122"/>
                <a:cs typeface="Times New Roman" panose="02020603050405020304" charset="0"/>
                <a:sym typeface="+mn-ea"/>
              </a:rPr>
              <a:t>④</a:t>
            </a:r>
            <a:r>
              <a:rPr lang="zh-CN" altLang="en-US" sz="2400">
                <a:latin typeface="Times New Roman" panose="02020603050405020304" charset="0"/>
                <a:ea typeface="微软雅黑" panose="020B0503020204020204" charset="-122"/>
                <a:cs typeface="Times New Roman" panose="02020603050405020304" charset="0"/>
                <a:sym typeface="+mn-ea"/>
              </a:rPr>
              <a:t>合成氨反应一般选择400～500 ℃进行的又一重要原因为铁触媒在500 ℃左右时的活性最大。</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strVal val="#ppt_w*0.70"/>
                                          </p:val>
                                        </p:tav>
                                        <p:tav tm="100000">
                                          <p:val>
                                            <p:strVal val="#ppt_w"/>
                                          </p:val>
                                        </p:tav>
                                      </p:tavLst>
                                    </p:anim>
                                    <p:anim calcmode="lin" valueType="num">
                                      <p:cBhvr>
                                        <p:cTn id="16" dur="1000" fill="hold"/>
                                        <p:tgtEl>
                                          <p:spTgt spid="6"/>
                                        </p:tgtEl>
                                        <p:attrNameLst>
                                          <p:attrName>ppt_h</p:attrName>
                                        </p:attrNameLst>
                                      </p:cBhvr>
                                      <p:tavLst>
                                        <p:tav tm="0">
                                          <p:val>
                                            <p:strVal val="#ppt_h"/>
                                          </p:val>
                                        </p:tav>
                                        <p:tav tm="100000">
                                          <p:val>
                                            <p:strVal val="#ppt_h"/>
                                          </p:val>
                                        </p:tav>
                                      </p:tavLst>
                                    </p:anim>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1000" fill="hold"/>
                                        <p:tgtEl>
                                          <p:spTgt spid="8"/>
                                        </p:tgtEl>
                                        <p:attrNameLst>
                                          <p:attrName>ppt_w</p:attrName>
                                        </p:attrNameLst>
                                      </p:cBhvr>
                                      <p:tavLst>
                                        <p:tav tm="0">
                                          <p:val>
                                            <p:strVal val="#ppt_w*0.70"/>
                                          </p:val>
                                        </p:tav>
                                        <p:tav tm="100000">
                                          <p:val>
                                            <p:strVal val="#ppt_w"/>
                                          </p:val>
                                        </p:tav>
                                      </p:tavLst>
                                    </p:anim>
                                    <p:anim calcmode="lin" valueType="num">
                                      <p:cBhvr>
                                        <p:cTn id="31" dur="1000" fill="hold"/>
                                        <p:tgtEl>
                                          <p:spTgt spid="8"/>
                                        </p:tgtEl>
                                        <p:attrNameLst>
                                          <p:attrName>ppt_h</p:attrName>
                                        </p:attrNameLst>
                                      </p:cBhvr>
                                      <p:tavLst>
                                        <p:tav tm="0">
                                          <p:val>
                                            <p:strVal val="#ppt_h"/>
                                          </p:val>
                                        </p:tav>
                                        <p:tav tm="100000">
                                          <p:val>
                                            <p:strVal val="#ppt_h"/>
                                          </p:val>
                                        </p:tav>
                                      </p:tavLst>
                                    </p:anim>
                                    <p:animEffect transition="in" filter="fade">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1000" fill="hold"/>
                                        <p:tgtEl>
                                          <p:spTgt spid="7"/>
                                        </p:tgtEl>
                                        <p:attrNameLst>
                                          <p:attrName>ppt_w</p:attrName>
                                        </p:attrNameLst>
                                      </p:cBhvr>
                                      <p:tavLst>
                                        <p:tav tm="0">
                                          <p:val>
                                            <p:strVal val="#ppt_w*0.70"/>
                                          </p:val>
                                        </p:tav>
                                        <p:tav tm="100000">
                                          <p:val>
                                            <p:strVal val="#ppt_w"/>
                                          </p:val>
                                        </p:tav>
                                      </p:tavLst>
                                    </p:anim>
                                    <p:anim calcmode="lin" valueType="num">
                                      <p:cBhvr>
                                        <p:cTn id="38" dur="1000" fill="hold"/>
                                        <p:tgtEl>
                                          <p:spTgt spid="7"/>
                                        </p:tgtEl>
                                        <p:attrNameLst>
                                          <p:attrName>ppt_h</p:attrName>
                                        </p:attrNameLst>
                                      </p:cBhvr>
                                      <p:tavLst>
                                        <p:tav tm="0">
                                          <p:val>
                                            <p:strVal val="#ppt_h"/>
                                          </p:val>
                                        </p:tav>
                                        <p:tav tm="100000">
                                          <p:val>
                                            <p:strVal val="#ppt_h"/>
                                          </p:val>
                                        </p:tav>
                                      </p:tavLst>
                                    </p:anim>
                                    <p:animEffect transition="in" filter="fade">
                                      <p:cBhvr>
                                        <p:cTn id="39"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bldLvl="0" animBg="1"/>
      <p:bldP spid="6" grpId="0" bldLvl="0" animBg="1"/>
      <p:bldP spid="5" grpId="0" bldLvl="0" animBg="1"/>
      <p:bldP spid="7" grpId="0" bldLvl="0" animBg="1"/>
      <p:bldP spid="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58775" y="873125"/>
            <a:ext cx="4250055" cy="460375"/>
          </a:xfrm>
          <a:prstGeom prst="rect">
            <a:avLst/>
          </a:prstGeom>
          <a:noFill/>
        </p:spPr>
        <p:txBody>
          <a:bodyPr wrap="square" rtlCol="0" anchor="t">
            <a:spAutoFit/>
          </a:bodyPr>
          <a:lstStyle/>
          <a:p>
            <a:pPr indent="0" algn="l" fontAlgn="auto">
              <a:lnSpc>
                <a:spcPct val="100000"/>
              </a:lnSpc>
            </a:pPr>
            <a:r>
              <a:rPr lang="en-US" altLang="zh-CN" sz="2400" b="1">
                <a:latin typeface="微软雅黑" panose="020B0503020204020204" charset="-122"/>
                <a:ea typeface="微软雅黑" panose="020B0503020204020204" charset="-122"/>
                <a:cs typeface="微软雅黑" panose="020B0503020204020204" charset="-122"/>
                <a:sym typeface="+mn-ea"/>
              </a:rPr>
              <a:t>4.</a:t>
            </a:r>
            <a:r>
              <a:rPr lang="zh-CN" altLang="en-US" sz="2400" b="1">
                <a:latin typeface="微软雅黑" panose="020B0503020204020204" charset="-122"/>
                <a:ea typeface="微软雅黑" panose="020B0503020204020204" charset="-122"/>
                <a:cs typeface="微软雅黑" panose="020B0503020204020204" charset="-122"/>
                <a:sym typeface="+mn-ea"/>
              </a:rPr>
              <a:t>合成氨工艺条件的选择</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9" name="文本框 8"/>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graphicFrame>
        <p:nvGraphicFramePr>
          <p:cNvPr id="3" name="表格 2"/>
          <p:cNvGraphicFramePr>
            <a:graphicFrameLocks noGrp="1"/>
          </p:cNvGraphicFramePr>
          <p:nvPr>
            <p:custDataLst>
              <p:tags r:id="rId3"/>
            </p:custDataLst>
          </p:nvPr>
        </p:nvGraphicFramePr>
        <p:xfrm>
          <a:off x="499745" y="2529205"/>
          <a:ext cx="10889615" cy="3067050"/>
        </p:xfrm>
        <a:graphic>
          <a:graphicData uri="http://schemas.openxmlformats.org/drawingml/2006/table">
            <a:tbl>
              <a:tblPr/>
              <a:tblGrid>
                <a:gridCol w="1685290"/>
                <a:gridCol w="9204325"/>
              </a:tblGrid>
              <a:tr h="566420">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外部条件</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工业合成氨的适宜条件</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r>
              <a:tr h="548640">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压强</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wrap="square"/>
                    <a:lstStyle/>
                    <a:p>
                      <a:pPr marL="0" indent="0" algn="ctr" defTabSz="914400" fontAlgn="ctr">
                        <a:lnSpc>
                          <a:spcPct val="100000"/>
                        </a:lnSpc>
                        <a:spcBef>
                          <a:spcPct val="0"/>
                        </a:spcBef>
                        <a:spcAft>
                          <a:spcPct val="0"/>
                        </a:spcAft>
                        <a:tabLst>
                          <a:tab pos="1530350" algn="l"/>
                          <a:tab pos="1620520" algn="l"/>
                          <a:tab pos="2160270" algn="l"/>
                        </a:tabLst>
                      </a:pPr>
                      <a:endParaRPr lang="en-US" altLang="zh-CN" sz="2400">
                        <a:solidFill>
                          <a:schemeClr val="tx1"/>
                        </a:solidFill>
                        <a:latin typeface="Times New Roman" panose="02020603050405020304" charset="0"/>
                        <a:ea typeface="微软雅黑" panose="020B0503020204020204" charset="-122"/>
                        <a:cs typeface="Times New Roman" panose="02020603050405020304" charset="0"/>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548640">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温度</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wrap="square"/>
                    <a:lstStyle/>
                    <a:p>
                      <a:pPr marL="0" indent="0" algn="ctr" defTabSz="914400" fontAlgn="ctr">
                        <a:lnSpc>
                          <a:spcPct val="100000"/>
                        </a:lnSpc>
                        <a:spcBef>
                          <a:spcPct val="0"/>
                        </a:spcBef>
                        <a:spcAft>
                          <a:spcPct val="0"/>
                        </a:spcAft>
                        <a:tabLst>
                          <a:tab pos="1530350" algn="l"/>
                          <a:tab pos="1620520" algn="l"/>
                          <a:tab pos="2160270" algn="l"/>
                        </a:tabLst>
                      </a:pPr>
                      <a:endParaRPr lang="en-US" altLang="zh-CN" sz="2400">
                        <a:solidFill>
                          <a:schemeClr val="tx1"/>
                        </a:solidFill>
                        <a:latin typeface="Times New Roman" panose="02020603050405020304" charset="0"/>
                        <a:ea typeface="微软雅黑" panose="020B0503020204020204" charset="-122"/>
                        <a:cs typeface="Times New Roman" panose="02020603050405020304" charset="0"/>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652780">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催化剂</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wrap="square"/>
                    <a:lstStyle/>
                    <a:p>
                      <a:pPr marL="0" indent="0" algn="ctr" defTabSz="914400" fontAlgn="ctr">
                        <a:lnSpc>
                          <a:spcPct val="100000"/>
                        </a:lnSpc>
                        <a:spcBef>
                          <a:spcPct val="0"/>
                        </a:spcBef>
                        <a:spcAft>
                          <a:spcPct val="0"/>
                        </a:spcAft>
                        <a:tabLst>
                          <a:tab pos="1530350" algn="l"/>
                          <a:tab pos="1620520" algn="l"/>
                          <a:tab pos="2160270" algn="l"/>
                        </a:tabLst>
                      </a:pP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750570">
                <a:tc>
                  <a:txBody>
                    <a:bodyPr wrap="square"/>
                    <a:lstStyle/>
                    <a:p>
                      <a:pPr marL="0" indent="0" algn="ctr" defTabSz="914400" fontAlgn="ctr">
                        <a:lnSpc>
                          <a:spcPct val="100000"/>
                        </a:lnSpc>
                        <a:spcBef>
                          <a:spcPct val="0"/>
                        </a:spcBef>
                        <a:spcAft>
                          <a:spcPct val="0"/>
                        </a:spcAft>
                        <a:tabLst>
                          <a:tab pos="1530350" algn="l"/>
                          <a:tab pos="1620520" algn="l"/>
                          <a:tab pos="2160270" algn="l"/>
                        </a:tabLst>
                      </a:pPr>
                      <a:r>
                        <a:rPr lang="zh-CN" sz="2400">
                          <a:solidFill>
                            <a:schemeClr val="tx1"/>
                          </a:solidFill>
                          <a:latin typeface="Times New Roman" panose="02020603050405020304" charset="0"/>
                          <a:ea typeface="微软雅黑" panose="020B0503020204020204" charset="-122"/>
                        </a:rPr>
                        <a:t>浓度</a:t>
                      </a:r>
                      <a:endParaRPr lang="zh-CN" sz="2400">
                        <a:solidFill>
                          <a:schemeClr val="tx1"/>
                        </a:solidFill>
                        <a:latin typeface="Times New Roman" panose="02020603050405020304" charset="0"/>
                        <a:ea typeface="微软雅黑" panose="020B0503020204020204" charset="-122"/>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solidFill>
                      <a:schemeClr val="accent1">
                        <a:lumMod val="20000"/>
                        <a:lumOff val="80000"/>
                      </a:schemeClr>
                    </a:solidFill>
                  </a:tcPr>
                </a:tc>
                <a:tc>
                  <a:txBody>
                    <a:bodyPr wrap="square"/>
                    <a:lstStyle/>
                    <a:p>
                      <a:pPr marL="0" indent="0" algn="ctr" defTabSz="914400" fontAlgn="ctr">
                        <a:lnSpc>
                          <a:spcPct val="100000"/>
                        </a:lnSpc>
                        <a:spcBef>
                          <a:spcPct val="0"/>
                        </a:spcBef>
                        <a:spcAft>
                          <a:spcPct val="0"/>
                        </a:spcAft>
                        <a:tabLst>
                          <a:tab pos="1530350" algn="l"/>
                          <a:tab pos="1620520" algn="l"/>
                          <a:tab pos="2160270" algn="l"/>
                        </a:tabLst>
                      </a:pPr>
                      <a:endParaRPr lang="en-US" altLang="zh-CN" sz="2400" baseline="-25000">
                        <a:solidFill>
                          <a:schemeClr val="tx1"/>
                        </a:solidFill>
                        <a:latin typeface="Times New Roman" panose="02020603050405020304" charset="0"/>
                        <a:ea typeface="微软雅黑" panose="020B0503020204020204" charset="-122"/>
                        <a:cs typeface="Times New Roman" panose="02020603050405020304" charset="0"/>
                      </a:endParaRPr>
                    </a:p>
                  </a:txBody>
                  <a:tcPr marL="68580" marR="68580" marT="0" marB="0" vert="horz"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5" name="文本框 4"/>
          <p:cNvSpPr txBox="1"/>
          <p:nvPr>
            <p:custDataLst>
              <p:tags r:id="rId4"/>
            </p:custDataLst>
          </p:nvPr>
        </p:nvSpPr>
        <p:spPr>
          <a:xfrm>
            <a:off x="3384550" y="3173095"/>
            <a:ext cx="6096000" cy="460375"/>
          </a:xfrm>
          <a:prstGeom prst="rect">
            <a:avLst/>
          </a:prstGeom>
          <a:noFill/>
        </p:spPr>
        <p:txBody>
          <a:bodyPr wrap="square" rtlCol="0" anchor="t">
            <a:spAutoFit/>
          </a:bodyPr>
          <a:lstStyle/>
          <a:p>
            <a:pPr marL="0" indent="0" algn="ctr" defTabSz="914400" fontAlgn="ctr">
              <a:lnSpc>
                <a:spcPct val="100000"/>
              </a:lnSpc>
              <a:spcBef>
                <a:spcPct val="0"/>
              </a:spcBef>
              <a:spcAft>
                <a:spcPct val="0"/>
              </a:spcAft>
              <a:tabLst>
                <a:tab pos="1530350" algn="l"/>
                <a:tab pos="1620520" algn="l"/>
                <a:tab pos="2160270" algn="l"/>
              </a:tabLst>
            </a:pPr>
            <a:r>
              <a:rPr lang="en-US" altLang="zh-CN" sz="2400">
                <a:latin typeface="Times New Roman" panose="02020603050405020304" charset="0"/>
                <a:ea typeface="微软雅黑" panose="020B0503020204020204" charset="-122"/>
                <a:cs typeface="Times New Roman" panose="02020603050405020304" charset="0"/>
                <a:sym typeface="+mn-ea"/>
              </a:rPr>
              <a:t>10</a:t>
            </a:r>
            <a:r>
              <a:rPr lang="zh-CN" sz="2400">
                <a:latin typeface="Times New Roman" panose="02020603050405020304" charset="0"/>
                <a:ea typeface="微软雅黑" panose="020B0503020204020204" charset="-122"/>
                <a:cs typeface="Times New Roman" panose="02020603050405020304" charset="0"/>
                <a:sym typeface="+mn-ea"/>
              </a:rPr>
              <a:t>～</a:t>
            </a:r>
            <a:r>
              <a:rPr lang="en-US" altLang="zh-CN" sz="2400">
                <a:latin typeface="Times New Roman" panose="02020603050405020304" charset="0"/>
                <a:ea typeface="微软雅黑" panose="020B0503020204020204" charset="-122"/>
                <a:cs typeface="Times New Roman" panose="02020603050405020304" charset="0"/>
                <a:sym typeface="+mn-ea"/>
              </a:rPr>
              <a:t>30 MPa</a:t>
            </a:r>
            <a:endParaRPr lang="en-US" altLang="zh-CN" sz="2400">
              <a:latin typeface="Times New Roman" panose="02020603050405020304" charset="0"/>
              <a:ea typeface="微软雅黑" panose="020B0503020204020204" charset="-122"/>
              <a:cs typeface="Times New Roman" panose="02020603050405020304" charset="0"/>
              <a:sym typeface="+mn-ea"/>
            </a:endParaRPr>
          </a:p>
        </p:txBody>
      </p:sp>
      <p:sp>
        <p:nvSpPr>
          <p:cNvPr id="6" name="文本框 5"/>
          <p:cNvSpPr txBox="1"/>
          <p:nvPr>
            <p:custDataLst>
              <p:tags r:id="rId5"/>
            </p:custDataLst>
          </p:nvPr>
        </p:nvSpPr>
        <p:spPr>
          <a:xfrm>
            <a:off x="3384550" y="3731260"/>
            <a:ext cx="6096000" cy="460375"/>
          </a:xfrm>
          <a:prstGeom prst="rect">
            <a:avLst/>
          </a:prstGeom>
          <a:noFill/>
        </p:spPr>
        <p:txBody>
          <a:bodyPr wrap="square" rtlCol="0" anchor="t">
            <a:spAutoFit/>
          </a:bodyPr>
          <a:lstStyle/>
          <a:p>
            <a:pPr marL="0" indent="0" algn="ctr" defTabSz="914400" fontAlgn="ctr">
              <a:lnSpc>
                <a:spcPct val="100000"/>
              </a:lnSpc>
              <a:spcBef>
                <a:spcPct val="0"/>
              </a:spcBef>
              <a:spcAft>
                <a:spcPct val="0"/>
              </a:spcAft>
              <a:tabLst>
                <a:tab pos="1530350" algn="l"/>
                <a:tab pos="1620520" algn="l"/>
                <a:tab pos="2160270" algn="l"/>
              </a:tabLst>
            </a:pPr>
            <a:r>
              <a:rPr lang="en-US" altLang="zh-CN" sz="2400">
                <a:latin typeface="Times New Roman" panose="02020603050405020304" charset="0"/>
                <a:ea typeface="微软雅黑" panose="020B0503020204020204" charset="-122"/>
                <a:cs typeface="Times New Roman" panose="02020603050405020304" charset="0"/>
                <a:sym typeface="+mn-ea"/>
              </a:rPr>
              <a:t>400</a:t>
            </a:r>
            <a:r>
              <a:rPr lang="zh-CN" sz="2400">
                <a:latin typeface="Times New Roman" panose="02020603050405020304" charset="0"/>
                <a:ea typeface="微软雅黑" panose="020B0503020204020204" charset="-122"/>
                <a:cs typeface="Times New Roman" panose="02020603050405020304" charset="0"/>
                <a:sym typeface="+mn-ea"/>
              </a:rPr>
              <a:t>～</a:t>
            </a:r>
            <a:r>
              <a:rPr lang="en-US" altLang="zh-CN" sz="2400">
                <a:latin typeface="Times New Roman" panose="02020603050405020304" charset="0"/>
                <a:ea typeface="微软雅黑" panose="020B0503020204020204" charset="-122"/>
                <a:cs typeface="Times New Roman" panose="02020603050405020304" charset="0"/>
                <a:sym typeface="+mn-ea"/>
              </a:rPr>
              <a:t>500 ℃</a:t>
            </a:r>
            <a:endParaRPr lang="en-US" altLang="zh-CN" sz="2400">
              <a:latin typeface="Times New Roman" panose="02020603050405020304" charset="0"/>
              <a:ea typeface="微软雅黑" panose="020B0503020204020204" charset="-122"/>
              <a:cs typeface="Times New Roman" panose="02020603050405020304" charset="0"/>
              <a:sym typeface="+mn-ea"/>
            </a:endParaRPr>
          </a:p>
        </p:txBody>
      </p:sp>
      <p:sp>
        <p:nvSpPr>
          <p:cNvPr id="7" name="文本框 6"/>
          <p:cNvSpPr txBox="1"/>
          <p:nvPr>
            <p:custDataLst>
              <p:tags r:id="rId6"/>
            </p:custDataLst>
          </p:nvPr>
        </p:nvSpPr>
        <p:spPr>
          <a:xfrm>
            <a:off x="3308350" y="4357370"/>
            <a:ext cx="6096000" cy="460375"/>
          </a:xfrm>
          <a:prstGeom prst="rect">
            <a:avLst/>
          </a:prstGeom>
          <a:noFill/>
        </p:spPr>
        <p:txBody>
          <a:bodyPr wrap="square" rtlCol="0" anchor="t">
            <a:spAutoFit/>
          </a:bodyPr>
          <a:lstStyle/>
          <a:p>
            <a:pPr marL="0" indent="0" algn="ctr" defTabSz="914400" fontAlgn="ctr">
              <a:lnSpc>
                <a:spcPct val="100000"/>
              </a:lnSpc>
              <a:spcBef>
                <a:spcPct val="0"/>
              </a:spcBef>
              <a:spcAft>
                <a:spcPct val="0"/>
              </a:spcAft>
              <a:tabLst>
                <a:tab pos="1530350" algn="l"/>
                <a:tab pos="1620520" algn="l"/>
                <a:tab pos="2160270" algn="l"/>
              </a:tabLst>
            </a:pPr>
            <a:r>
              <a:rPr lang="zh-CN" sz="2400">
                <a:latin typeface="Times New Roman" panose="02020603050405020304" charset="0"/>
                <a:ea typeface="微软雅黑" panose="020B0503020204020204" charset="-122"/>
                <a:sym typeface="+mn-ea"/>
              </a:rPr>
              <a:t>使用铁触媒作催化剂</a:t>
            </a:r>
            <a:endParaRPr lang="zh-CN" altLang="en-US" sz="2400">
              <a:latin typeface="Times New Roman" panose="02020603050405020304" charset="0"/>
              <a:ea typeface="微软雅黑" panose="020B0503020204020204" charset="-122"/>
              <a:sym typeface="+mn-ea"/>
            </a:endParaRPr>
          </a:p>
        </p:txBody>
      </p:sp>
      <p:sp>
        <p:nvSpPr>
          <p:cNvPr id="8" name="文本框 7"/>
          <p:cNvSpPr txBox="1"/>
          <p:nvPr>
            <p:custDataLst>
              <p:tags r:id="rId7"/>
            </p:custDataLst>
          </p:nvPr>
        </p:nvSpPr>
        <p:spPr>
          <a:xfrm>
            <a:off x="2284730" y="4983480"/>
            <a:ext cx="9104630" cy="460375"/>
          </a:xfrm>
          <a:prstGeom prst="rect">
            <a:avLst/>
          </a:prstGeom>
          <a:noFill/>
        </p:spPr>
        <p:txBody>
          <a:bodyPr wrap="square" rtlCol="0" anchor="t">
            <a:spAutoFit/>
          </a:bodyPr>
          <a:lstStyle/>
          <a:p>
            <a:pPr marL="0" indent="0" algn="ctr" defTabSz="914400" fontAlgn="ctr">
              <a:lnSpc>
                <a:spcPct val="100000"/>
              </a:lnSpc>
              <a:spcBef>
                <a:spcPct val="0"/>
              </a:spcBef>
              <a:spcAft>
                <a:spcPct val="0"/>
              </a:spcAft>
              <a:tabLst>
                <a:tab pos="1530350" algn="l"/>
                <a:tab pos="1620520" algn="l"/>
                <a:tab pos="2160270" algn="l"/>
              </a:tabLst>
            </a:pPr>
            <a:r>
              <a:rPr lang="zh-CN" sz="2400">
                <a:latin typeface="Times New Roman" panose="02020603050405020304" charset="0"/>
                <a:ea typeface="微软雅黑" panose="020B0503020204020204" charset="-122"/>
                <a:cs typeface="Times New Roman" panose="02020603050405020304" charset="0"/>
                <a:sym typeface="+mn-ea"/>
              </a:rPr>
              <a:t>氨及时从混合气中分离出去，剩余气体循环使用；及时补充</a:t>
            </a:r>
            <a:r>
              <a:rPr lang="en-US" altLang="zh-CN" sz="2400">
                <a:latin typeface="Times New Roman" panose="02020603050405020304" charset="0"/>
                <a:ea typeface="微软雅黑" panose="020B0503020204020204" charset="-122"/>
                <a:cs typeface="Times New Roman" panose="02020603050405020304" charset="0"/>
                <a:sym typeface="+mn-ea"/>
              </a:rPr>
              <a:t>N</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r>
              <a:rPr lang="zh-CN" sz="2400">
                <a:latin typeface="Times New Roman" panose="02020603050405020304" charset="0"/>
                <a:ea typeface="微软雅黑" panose="020B0503020204020204" charset="-122"/>
                <a:cs typeface="Times New Roman" panose="02020603050405020304" charset="0"/>
                <a:sym typeface="+mn-ea"/>
              </a:rPr>
              <a:t>和</a:t>
            </a:r>
            <a:r>
              <a:rPr lang="en-US" altLang="zh-CN" sz="2400">
                <a:latin typeface="Times New Roman" panose="02020603050405020304" charset="0"/>
                <a:ea typeface="微软雅黑" panose="020B0503020204020204" charset="-122"/>
                <a:cs typeface="Times New Roman" panose="02020603050405020304" charset="0"/>
                <a:sym typeface="+mn-ea"/>
              </a:rPr>
              <a:t>H</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endParaRPr lang="en-US" altLang="zh-CN" sz="2400" baseline="-25000">
              <a:latin typeface="Times New Roman" panose="02020603050405020304" charset="0"/>
              <a:ea typeface="微软雅黑" panose="020B0503020204020204" charset="-122"/>
              <a:cs typeface="Times New Roman" panose="02020603050405020304" charset="0"/>
              <a:sym typeface="+mn-ea"/>
            </a:endParaRPr>
          </a:p>
        </p:txBody>
      </p:sp>
      <p:grpSp>
        <p:nvGrpSpPr>
          <p:cNvPr id="29" name="组合 28"/>
          <p:cNvGrpSpPr/>
          <p:nvPr>
            <p:custDataLst>
              <p:tags r:id="rId8"/>
            </p:custDataLst>
          </p:nvPr>
        </p:nvGrpSpPr>
        <p:grpSpPr>
          <a:xfrm>
            <a:off x="2126615" y="1635760"/>
            <a:ext cx="7075805" cy="645160"/>
            <a:chOff x="2700" y="1936"/>
            <a:chExt cx="11143" cy="1016"/>
          </a:xfrm>
        </p:grpSpPr>
        <p:sp>
          <p:nvSpPr>
            <p:cNvPr id="100" name="文本框 99"/>
            <p:cNvSpPr txBox="1"/>
            <p:nvPr>
              <p:custDataLst>
                <p:tags r:id="rId9"/>
              </p:custDataLst>
            </p:nvPr>
          </p:nvSpPr>
          <p:spPr>
            <a:xfrm>
              <a:off x="2700" y="1936"/>
              <a:ext cx="11143" cy="1016"/>
            </a:xfrm>
            <a:prstGeom prst="rect">
              <a:avLst/>
            </a:prstGeom>
            <a:noFill/>
            <a:ln w="9525">
              <a:noFill/>
            </a:ln>
          </p:spPr>
          <p:txBody>
            <a:bodyPr wrap="square">
              <a:spAutoFit/>
            </a:bodyPr>
            <a:lstStyle/>
            <a:p>
              <a:pPr indent="0" fontAlgn="auto">
                <a:lnSpc>
                  <a:spcPct val="150000"/>
                </a:lnSpc>
              </a:pPr>
              <a:r>
                <a:rPr lang="en-US" sz="2400">
                  <a:latin typeface="Times New Roman" panose="02020603050405020304" charset="0"/>
                  <a:ea typeface="微软雅黑" panose="020B0503020204020204" charset="-122"/>
                  <a:cs typeface="Times New Roman" panose="02020603050405020304" charset="0"/>
                </a:rPr>
                <a:t>N</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a:t>
              </a:r>
              <a:r>
                <a:rPr lang="zh-CN" sz="2400">
                  <a:latin typeface="Times New Roman" panose="02020603050405020304" charset="0"/>
                  <a:ea typeface="微软雅黑" panose="020B0503020204020204" charset="-122"/>
                  <a:cs typeface="Times New Roman" panose="02020603050405020304" charset="0"/>
                </a:rPr>
                <a:t>＋</a:t>
              </a:r>
              <a:r>
                <a:rPr lang="en-US" sz="2400">
                  <a:latin typeface="Times New Roman" panose="02020603050405020304" charset="0"/>
                  <a:ea typeface="微软雅黑" panose="020B0503020204020204" charset="-122"/>
                  <a:cs typeface="Times New Roman" panose="02020603050405020304" charset="0"/>
                </a:rPr>
                <a:t>3H</a:t>
              </a:r>
              <a:r>
                <a:rPr lang="en-US" sz="2400" baseline="-25000">
                  <a:latin typeface="Times New Roman" panose="02020603050405020304" charset="0"/>
                  <a:ea typeface="微软雅黑" panose="020B0503020204020204" charset="-122"/>
                  <a:cs typeface="Times New Roman" panose="02020603050405020304" charset="0"/>
                </a:rPr>
                <a:t>2</a:t>
              </a:r>
              <a:r>
                <a:rPr lang="en-US" sz="2400">
                  <a:latin typeface="Times New Roman" panose="02020603050405020304" charset="0"/>
                  <a:ea typeface="微软雅黑" panose="020B0503020204020204" charset="-122"/>
                  <a:cs typeface="Times New Roman" panose="02020603050405020304" charset="0"/>
                </a:rPr>
                <a:t>(g)           </a:t>
              </a:r>
              <a:r>
                <a:rPr lang="en-US" sz="2400">
                  <a:latin typeface="Times New Roman" panose="02020603050405020304" charset="0"/>
                  <a:ea typeface="微软雅黑" panose="020B0503020204020204" charset="-122"/>
                  <a:cs typeface="Times New Roman" panose="02020603050405020304" charset="0"/>
                  <a:sym typeface="+mn-ea"/>
                </a:rPr>
                <a:t>2NH</a:t>
              </a:r>
              <a:r>
                <a:rPr lang="en-US" sz="2400" baseline="-25000">
                  <a:latin typeface="Times New Roman" panose="02020603050405020304" charset="0"/>
                  <a:ea typeface="微软雅黑" panose="020B0503020204020204" charset="-122"/>
                  <a:cs typeface="Times New Roman" panose="02020603050405020304" charset="0"/>
                  <a:sym typeface="+mn-ea"/>
                </a:rPr>
                <a:t>3</a:t>
              </a:r>
              <a:r>
                <a:rPr lang="en-US" sz="2400">
                  <a:latin typeface="Times New Roman" panose="02020603050405020304" charset="0"/>
                  <a:ea typeface="微软雅黑" panose="020B0503020204020204" charset="-122"/>
                  <a:cs typeface="Times New Roman" panose="02020603050405020304" charset="0"/>
                  <a:sym typeface="+mn-ea"/>
                </a:rPr>
                <a:t>(g)   Δ</a:t>
              </a:r>
              <a:r>
                <a:rPr lang="en-US" sz="2400" i="1">
                  <a:latin typeface="Times New Roman" panose="02020603050405020304" charset="0"/>
                  <a:ea typeface="微软雅黑" panose="020B0503020204020204" charset="-122"/>
                  <a:cs typeface="Times New Roman" panose="02020603050405020304" charset="0"/>
                  <a:sym typeface="+mn-ea"/>
                </a:rPr>
                <a:t>H</a:t>
              </a:r>
              <a:r>
                <a:rPr lang="zh-CN" sz="2400">
                  <a:latin typeface="Times New Roman" panose="02020603050405020304" charset="0"/>
                  <a:ea typeface="微软雅黑" panose="020B0503020204020204" charset="-122"/>
                  <a:cs typeface="Times New Roman" panose="02020603050405020304" charset="0"/>
                  <a:sym typeface="+mn-ea"/>
                </a:rPr>
                <a:t>＝－</a:t>
              </a:r>
              <a:r>
                <a:rPr lang="en-US" sz="2400">
                  <a:latin typeface="Times New Roman" panose="02020603050405020304" charset="0"/>
                  <a:ea typeface="微软雅黑" panose="020B0503020204020204" charset="-122"/>
                  <a:cs typeface="Times New Roman" panose="02020603050405020304" charset="0"/>
                  <a:sym typeface="+mn-ea"/>
                </a:rPr>
                <a:t>92.4 kJ·mol</a:t>
              </a:r>
              <a:r>
                <a:rPr lang="zh-CN" sz="2400" baseline="30000">
                  <a:latin typeface="Times New Roman" panose="02020603050405020304" charset="0"/>
                  <a:ea typeface="微软雅黑" panose="020B0503020204020204" charset="-122"/>
                  <a:cs typeface="Times New Roman" panose="02020603050405020304" charset="0"/>
                  <a:sym typeface="+mn-ea"/>
                </a:rPr>
                <a:t>－</a:t>
              </a:r>
              <a:r>
                <a:rPr lang="en-US" sz="2400" baseline="30000">
                  <a:latin typeface="Times New Roman" panose="02020603050405020304" charset="0"/>
                  <a:ea typeface="微软雅黑" panose="020B0503020204020204" charset="-122"/>
                  <a:cs typeface="Times New Roman" panose="02020603050405020304" charset="0"/>
                  <a:sym typeface="+mn-ea"/>
                </a:rPr>
                <a:t>1</a:t>
              </a:r>
              <a:endParaRPr lang="zh-CN" altLang="en-US" sz="2400">
                <a:latin typeface="Times New Roman" panose="02020603050405020304" charset="0"/>
                <a:ea typeface="微软雅黑" panose="020B0503020204020204" charset="-122"/>
                <a:cs typeface="Times New Roman" panose="02020603050405020304" charset="0"/>
              </a:endParaRPr>
            </a:p>
          </p:txBody>
        </p:sp>
        <p:pic>
          <p:nvPicPr>
            <p:cNvPr id="30" name="图片 29"/>
            <p:cNvPicPr/>
            <p:nvPr>
              <p:custDataLst>
                <p:tags r:id="rId10"/>
              </p:custDataLst>
            </p:nvPr>
          </p:nvPicPr>
          <p:blipFill>
            <a:blip r:embed="rId11">
              <a:lum bright="-6000"/>
            </a:blip>
            <a:stretch>
              <a:fillRect/>
            </a:stretch>
          </p:blipFill>
          <p:spPr>
            <a:xfrm>
              <a:off x="5862" y="2454"/>
              <a:ext cx="898" cy="281"/>
            </a:xfrm>
            <a:prstGeom prst="rect">
              <a:avLst/>
            </a:prstGeom>
            <a:noFill/>
            <a:ln w="9525">
              <a:noFill/>
            </a:ln>
          </p:spPr>
        </p:pic>
      </p:grpSp>
    </p:spTree>
    <p:custDataLst>
      <p:tags r:id="rId12"/>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checkerboard(across)">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strVal val="#ppt_w*0.70"/>
                                          </p:val>
                                        </p:tav>
                                        <p:tav tm="100000">
                                          <p:val>
                                            <p:strVal val="#ppt_w"/>
                                          </p:val>
                                        </p:tav>
                                      </p:tavLst>
                                    </p:anim>
                                    <p:anim calcmode="lin" valueType="num">
                                      <p:cBhvr>
                                        <p:cTn id="21" dur="1000" fill="hold"/>
                                        <p:tgtEl>
                                          <p:spTgt spid="5"/>
                                        </p:tgtEl>
                                        <p:attrNameLst>
                                          <p:attrName>ppt_h</p:attrName>
                                        </p:attrNameLst>
                                      </p:cBhvr>
                                      <p:tavLst>
                                        <p:tav tm="0">
                                          <p:val>
                                            <p:strVal val="#ppt_h"/>
                                          </p:val>
                                        </p:tav>
                                        <p:tav tm="100000">
                                          <p:val>
                                            <p:strVal val="#ppt_h"/>
                                          </p:val>
                                        </p:tav>
                                      </p:tavLst>
                                    </p:anim>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1000" fill="hold"/>
                                        <p:tgtEl>
                                          <p:spTgt spid="6"/>
                                        </p:tgtEl>
                                        <p:attrNameLst>
                                          <p:attrName>ppt_w</p:attrName>
                                        </p:attrNameLst>
                                      </p:cBhvr>
                                      <p:tavLst>
                                        <p:tav tm="0">
                                          <p:val>
                                            <p:strVal val="#ppt_w*0.70"/>
                                          </p:val>
                                        </p:tav>
                                        <p:tav tm="100000">
                                          <p:val>
                                            <p:strVal val="#ppt_w"/>
                                          </p:val>
                                        </p:tav>
                                      </p:tavLst>
                                    </p:anim>
                                    <p:anim calcmode="lin" valueType="num">
                                      <p:cBhvr>
                                        <p:cTn id="28" dur="1000" fill="hold"/>
                                        <p:tgtEl>
                                          <p:spTgt spid="6"/>
                                        </p:tgtEl>
                                        <p:attrNameLst>
                                          <p:attrName>ppt_h</p:attrName>
                                        </p:attrNameLst>
                                      </p:cBhvr>
                                      <p:tavLst>
                                        <p:tav tm="0">
                                          <p:val>
                                            <p:strVal val="#ppt_h"/>
                                          </p:val>
                                        </p:tav>
                                        <p:tav tm="100000">
                                          <p:val>
                                            <p:strVal val="#ppt_h"/>
                                          </p:val>
                                        </p:tav>
                                      </p:tavLst>
                                    </p:anim>
                                    <p:animEffect transition="in" filter="fade">
                                      <p:cBhvr>
                                        <p:cTn id="29" dur="10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p:cTn id="34" dur="1000" fill="hold"/>
                                        <p:tgtEl>
                                          <p:spTgt spid="7"/>
                                        </p:tgtEl>
                                        <p:attrNameLst>
                                          <p:attrName>ppt_w</p:attrName>
                                        </p:attrNameLst>
                                      </p:cBhvr>
                                      <p:tavLst>
                                        <p:tav tm="0">
                                          <p:val>
                                            <p:strVal val="#ppt_w*0.70"/>
                                          </p:val>
                                        </p:tav>
                                        <p:tav tm="100000">
                                          <p:val>
                                            <p:strVal val="#ppt_w"/>
                                          </p:val>
                                        </p:tav>
                                      </p:tavLst>
                                    </p:anim>
                                    <p:anim calcmode="lin" valueType="num">
                                      <p:cBhvr>
                                        <p:cTn id="35" dur="1000" fill="hold"/>
                                        <p:tgtEl>
                                          <p:spTgt spid="7"/>
                                        </p:tgtEl>
                                        <p:attrNameLst>
                                          <p:attrName>ppt_h</p:attrName>
                                        </p:attrNameLst>
                                      </p:cBhvr>
                                      <p:tavLst>
                                        <p:tav tm="0">
                                          <p:val>
                                            <p:strVal val="#ppt_h"/>
                                          </p:val>
                                        </p:tav>
                                        <p:tav tm="100000">
                                          <p:val>
                                            <p:strVal val="#ppt_h"/>
                                          </p:val>
                                        </p:tav>
                                      </p:tavLst>
                                    </p:anim>
                                    <p:animEffect transition="in" filter="fade">
                                      <p:cBhvr>
                                        <p:cTn id="36" dur="10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1000" fill="hold"/>
                                        <p:tgtEl>
                                          <p:spTgt spid="8"/>
                                        </p:tgtEl>
                                        <p:attrNameLst>
                                          <p:attrName>ppt_w</p:attrName>
                                        </p:attrNameLst>
                                      </p:cBhvr>
                                      <p:tavLst>
                                        <p:tav tm="0">
                                          <p:val>
                                            <p:strVal val="#ppt_w*0.70"/>
                                          </p:val>
                                        </p:tav>
                                        <p:tav tm="100000">
                                          <p:val>
                                            <p:strVal val="#ppt_w"/>
                                          </p:val>
                                        </p:tav>
                                      </p:tavLst>
                                    </p:anim>
                                    <p:anim calcmode="lin" valueType="num">
                                      <p:cBhvr>
                                        <p:cTn id="42" dur="1000" fill="hold"/>
                                        <p:tgtEl>
                                          <p:spTgt spid="8"/>
                                        </p:tgtEl>
                                        <p:attrNameLst>
                                          <p:attrName>ppt_h</p:attrName>
                                        </p:attrNameLst>
                                      </p:cBhvr>
                                      <p:tavLst>
                                        <p:tav tm="0">
                                          <p:val>
                                            <p:strVal val="#ppt_h"/>
                                          </p:val>
                                        </p:tav>
                                        <p:tav tm="100000">
                                          <p:val>
                                            <p:strVal val="#ppt_h"/>
                                          </p:val>
                                        </p:tav>
                                      </p:tavLst>
                                    </p:anim>
                                    <p:animEffect transition="in" filter="fade">
                                      <p:cBhvr>
                                        <p:cTn id="4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28930" y="1236345"/>
            <a:ext cx="3115945" cy="460375"/>
          </a:xfrm>
          <a:prstGeom prst="rect">
            <a:avLst/>
          </a:prstGeom>
          <a:noFill/>
        </p:spPr>
        <p:txBody>
          <a:bodyPr wrap="square" rtlCol="0" anchor="t">
            <a:spAutoFit/>
          </a:bodyPr>
          <a:lstStyle/>
          <a:p>
            <a:pPr indent="0" algn="l" fontAlgn="auto">
              <a:lnSpc>
                <a:spcPct val="100000"/>
              </a:lnSpc>
            </a:pPr>
            <a:r>
              <a:rPr lang="en-US" altLang="zh-CN" sz="2400" b="1">
                <a:latin typeface="微软雅黑" panose="020B0503020204020204" charset="-122"/>
                <a:ea typeface="微软雅黑" panose="020B0503020204020204" charset="-122"/>
                <a:cs typeface="微软雅黑" panose="020B0503020204020204" charset="-122"/>
                <a:sym typeface="+mn-ea"/>
              </a:rPr>
              <a:t>5.</a:t>
            </a:r>
            <a:r>
              <a:rPr lang="zh-CN" altLang="en-US" sz="2400" b="1">
                <a:latin typeface="微软雅黑" panose="020B0503020204020204" charset="-122"/>
                <a:ea typeface="微软雅黑" panose="020B0503020204020204" charset="-122"/>
                <a:cs typeface="微软雅黑" panose="020B0503020204020204" charset="-122"/>
                <a:sym typeface="+mn-ea"/>
              </a:rPr>
              <a:t>合成氨的工业流程</a:t>
            </a:r>
            <a:endParaRPr lang="zh-CN" altLang="en-US" sz="2400" b="1" smtClean="0">
              <a:latin typeface="Times New Roman" panose="02020603050405020304" charset="0"/>
              <a:ea typeface="微软雅黑" panose="020B0503020204020204" charset="-122"/>
              <a:cs typeface="Times New Roman" panose="02020603050405020304" charset="0"/>
              <a:sym typeface="+mn-ea"/>
            </a:endParaRPr>
          </a:p>
        </p:txBody>
      </p:sp>
      <p:sp>
        <p:nvSpPr>
          <p:cNvPr id="13" name="矩形: 圆角 10"/>
          <p:cNvSpPr/>
          <p:nvPr>
            <p:custDataLst>
              <p:tags r:id="rId2"/>
            </p:custDataLst>
          </p:nvPr>
        </p:nvSpPr>
        <p:spPr>
          <a:xfrm>
            <a:off x="328930" y="747395"/>
            <a:ext cx="2105660" cy="488950"/>
          </a:xfrm>
          <a:prstGeom prst="roundRect">
            <a:avLst>
              <a:gd name="adj" fmla="val 50000"/>
            </a:avLst>
          </a:prstGeom>
          <a:gradFill>
            <a:gsLst>
              <a:gs pos="68000">
                <a:srgbClr val="0070C0"/>
              </a:gs>
              <a:gs pos="0">
                <a:schemeClr val="accent1">
                  <a:lumMod val="40000"/>
                  <a:lumOff val="6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t>知识总结</a:t>
            </a:r>
            <a:endParaRPr lang="zh-CN" altLang="en-US" sz="2800"/>
          </a:p>
        </p:txBody>
      </p:sp>
      <p:sp>
        <p:nvSpPr>
          <p:cNvPr id="9" name="文本框 8"/>
          <p:cNvSpPr txBox="1"/>
          <p:nvPr>
            <p:custDataLst>
              <p:tags r:id="rId3"/>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custDataLst>
              <p:tags r:id="rId4"/>
            </p:custDataLst>
          </p:nvPr>
        </p:nvPicPr>
        <p:blipFill>
          <a:blip r:embed="rId5"/>
          <a:srcRect l="4854" t="3559" r="4745" b="13426"/>
          <a:stretch>
            <a:fillRect/>
          </a:stretch>
        </p:blipFill>
        <p:spPr>
          <a:xfrm>
            <a:off x="3554095" y="1030605"/>
            <a:ext cx="6715125" cy="3265170"/>
          </a:xfrm>
          <a:prstGeom prst="rect">
            <a:avLst/>
          </a:prstGeom>
        </p:spPr>
      </p:pic>
      <p:grpSp>
        <p:nvGrpSpPr>
          <p:cNvPr id="7" name="组合 6"/>
          <p:cNvGrpSpPr/>
          <p:nvPr>
            <p:custDataLst>
              <p:tags r:id="rId6"/>
            </p:custDataLst>
          </p:nvPr>
        </p:nvGrpSpPr>
        <p:grpSpPr>
          <a:xfrm>
            <a:off x="393700" y="1808480"/>
            <a:ext cx="11098530" cy="3620770"/>
            <a:chOff x="620" y="2848"/>
            <a:chExt cx="17478" cy="5702"/>
          </a:xfrm>
        </p:grpSpPr>
        <p:sp>
          <p:nvSpPr>
            <p:cNvPr id="2" name="文本框 1"/>
            <p:cNvSpPr txBox="1"/>
            <p:nvPr>
              <p:custDataLst>
                <p:tags r:id="rId7"/>
              </p:custDataLst>
            </p:nvPr>
          </p:nvSpPr>
          <p:spPr>
            <a:xfrm>
              <a:off x="620" y="7244"/>
              <a:ext cx="17479" cy="1307"/>
            </a:xfrm>
            <a:prstGeom prst="rect">
              <a:avLst/>
            </a:prstGeom>
            <a:ln>
              <a:solidFill>
                <a:schemeClr val="accent1"/>
              </a:solidFill>
            </a:ln>
          </p:spPr>
          <p:txBody>
            <a:bodyPr wrap="square">
              <a:spAutoFit/>
            </a:bodyPr>
            <a:lstStyle/>
            <a:p>
              <a:pPr defTabSz="266700"/>
              <a:r>
                <a:rPr lang="en-US" altLang="zh-CN" sz="2400">
                  <a:latin typeface="微软雅黑" panose="020B0503020204020204" charset="-122"/>
                  <a:ea typeface="微软雅黑" panose="020B0503020204020204" charset="-122"/>
                  <a:cs typeface="微软雅黑" panose="020B0503020204020204" charset="-122"/>
                </a:rPr>
                <a:t>①</a:t>
              </a:r>
              <a:r>
                <a:rPr lang="zh-CN" altLang="en-US" sz="2400">
                  <a:latin typeface="微软雅黑" panose="020B0503020204020204" charset="-122"/>
                  <a:ea typeface="微软雅黑" panose="020B0503020204020204" charset="-122"/>
                  <a:cs typeface="微软雅黑" panose="020B0503020204020204" charset="-122"/>
                </a:rPr>
                <a:t>原料气干燥、净化：除去原料气中的水蒸气及其他气体杂质，防止与催化剂接触时，导致催化剂“中毒”而降低或丧失催化活性。</a:t>
              </a:r>
              <a:endParaRPr lang="en-US" altLang="zh-CN" sz="2400">
                <a:latin typeface="微软雅黑" panose="020B0503020204020204" charset="-122"/>
                <a:ea typeface="微软雅黑" panose="020B0503020204020204" charset="-122"/>
                <a:cs typeface="微软雅黑" panose="020B0503020204020204" charset="-122"/>
              </a:endParaRPr>
            </a:p>
          </p:txBody>
        </p:sp>
        <p:cxnSp>
          <p:nvCxnSpPr>
            <p:cNvPr id="5" name="曲线连接符 4"/>
            <p:cNvCxnSpPr/>
            <p:nvPr>
              <p:custDataLst>
                <p:tags r:id="rId8"/>
              </p:custDataLst>
            </p:nvPr>
          </p:nvCxnSpPr>
          <p:spPr>
            <a:xfrm rot="5400000">
              <a:off x="3173" y="3148"/>
              <a:ext cx="4433" cy="3833"/>
            </a:xfrm>
            <a:prstGeom prst="curvedConnector3">
              <a:avLst>
                <a:gd name="adj1" fmla="val 50011"/>
              </a:avLst>
            </a:prstGeom>
            <a:ln>
              <a:tailEnd type="arrow"/>
            </a:ln>
          </p:spPr>
          <p:style>
            <a:lnRef idx="2">
              <a:schemeClr val="accent1"/>
            </a:lnRef>
            <a:fillRef idx="0">
              <a:srgbClr val="FFFFFF"/>
            </a:fillRef>
            <a:effectRef idx="0">
              <a:srgbClr val="FFFFFF"/>
            </a:effectRef>
            <a:fontRef idx="minor">
              <a:schemeClr val="tx1"/>
            </a:fontRef>
          </p:style>
        </p:cxnSp>
      </p:grpSp>
      <p:grpSp>
        <p:nvGrpSpPr>
          <p:cNvPr id="15" name="组合 14"/>
          <p:cNvGrpSpPr/>
          <p:nvPr>
            <p:custDataLst>
              <p:tags r:id="rId9"/>
            </p:custDataLst>
          </p:nvPr>
        </p:nvGrpSpPr>
        <p:grpSpPr>
          <a:xfrm>
            <a:off x="393700" y="1807845"/>
            <a:ext cx="6293485" cy="4298950"/>
            <a:chOff x="620" y="2847"/>
            <a:chExt cx="9911" cy="6770"/>
          </a:xfrm>
        </p:grpSpPr>
        <p:sp>
          <p:nvSpPr>
            <p:cNvPr id="12" name="文本框 11"/>
            <p:cNvSpPr txBox="1"/>
            <p:nvPr>
              <p:custDataLst>
                <p:tags r:id="rId10"/>
              </p:custDataLst>
            </p:nvPr>
          </p:nvSpPr>
          <p:spPr>
            <a:xfrm>
              <a:off x="620" y="8893"/>
              <a:ext cx="6079" cy="725"/>
            </a:xfrm>
            <a:prstGeom prst="rect">
              <a:avLst/>
            </a:prstGeom>
            <a:noFill/>
            <a:ln>
              <a:solidFill>
                <a:schemeClr val="accent1"/>
              </a:solidFill>
            </a:ln>
          </p:spPr>
          <p:txBody>
            <a:bodyPr wrap="square" rtlCol="0" anchor="t">
              <a:spAutoFit/>
            </a:bodyPr>
            <a:lstStyle/>
            <a:p>
              <a:r>
                <a:rPr lang="en-US" altLang="zh-CN" sz="2400">
                  <a:latin typeface="Times New Roman" panose="02020603050405020304" charset="0"/>
                  <a:ea typeface="微软雅黑" panose="020B0503020204020204" charset="-122"/>
                  <a:sym typeface="+mn-ea"/>
                </a:rPr>
                <a:t>②</a:t>
              </a:r>
              <a:r>
                <a:rPr lang="zh-CN" altLang="en-US" sz="2400">
                  <a:latin typeface="Times New Roman" panose="02020603050405020304" charset="0"/>
                  <a:ea typeface="微软雅黑" panose="020B0503020204020204" charset="-122"/>
                  <a:sym typeface="+mn-ea"/>
                </a:rPr>
                <a:t>压缩机加压：增大压强</a:t>
              </a:r>
              <a:r>
                <a:rPr lang="zh-CN" altLang="en-US" sz="2400">
                  <a:latin typeface="微软雅黑" panose="020B0503020204020204" charset="-122"/>
                  <a:ea typeface="微软雅黑" panose="020B0503020204020204" charset="-122"/>
                  <a:cs typeface="微软雅黑" panose="020B0503020204020204" charset="-122"/>
                  <a:sym typeface="+mn-ea"/>
                </a:rPr>
                <a:t>。</a:t>
              </a:r>
              <a:endParaRPr lang="en-US" altLang="zh-CN" sz="2400">
                <a:latin typeface="Times New Roman" panose="02020603050405020304" charset="0"/>
                <a:ea typeface="微软雅黑" panose="020B0503020204020204" charset="-122"/>
                <a:sym typeface="+mn-ea"/>
              </a:endParaRPr>
            </a:p>
          </p:txBody>
        </p:sp>
        <p:cxnSp>
          <p:nvCxnSpPr>
            <p:cNvPr id="14" name="曲线连接符 13"/>
            <p:cNvCxnSpPr>
              <a:endCxn id="12" idx="3"/>
            </p:cNvCxnSpPr>
            <p:nvPr>
              <p:custDataLst>
                <p:tags r:id="rId11"/>
              </p:custDataLst>
            </p:nvPr>
          </p:nvCxnSpPr>
          <p:spPr>
            <a:xfrm rot="5400000">
              <a:off x="5411" y="4135"/>
              <a:ext cx="6408" cy="3833"/>
            </a:xfrm>
            <a:prstGeom prst="curvedConnector2">
              <a:avLst/>
            </a:prstGeom>
            <a:ln>
              <a:tailEnd type="arrow"/>
            </a:ln>
          </p:spPr>
          <p:style>
            <a:lnRef idx="2">
              <a:schemeClr val="accent1"/>
            </a:lnRef>
            <a:fillRef idx="0">
              <a:srgbClr val="FFFFFF"/>
            </a:fillRef>
            <a:effectRef idx="0">
              <a:srgbClr val="FFFFFF"/>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strVal val="#ppt_w*0.70"/>
                                          </p:val>
                                        </p:tav>
                                        <p:tav tm="100000">
                                          <p:val>
                                            <p:strVal val="#ppt_w"/>
                                          </p:val>
                                        </p:tav>
                                      </p:tavLst>
                                    </p:anim>
                                    <p:anim calcmode="lin" valueType="num">
                                      <p:cBhvr>
                                        <p:cTn id="12" dur="1000" fill="hold"/>
                                        <p:tgtEl>
                                          <p:spTgt spid="3"/>
                                        </p:tgtEl>
                                        <p:attrNameLst>
                                          <p:attrName>ppt_h</p:attrName>
                                        </p:attrNameLst>
                                      </p:cBhvr>
                                      <p:tavLst>
                                        <p:tav tm="0">
                                          <p:val>
                                            <p:strVal val="#ppt_h"/>
                                          </p:val>
                                        </p:tav>
                                        <p:tav tm="100000">
                                          <p:val>
                                            <p:strVal val="#ppt_h"/>
                                          </p:val>
                                        </p:tav>
                                      </p:tavLst>
                                    </p:anim>
                                    <p:animEffect transition="in" filter="fade">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0"/>
          <p:cNvSpPr/>
          <p:nvPr>
            <p:custDataLst>
              <p:tags r:id="rId1"/>
            </p:custDataLst>
          </p:nvPr>
        </p:nvSpPr>
        <p:spPr>
          <a:xfrm>
            <a:off x="328930" y="747395"/>
            <a:ext cx="2105660" cy="488950"/>
          </a:xfrm>
          <a:prstGeom prst="roundRect">
            <a:avLst>
              <a:gd name="adj" fmla="val 50000"/>
            </a:avLst>
          </a:prstGeom>
          <a:gradFill>
            <a:gsLst>
              <a:gs pos="68000">
                <a:srgbClr val="0070C0"/>
              </a:gs>
              <a:gs pos="0">
                <a:schemeClr val="accent1">
                  <a:lumMod val="40000"/>
                  <a:lumOff val="6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t>知识总结</a:t>
            </a:r>
            <a:endParaRPr lang="zh-CN" altLang="en-US" sz="2800"/>
          </a:p>
        </p:txBody>
      </p:sp>
      <p:sp>
        <p:nvSpPr>
          <p:cNvPr id="2" name="文本框 1"/>
          <p:cNvSpPr txBox="1"/>
          <p:nvPr>
            <p:custDataLst>
              <p:tags r:id="rId2"/>
            </p:custDataLst>
          </p:nvPr>
        </p:nvSpPr>
        <p:spPr>
          <a:xfrm>
            <a:off x="328930" y="1294130"/>
            <a:ext cx="4371975" cy="460375"/>
          </a:xfrm>
          <a:prstGeom prst="rect">
            <a:avLst/>
          </a:prstGeom>
          <a:noFill/>
        </p:spPr>
        <p:txBody>
          <a:bodyPr wrap="square" rtlCol="0" anchor="t">
            <a:spAutoFit/>
          </a:bodyPr>
          <a:lstStyle/>
          <a:p>
            <a:r>
              <a:rPr lang="en-US" altLang="zh-CN" sz="2400" b="1">
                <a:latin typeface="微软雅黑" panose="020B0503020204020204" charset="-122"/>
                <a:ea typeface="微软雅黑" panose="020B0503020204020204" charset="-122"/>
                <a:cs typeface="微软雅黑" panose="020B0503020204020204" charset="-122"/>
                <a:sym typeface="+mn-ea"/>
              </a:rPr>
              <a:t>5.</a:t>
            </a:r>
            <a:r>
              <a:rPr lang="zh-CN" altLang="en-US" sz="2400" b="1">
                <a:latin typeface="微软雅黑" panose="020B0503020204020204" charset="-122"/>
                <a:ea typeface="微软雅黑" panose="020B0503020204020204" charset="-122"/>
                <a:cs typeface="微软雅黑" panose="020B0503020204020204" charset="-122"/>
                <a:sym typeface="+mn-ea"/>
              </a:rPr>
              <a:t>合成氨的工业流程</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3"/>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pic>
        <p:nvPicPr>
          <p:cNvPr id="3" name="图片 2"/>
          <p:cNvPicPr>
            <a:picLocks noChangeAspect="1"/>
          </p:cNvPicPr>
          <p:nvPr>
            <p:custDataLst>
              <p:tags r:id="rId4"/>
            </p:custDataLst>
          </p:nvPr>
        </p:nvPicPr>
        <p:blipFill>
          <a:blip r:embed="rId5"/>
          <a:srcRect l="4854" t="3559" r="4745" b="13426"/>
          <a:stretch>
            <a:fillRect/>
          </a:stretch>
        </p:blipFill>
        <p:spPr>
          <a:xfrm>
            <a:off x="3554095" y="1030605"/>
            <a:ext cx="6715125" cy="3265170"/>
          </a:xfrm>
          <a:prstGeom prst="rect">
            <a:avLst/>
          </a:prstGeom>
        </p:spPr>
      </p:pic>
      <p:sp>
        <p:nvSpPr>
          <p:cNvPr id="14" name="文本框 13"/>
          <p:cNvSpPr txBox="1"/>
          <p:nvPr>
            <p:custDataLst>
              <p:tags r:id="rId6"/>
            </p:custDataLst>
          </p:nvPr>
        </p:nvSpPr>
        <p:spPr>
          <a:xfrm>
            <a:off x="722630" y="4483735"/>
            <a:ext cx="8865870" cy="829945"/>
          </a:xfrm>
          <a:prstGeom prst="rect">
            <a:avLst/>
          </a:prstGeom>
          <a:noFill/>
          <a:ln>
            <a:solidFill>
              <a:schemeClr val="accent1"/>
            </a:solidFill>
          </a:ln>
        </p:spPr>
        <p:txBody>
          <a:bodyPr wrap="square" rtlCol="0" anchor="t">
            <a:spAutoFit/>
          </a:bodyPr>
          <a:lstStyle/>
          <a:p>
            <a:r>
              <a:rPr lang="en-US" altLang="zh-CN" sz="2400">
                <a:latin typeface="Times New Roman" panose="02020603050405020304" charset="0"/>
                <a:ea typeface="微软雅黑" panose="020B0503020204020204" charset="-122"/>
                <a:sym typeface="+mn-ea"/>
              </a:rPr>
              <a:t>③</a:t>
            </a:r>
            <a:r>
              <a:rPr lang="zh-CN" altLang="en-US" sz="2400">
                <a:latin typeface="Times New Roman" panose="02020603050405020304" charset="0"/>
                <a:ea typeface="微软雅黑" panose="020B0503020204020204" charset="-122"/>
                <a:sym typeface="+mn-ea"/>
              </a:rPr>
              <a:t>热交换：合成氨反应为放热反应，反应体系温度逐渐升高，为原料气反应提供热量，故热交换可充分利用能源，提高经济效益。</a:t>
            </a:r>
            <a:endParaRPr lang="zh-CN" altLang="en-US" sz="2400">
              <a:latin typeface="Times New Roman" panose="02020603050405020304" charset="0"/>
              <a:ea typeface="微软雅黑" panose="020B0503020204020204" charset="-122"/>
              <a:sym typeface="+mn-ea"/>
            </a:endParaRPr>
          </a:p>
        </p:txBody>
      </p:sp>
      <p:sp>
        <p:nvSpPr>
          <p:cNvPr id="16" name="文本框 15"/>
          <p:cNvSpPr txBox="1"/>
          <p:nvPr>
            <p:custDataLst>
              <p:tags r:id="rId7"/>
            </p:custDataLst>
          </p:nvPr>
        </p:nvSpPr>
        <p:spPr>
          <a:xfrm>
            <a:off x="722630" y="5501640"/>
            <a:ext cx="10719435" cy="829945"/>
          </a:xfrm>
          <a:prstGeom prst="rect">
            <a:avLst/>
          </a:prstGeom>
          <a:ln>
            <a:solidFill>
              <a:schemeClr val="accent1"/>
            </a:solidFill>
          </a:ln>
        </p:spPr>
        <p:txBody>
          <a:bodyPr wrap="square">
            <a:spAutoFit/>
          </a:bodyPr>
          <a:lstStyle/>
          <a:p>
            <a:pPr defTabSz="266700"/>
            <a:r>
              <a:rPr lang="en-US" altLang="zh-CN" sz="2400">
                <a:latin typeface="Times New Roman" panose="02020603050405020304" charset="0"/>
                <a:ea typeface="微软雅黑" panose="020B0503020204020204" charset="-122"/>
                <a:cs typeface="Times New Roman" panose="02020603050405020304" charset="0"/>
              </a:rPr>
              <a:t>④</a:t>
            </a:r>
            <a:r>
              <a:rPr lang="zh-CN" altLang="en-US" sz="2400">
                <a:latin typeface="Times New Roman" panose="02020603050405020304" charset="0"/>
                <a:ea typeface="微软雅黑" panose="020B0503020204020204" charset="-122"/>
                <a:cs typeface="Times New Roman" panose="02020603050405020304" charset="0"/>
              </a:rPr>
              <a:t>冷却：生成物</a:t>
            </a:r>
            <a:r>
              <a:rPr lang="en-US" altLang="zh-CN" sz="2400">
                <a:latin typeface="Times New Roman" panose="02020603050405020304" charset="0"/>
                <a:ea typeface="微软雅黑" panose="020B0503020204020204" charset="-122"/>
                <a:cs typeface="Times New Roman" panose="02020603050405020304" charset="0"/>
              </a:rPr>
              <a:t>NH</a:t>
            </a:r>
            <a:r>
              <a:rPr lang="en-US" altLang="zh-CN" sz="2400" baseline="-25000">
                <a:latin typeface="Times New Roman" panose="02020603050405020304" charset="0"/>
                <a:ea typeface="微软雅黑" panose="020B0503020204020204" charset="-122"/>
                <a:cs typeface="Times New Roman" panose="02020603050405020304" charset="0"/>
              </a:rPr>
              <a:t>3</a:t>
            </a:r>
            <a:r>
              <a:rPr lang="zh-CN" altLang="en-US" sz="2400">
                <a:latin typeface="Times New Roman" panose="02020603050405020304" charset="0"/>
                <a:ea typeface="微软雅黑" panose="020B0503020204020204" charset="-122"/>
                <a:cs typeface="Times New Roman" panose="02020603050405020304" charset="0"/>
              </a:rPr>
              <a:t>的液化需较低温度采取迅速冷却的方法，可使气态氨变成液氨后及时从平衡混合物中分离出来，以促使平衡向生成</a:t>
            </a:r>
            <a:r>
              <a:rPr lang="en-US" altLang="zh-CN" sz="2400">
                <a:latin typeface="Times New Roman" panose="02020603050405020304" charset="0"/>
                <a:ea typeface="微软雅黑" panose="020B0503020204020204" charset="-122"/>
                <a:cs typeface="Times New Roman" panose="02020603050405020304" charset="0"/>
              </a:rPr>
              <a:t>NH</a:t>
            </a:r>
            <a:r>
              <a:rPr lang="en-US" altLang="zh-CN" sz="2400" baseline="-25000">
                <a:latin typeface="Times New Roman" panose="02020603050405020304" charset="0"/>
                <a:ea typeface="微软雅黑" panose="020B0503020204020204" charset="-122"/>
                <a:cs typeface="Times New Roman" panose="02020603050405020304" charset="0"/>
              </a:rPr>
              <a:t>3</a:t>
            </a:r>
            <a:r>
              <a:rPr lang="zh-CN" altLang="en-US" sz="2400">
                <a:latin typeface="Times New Roman" panose="02020603050405020304" charset="0"/>
                <a:ea typeface="微软雅黑" panose="020B0503020204020204" charset="-122"/>
                <a:cs typeface="Times New Roman" panose="02020603050405020304" charset="0"/>
              </a:rPr>
              <a:t>的方向移动。</a:t>
            </a:r>
            <a:endParaRPr lang="zh-CN" altLang="en-US" sz="2400">
              <a:latin typeface="Times New Roman" panose="02020603050405020304" charset="0"/>
              <a:ea typeface="微软雅黑" panose="020B0503020204020204" charset="-122"/>
              <a:cs typeface="Times New Roman" panose="02020603050405020304" charset="0"/>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strVal val="#ppt_w*0.70"/>
                                          </p:val>
                                        </p:tav>
                                        <p:tav tm="100000">
                                          <p:val>
                                            <p:strVal val="#ppt_w"/>
                                          </p:val>
                                        </p:tav>
                                      </p:tavLst>
                                    </p:anim>
                                    <p:anim calcmode="lin" valueType="num">
                                      <p:cBhvr>
                                        <p:cTn id="12" dur="1000" fill="hold"/>
                                        <p:tgtEl>
                                          <p:spTgt spid="3"/>
                                        </p:tgtEl>
                                        <p:attrNameLst>
                                          <p:attrName>ppt_h</p:attrName>
                                        </p:attrNameLst>
                                      </p:cBhvr>
                                      <p:tavLst>
                                        <p:tav tm="0">
                                          <p:val>
                                            <p:strVal val="#ppt_h"/>
                                          </p:val>
                                        </p:tav>
                                        <p:tav tm="100000">
                                          <p:val>
                                            <p:strVal val="#ppt_h"/>
                                          </p:val>
                                        </p:tav>
                                      </p:tavLst>
                                    </p:anim>
                                    <p:animEffect transition="in" filter="fade">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1000" fill="hold"/>
                                        <p:tgtEl>
                                          <p:spTgt spid="14"/>
                                        </p:tgtEl>
                                        <p:attrNameLst>
                                          <p:attrName>ppt_w</p:attrName>
                                        </p:attrNameLst>
                                      </p:cBhvr>
                                      <p:tavLst>
                                        <p:tav tm="0">
                                          <p:val>
                                            <p:strVal val="#ppt_w*0.70"/>
                                          </p:val>
                                        </p:tav>
                                        <p:tav tm="100000">
                                          <p:val>
                                            <p:strVal val="#ppt_w"/>
                                          </p:val>
                                        </p:tav>
                                      </p:tavLst>
                                    </p:anim>
                                    <p:anim calcmode="lin" valueType="num">
                                      <p:cBhvr>
                                        <p:cTn id="19" dur="1000" fill="hold"/>
                                        <p:tgtEl>
                                          <p:spTgt spid="14"/>
                                        </p:tgtEl>
                                        <p:attrNameLst>
                                          <p:attrName>ppt_h</p:attrName>
                                        </p:attrNameLst>
                                      </p:cBhvr>
                                      <p:tavLst>
                                        <p:tav tm="0">
                                          <p:val>
                                            <p:strVal val="#ppt_h"/>
                                          </p:val>
                                        </p:tav>
                                        <p:tav tm="100000">
                                          <p:val>
                                            <p:strVal val="#ppt_h"/>
                                          </p:val>
                                        </p:tav>
                                      </p:tavLst>
                                    </p:anim>
                                    <p:animEffect transition="in" filter="fade">
                                      <p:cBhvr>
                                        <p:cTn id="20" dur="10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1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custDataLst>
              <p:tags r:id="rId1"/>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sp>
        <p:nvSpPr>
          <p:cNvPr id="19" name="文本框 18"/>
          <p:cNvSpPr txBox="1"/>
          <p:nvPr>
            <p:custDataLst>
              <p:tags r:id="rId2"/>
            </p:custDataLst>
          </p:nvPr>
        </p:nvSpPr>
        <p:spPr>
          <a:xfrm>
            <a:off x="591820" y="4548505"/>
            <a:ext cx="10583545" cy="1198880"/>
          </a:xfrm>
          <a:prstGeom prst="rect">
            <a:avLst/>
          </a:prstGeom>
          <a:noFill/>
          <a:ln>
            <a:solidFill>
              <a:schemeClr val="accent1"/>
            </a:solidFill>
          </a:ln>
        </p:spPr>
        <p:txBody>
          <a:bodyPr wrap="square" rtlCol="0" anchor="t">
            <a:spAutoFit/>
          </a:bodyPr>
          <a:lstStyle/>
          <a:p>
            <a:r>
              <a:rPr lang="en-US" altLang="zh-CN" sz="2400">
                <a:latin typeface="Times New Roman" panose="02020603050405020304" charset="0"/>
                <a:ea typeface="微软雅黑" panose="020B0503020204020204" charset="-122"/>
                <a:cs typeface="Times New Roman" panose="02020603050405020304" charset="0"/>
                <a:sym typeface="+mn-ea"/>
              </a:rPr>
              <a:t>⑤</a:t>
            </a:r>
            <a:r>
              <a:rPr lang="zh-CN" altLang="en-US" sz="2400">
                <a:latin typeface="Times New Roman" panose="02020603050405020304" charset="0"/>
                <a:ea typeface="微软雅黑" panose="020B0503020204020204" charset="-122"/>
                <a:cs typeface="Times New Roman" panose="02020603050405020304" charset="0"/>
                <a:sym typeface="+mn-ea"/>
              </a:rPr>
              <a:t>循环使用原料气：因合成氨反应为可逆反应，平衡混合物中含有原料气，将</a:t>
            </a:r>
            <a:r>
              <a:rPr lang="en-US" altLang="zh-CN" sz="2400">
                <a:latin typeface="Times New Roman" panose="02020603050405020304" charset="0"/>
                <a:ea typeface="微软雅黑" panose="020B0503020204020204" charset="-122"/>
                <a:cs typeface="Times New Roman" panose="02020603050405020304" charset="0"/>
                <a:sym typeface="+mn-ea"/>
              </a:rPr>
              <a:t>NH</a:t>
            </a:r>
            <a:r>
              <a:rPr lang="en-US" altLang="zh-CN" sz="2400" baseline="-25000">
                <a:latin typeface="Times New Roman" panose="02020603050405020304" charset="0"/>
                <a:ea typeface="微软雅黑" panose="020B0503020204020204" charset="-122"/>
                <a:cs typeface="Times New Roman" panose="02020603050405020304" charset="0"/>
                <a:sym typeface="+mn-ea"/>
              </a:rPr>
              <a:t>3</a:t>
            </a:r>
            <a:r>
              <a:rPr lang="zh-CN" altLang="en-US" sz="2400">
                <a:latin typeface="Times New Roman" panose="02020603050405020304" charset="0"/>
                <a:ea typeface="微软雅黑" panose="020B0503020204020204" charset="-122"/>
                <a:cs typeface="Times New Roman" panose="02020603050405020304" charset="0"/>
                <a:sym typeface="+mn-ea"/>
              </a:rPr>
              <a:t>分离后的原料气循环利用，并及时补充</a:t>
            </a:r>
            <a:r>
              <a:rPr lang="en-US" altLang="zh-CN" sz="2400">
                <a:latin typeface="Times New Roman" panose="02020603050405020304" charset="0"/>
                <a:ea typeface="微软雅黑" panose="020B0503020204020204" charset="-122"/>
                <a:cs typeface="Times New Roman" panose="02020603050405020304" charset="0"/>
                <a:sym typeface="+mn-ea"/>
              </a:rPr>
              <a:t>N</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和</a:t>
            </a:r>
            <a:r>
              <a:rPr lang="en-US" altLang="zh-CN" sz="2400">
                <a:latin typeface="Times New Roman" panose="02020603050405020304" charset="0"/>
                <a:ea typeface="微软雅黑" panose="020B0503020204020204" charset="-122"/>
                <a:cs typeface="Times New Roman" panose="02020603050405020304" charset="0"/>
                <a:sym typeface="+mn-ea"/>
              </a:rPr>
              <a:t>H</a:t>
            </a:r>
            <a:r>
              <a:rPr lang="en-US" altLang="zh-CN" sz="2400" baseline="-25000">
                <a:latin typeface="Times New Roman" panose="02020603050405020304" charset="0"/>
                <a:ea typeface="微软雅黑" panose="020B0503020204020204" charset="-122"/>
                <a:cs typeface="Times New Roman" panose="02020603050405020304" charset="0"/>
                <a:sym typeface="+mn-ea"/>
              </a:rPr>
              <a:t>2</a:t>
            </a:r>
            <a:r>
              <a:rPr lang="zh-CN" altLang="en-US" sz="2400">
                <a:latin typeface="Times New Roman" panose="02020603050405020304" charset="0"/>
                <a:ea typeface="微软雅黑" panose="020B0503020204020204" charset="-122"/>
                <a:cs typeface="Times New Roman" panose="02020603050405020304" charset="0"/>
                <a:sym typeface="+mn-ea"/>
              </a:rPr>
              <a:t>，使反应物保持一定的浓度，以利于合成氨反应，提高经济效益。</a:t>
            </a:r>
            <a:endParaRPr lang="zh-CN" altLang="en-US" sz="2400">
              <a:latin typeface="Times New Roman" panose="02020603050405020304" charset="0"/>
              <a:ea typeface="微软雅黑" panose="020B0503020204020204" charset="-122"/>
              <a:cs typeface="Times New Roman" panose="02020603050405020304" charset="0"/>
              <a:sym typeface="+mn-ea"/>
            </a:endParaRPr>
          </a:p>
        </p:txBody>
      </p:sp>
      <p:sp>
        <p:nvSpPr>
          <p:cNvPr id="2" name="文本框 1"/>
          <p:cNvSpPr txBox="1"/>
          <p:nvPr>
            <p:custDataLst>
              <p:tags r:id="rId3"/>
            </p:custDataLst>
          </p:nvPr>
        </p:nvSpPr>
        <p:spPr>
          <a:xfrm>
            <a:off x="328930" y="1294130"/>
            <a:ext cx="4371975" cy="460375"/>
          </a:xfrm>
          <a:prstGeom prst="rect">
            <a:avLst/>
          </a:prstGeom>
          <a:noFill/>
        </p:spPr>
        <p:txBody>
          <a:bodyPr wrap="square" rtlCol="0" anchor="t">
            <a:spAutoFit/>
          </a:bodyPr>
          <a:lstStyle/>
          <a:p>
            <a:r>
              <a:rPr lang="en-US" altLang="zh-CN" sz="2400" b="1">
                <a:latin typeface="微软雅黑" panose="020B0503020204020204" charset="-122"/>
                <a:ea typeface="微软雅黑" panose="020B0503020204020204" charset="-122"/>
                <a:cs typeface="微软雅黑" panose="020B0503020204020204" charset="-122"/>
                <a:sym typeface="+mn-ea"/>
              </a:rPr>
              <a:t>5.</a:t>
            </a:r>
            <a:r>
              <a:rPr lang="zh-CN" altLang="en-US" sz="2400" b="1">
                <a:latin typeface="微软雅黑" panose="020B0503020204020204" charset="-122"/>
                <a:ea typeface="微软雅黑" panose="020B0503020204020204" charset="-122"/>
                <a:cs typeface="微软雅黑" panose="020B0503020204020204" charset="-122"/>
                <a:sym typeface="+mn-ea"/>
              </a:rPr>
              <a:t>合成氨的工业流程</a:t>
            </a:r>
            <a:endParaRPr lang="zh-CN" altLang="en-US" sz="2400" b="1">
              <a:latin typeface="微软雅黑" panose="020B0503020204020204" charset="-122"/>
              <a:ea typeface="微软雅黑" panose="020B0503020204020204" charset="-122"/>
              <a:cs typeface="微软雅黑" panose="020B0503020204020204" charset="-122"/>
              <a:sym typeface="+mn-ea"/>
            </a:endParaRPr>
          </a:p>
        </p:txBody>
      </p:sp>
      <p:pic>
        <p:nvPicPr>
          <p:cNvPr id="4" name="图片 3"/>
          <p:cNvPicPr>
            <a:picLocks noChangeAspect="1"/>
          </p:cNvPicPr>
          <p:nvPr>
            <p:custDataLst>
              <p:tags r:id="rId4"/>
            </p:custDataLst>
          </p:nvPr>
        </p:nvPicPr>
        <p:blipFill>
          <a:blip r:embed="rId5"/>
          <a:srcRect l="4854" t="3559" r="4745" b="13426"/>
          <a:stretch>
            <a:fillRect/>
          </a:stretch>
        </p:blipFill>
        <p:spPr>
          <a:xfrm>
            <a:off x="3554095" y="1030605"/>
            <a:ext cx="6715125" cy="326517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strVal val="#ppt_w*0.70"/>
                                          </p:val>
                                        </p:tav>
                                        <p:tav tm="100000">
                                          <p:val>
                                            <p:strVal val="#ppt_w"/>
                                          </p:val>
                                        </p:tav>
                                      </p:tavLst>
                                    </p:anim>
                                    <p:anim calcmode="lin" valueType="num">
                                      <p:cBhvr>
                                        <p:cTn id="12" dur="1000" fill="hold"/>
                                        <p:tgtEl>
                                          <p:spTgt spid="4"/>
                                        </p:tgtEl>
                                        <p:attrNameLst>
                                          <p:attrName>ppt_h</p:attrName>
                                        </p:attrNameLst>
                                      </p:cBhvr>
                                      <p:tavLst>
                                        <p:tav tm="0">
                                          <p:val>
                                            <p:strVal val="#ppt_h"/>
                                          </p:val>
                                        </p:tav>
                                        <p:tav tm="100000">
                                          <p:val>
                                            <p:strVal val="#ppt_h"/>
                                          </p:val>
                                        </p:tav>
                                      </p:tavLst>
                                    </p:anim>
                                    <p:animEffect transition="in" filter="fade">
                                      <p:cBhvr>
                                        <p:cTn id="13" dur="10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checkerboard(across)">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9"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9623530" y="1832104"/>
            <a:ext cx="431203" cy="607695"/>
          </a:xfrm>
          <a:prstGeom prst="rect">
            <a:avLst/>
          </a:prstGeom>
          <a:noFill/>
        </p:spPr>
        <p:txBody>
          <a:bodyPr wrap="square">
            <a:spAutoFit/>
          </a:bodyPr>
          <a:lstStyle/>
          <a:p>
            <a:pPr algn="just">
              <a:lnSpc>
                <a:spcPct val="120000"/>
              </a:lnSpc>
            </a:pPr>
            <a:r>
              <a:rPr lang="en-US" altLang="zh-CN" sz="2800" b="1" kern="100">
                <a:solidFill>
                  <a:srgbClr val="FF0000"/>
                </a:solidFill>
                <a:effectLst/>
                <a:latin typeface="Times New Roman" panose="02020603050405020304" charset="0"/>
                <a:ea typeface="微软雅黑" panose="020B0503020204020204" charset="-122"/>
                <a:cs typeface="Times New Roman" panose="02020603050405020304" charset="0"/>
                <a:sym typeface="+mn-lt"/>
              </a:rPr>
              <a:t>C</a:t>
            </a:r>
            <a:endParaRPr lang="en-US" altLang="zh-CN" sz="2800" b="1" kern="100">
              <a:solidFill>
                <a:srgbClr val="FF0000"/>
              </a:solidFill>
              <a:effectLst/>
              <a:latin typeface="Times New Roman" panose="02020603050405020304" charset="0"/>
              <a:ea typeface="微软雅黑" panose="020B0503020204020204" charset="-122"/>
              <a:cs typeface="Times New Roman" panose="02020603050405020304" charset="0"/>
              <a:sym typeface="+mn-lt"/>
            </a:endParaRPr>
          </a:p>
        </p:txBody>
      </p:sp>
      <p:sp>
        <p:nvSpPr>
          <p:cNvPr id="9" name="文本框 8"/>
          <p:cNvSpPr txBox="1"/>
          <p:nvPr>
            <p:custDataLst>
              <p:tags r:id="rId2"/>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grpSp>
        <p:nvGrpSpPr>
          <p:cNvPr id="5" name="组合 4"/>
          <p:cNvGrpSpPr/>
          <p:nvPr>
            <p:custDataLst>
              <p:tags r:id="rId3"/>
            </p:custDataLst>
          </p:nvPr>
        </p:nvGrpSpPr>
        <p:grpSpPr>
          <a:xfrm>
            <a:off x="586105" y="1198880"/>
            <a:ext cx="11090910" cy="3415030"/>
            <a:chOff x="923" y="1888"/>
            <a:chExt cx="17466" cy="5378"/>
          </a:xfrm>
        </p:grpSpPr>
        <p:sp>
          <p:nvSpPr>
            <p:cNvPr id="2" name="文本框 1"/>
            <p:cNvSpPr txBox="1"/>
            <p:nvPr>
              <p:custDataLst>
                <p:tags r:id="rId4"/>
              </p:custDataLst>
            </p:nvPr>
          </p:nvSpPr>
          <p:spPr>
            <a:xfrm>
              <a:off x="923" y="1888"/>
              <a:ext cx="17467" cy="5378"/>
            </a:xfrm>
            <a:prstGeom prst="rect">
              <a:avLst/>
            </a:prstGeom>
            <a:noFill/>
          </p:spPr>
          <p:txBody>
            <a:bodyPr wrap="square" rtlCol="0" anchor="t">
              <a:spAutoFit/>
            </a:bodyPr>
            <a:lstStyle/>
            <a:p>
              <a:pPr marL="0" lvl="0" indent="0" eaLnBrk="1" hangingPunct="1">
                <a:lnSpc>
                  <a:spcPct val="150000"/>
                </a:lnSpc>
                <a:spcBef>
                  <a:spcPct val="0"/>
                </a:spcBef>
                <a:buFontTx/>
                <a:buNone/>
              </a:pPr>
              <a:r>
                <a:rPr lang="en-US" altLang="zh-CN" sz="2400">
                  <a:solidFill>
                    <a:srgbClr val="0070C0"/>
                  </a:solidFill>
                  <a:latin typeface="微软雅黑" panose="020B0503020204020204" charset="-122"/>
                  <a:ea typeface="微软雅黑" panose="020B0503020204020204" charset="-122"/>
                  <a:cs typeface="微软雅黑" panose="020B0503020204020204" charset="-122"/>
                  <a:sym typeface="+mn-lt"/>
                </a:rPr>
                <a:t>【</a:t>
              </a:r>
              <a:r>
                <a:rPr lang="zh-CN" altLang="en-US" sz="2400">
                  <a:solidFill>
                    <a:srgbClr val="0070C0"/>
                  </a:solidFill>
                  <a:latin typeface="微软雅黑" panose="020B0503020204020204" charset="-122"/>
                  <a:ea typeface="微软雅黑" panose="020B0503020204020204" charset="-122"/>
                  <a:cs typeface="微软雅黑" panose="020B0503020204020204" charset="-122"/>
                  <a:sym typeface="+mn-lt"/>
                </a:rPr>
                <a:t>例</a:t>
              </a:r>
              <a:r>
                <a:rPr lang="en-US" altLang="zh-CN" sz="2400">
                  <a:solidFill>
                    <a:srgbClr val="0070C0"/>
                  </a:solidFill>
                  <a:latin typeface="微软雅黑" panose="020B0503020204020204" charset="-122"/>
                  <a:ea typeface="微软雅黑" panose="020B0503020204020204" charset="-122"/>
                  <a:cs typeface="微软雅黑" panose="020B0503020204020204" charset="-122"/>
                  <a:sym typeface="+mn-lt"/>
                </a:rPr>
                <a:t>1】</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工业合成氨是人类科学技术的一项重大突破，其反应如下：</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a:p>
              <a:pPr marL="0" lvl="0" indent="0" eaLnBrk="1" hangingPunct="1">
                <a:lnSpc>
                  <a:spcPct val="150000"/>
                </a:lnSpc>
                <a:spcBef>
                  <a:spcPct val="0"/>
                </a:spcBef>
                <a:buFontTx/>
                <a:buNone/>
              </a:pP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N</a:t>
              </a:r>
              <a:r>
                <a:rPr lang="en-US" altLang="zh-CN" sz="2400" baseline="-25000">
                  <a:solidFill>
                    <a:schemeClr val="tx1"/>
                  </a:solidFill>
                  <a:latin typeface="Times New Roman" panose="02020603050405020304" charset="0"/>
                  <a:ea typeface="微软雅黑" panose="020B0503020204020204" charset="-122"/>
                  <a:cs typeface="Times New Roman" panose="02020603050405020304" charset="0"/>
                  <a:sym typeface="+mn-lt"/>
                </a:rPr>
                <a:t>2</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(g)＋3H</a:t>
              </a:r>
              <a:r>
                <a:rPr lang="en-US" altLang="zh-CN" sz="2400" baseline="-25000">
                  <a:solidFill>
                    <a:schemeClr val="tx1"/>
                  </a:solidFill>
                  <a:latin typeface="Times New Roman" panose="02020603050405020304" charset="0"/>
                  <a:ea typeface="微软雅黑" panose="020B0503020204020204" charset="-122"/>
                  <a:cs typeface="Times New Roman" panose="02020603050405020304" charset="0"/>
                  <a:sym typeface="+mn-lt"/>
                </a:rPr>
                <a:t>2</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(g)         2NH</a:t>
              </a:r>
              <a:r>
                <a:rPr lang="en-US" altLang="zh-CN" sz="2400" baseline="-25000">
                  <a:solidFill>
                    <a:schemeClr val="tx1"/>
                  </a:solidFill>
                  <a:latin typeface="Times New Roman" panose="02020603050405020304" charset="0"/>
                  <a:ea typeface="微软雅黑" panose="020B0503020204020204" charset="-122"/>
                  <a:cs typeface="Times New Roman" panose="02020603050405020304" charset="0"/>
                  <a:sym typeface="+mn-lt"/>
                </a:rPr>
                <a:t>3</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(g)   ΔH＝-92.4kJ·mol</a:t>
              </a:r>
              <a:r>
                <a:rPr lang="en-US" altLang="zh-CN" sz="2400" baseline="30000">
                  <a:solidFill>
                    <a:schemeClr val="tx1"/>
                  </a:solidFill>
                  <a:latin typeface="Times New Roman" panose="02020603050405020304" charset="0"/>
                  <a:ea typeface="微软雅黑" panose="020B0503020204020204" charset="-122"/>
                  <a:cs typeface="Times New Roman" panose="02020603050405020304" charset="0"/>
                  <a:sym typeface="+mn-lt"/>
                </a:rPr>
                <a:t>−1</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下面说法正确的是(     )</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a:p>
              <a:pPr marL="0" lvl="0" indent="0" eaLnBrk="1" hangingPunct="1">
                <a:lnSpc>
                  <a:spcPct val="150000"/>
                </a:lnSpc>
                <a:spcBef>
                  <a:spcPct val="0"/>
                </a:spcBef>
                <a:buFontTx/>
                <a:buNone/>
              </a:pP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A．</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合成氨一般选择400～500℃的原因主要考虑了温度对速率的影响</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a:p>
              <a:pPr marL="0" lvl="0" indent="0" eaLnBrk="1" hangingPunct="1">
                <a:lnSpc>
                  <a:spcPct val="150000"/>
                </a:lnSpc>
                <a:spcBef>
                  <a:spcPct val="0"/>
                </a:spcBef>
                <a:buFontTx/>
                <a:buNone/>
              </a:pP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B．</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将生成的氨气及时液化分离，可推动平衡正向移动，加快反应速率</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a:p>
              <a:pPr marL="0" lvl="0" indent="0" eaLnBrk="1" hangingPunct="1">
                <a:lnSpc>
                  <a:spcPct val="150000"/>
                </a:lnSpc>
                <a:spcBef>
                  <a:spcPct val="0"/>
                </a:spcBef>
                <a:buFontTx/>
                <a:buNone/>
              </a:pP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C．</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增大压强虽能提高平衡产率，但实际生产中常采用20</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MPa</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以节省设备成本</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a:p>
              <a:pPr marL="0" lvl="0" indent="0" eaLnBrk="1" hangingPunct="1">
                <a:lnSpc>
                  <a:spcPct val="150000"/>
                </a:lnSpc>
                <a:spcBef>
                  <a:spcPct val="0"/>
                </a:spcBef>
                <a:buFontTx/>
                <a:buNone/>
              </a:pP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D．</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由于</a:t>
              </a:r>
              <a:r>
                <a:rPr lang="en-US" altLang="zh-CN" sz="2400">
                  <a:solidFill>
                    <a:schemeClr val="tx1"/>
                  </a:solidFill>
                  <a:latin typeface="Times New Roman" panose="02020603050405020304" charset="0"/>
                  <a:ea typeface="微软雅黑" panose="020B0503020204020204" charset="-122"/>
                  <a:cs typeface="Times New Roman" panose="02020603050405020304" charset="0"/>
                  <a:sym typeface="+mn-lt"/>
                </a:rPr>
                <a:t>N</a:t>
              </a:r>
              <a:r>
                <a:rPr lang="en-US" altLang="zh-CN" sz="2400" baseline="-25000">
                  <a:solidFill>
                    <a:schemeClr val="tx1"/>
                  </a:solidFill>
                  <a:latin typeface="Times New Roman" panose="02020603050405020304" charset="0"/>
                  <a:ea typeface="微软雅黑" panose="020B0503020204020204" charset="-122"/>
                  <a:cs typeface="Times New Roman" panose="02020603050405020304" charset="0"/>
                  <a:sym typeface="+mn-lt"/>
                </a:rPr>
                <a:t>2</a:t>
              </a:r>
              <a:r>
                <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rPr>
                <a:t>在空气中含量高，因此直接将空气与氢气混合通入反应炉</a:t>
              </a:r>
              <a:endParaRPr lang="zh-CN" altLang="en-US" sz="2400">
                <a:solidFill>
                  <a:schemeClr val="tx1"/>
                </a:solidFill>
                <a:latin typeface="Times New Roman" panose="02020603050405020304" charset="0"/>
                <a:ea typeface="微软雅黑" panose="020B0503020204020204" charset="-122"/>
                <a:cs typeface="Times New Roman" panose="02020603050405020304" charset="0"/>
                <a:sym typeface="+mn-lt"/>
              </a:endParaRPr>
            </a:p>
          </p:txBody>
        </p:sp>
        <p:pic>
          <p:nvPicPr>
            <p:cNvPr id="9219" name="图片 2"/>
            <p:cNvPicPr>
              <a:picLocks noChangeAspect="1"/>
            </p:cNvPicPr>
            <p:nvPr>
              <p:custDataLst>
                <p:tags r:id="rId5"/>
              </p:custDataLst>
            </p:nvPr>
          </p:nvPicPr>
          <p:blipFill>
            <a:blip r:embed="rId6">
              <a:clrChange>
                <a:clrFrom>
                  <a:srgbClr val="FFFFFF"/>
                </a:clrFrom>
                <a:clrTo>
                  <a:srgbClr val="FFFFFF">
                    <a:alpha val="0"/>
                  </a:srgbClr>
                </a:clrTo>
              </a:clrChange>
            </a:blip>
            <a:stretch>
              <a:fillRect/>
            </a:stretch>
          </p:blipFill>
          <p:spPr>
            <a:xfrm>
              <a:off x="4028" y="3133"/>
              <a:ext cx="805" cy="462"/>
            </a:xfrm>
            <a:prstGeom prst="rect">
              <a:avLst/>
            </a:prstGeom>
            <a:noFill/>
            <a:ln w="9525">
              <a:noFill/>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1"/>
            </p:custDataLst>
          </p:nvPr>
        </p:nvSpPr>
        <p:spPr>
          <a:xfrm>
            <a:off x="328930" y="1306195"/>
            <a:ext cx="4526280" cy="460375"/>
          </a:xfrm>
          <a:prstGeom prst="rect">
            <a:avLst/>
          </a:prstGeom>
          <a:noFill/>
        </p:spPr>
        <p:txBody>
          <a:bodyPr wrap="square" rtlCol="0" anchor="t">
            <a:spAutoFit/>
          </a:bodyPr>
          <a:lstStyle/>
          <a:p>
            <a:r>
              <a:rPr lang="en-US" altLang="zh-CN" sz="2400" b="1">
                <a:latin typeface="微软雅黑" panose="020B0503020204020204" charset="-122"/>
                <a:ea typeface="微软雅黑" panose="020B0503020204020204" charset="-122"/>
                <a:cs typeface="微软雅黑" panose="020B0503020204020204" charset="-122"/>
                <a:sym typeface="+mn-ea"/>
              </a:rPr>
              <a:t>6.</a:t>
            </a:r>
            <a:r>
              <a:rPr lang="zh-CN" altLang="en-US" sz="2400" b="1">
                <a:latin typeface="微软雅黑" panose="020B0503020204020204" charset="-122"/>
                <a:ea typeface="微软雅黑" panose="020B0503020204020204" charset="-122"/>
                <a:sym typeface="+mn-ea"/>
              </a:rPr>
              <a:t>化学反应调控需要注意的问题</a:t>
            </a:r>
            <a:endParaRPr lang="zh-CN" altLang="en-US" sz="2400" b="1">
              <a:latin typeface="Times New Roman" panose="02020603050405020304" charset="0"/>
              <a:ea typeface="微软雅黑" panose="020B0503020204020204" charset="-122"/>
              <a:cs typeface="Times New Roman" panose="02020603050405020304" charset="0"/>
              <a:sym typeface="+mn-lt"/>
            </a:endParaRPr>
          </a:p>
        </p:txBody>
      </p:sp>
      <p:sp>
        <p:nvSpPr>
          <p:cNvPr id="13" name="矩形: 圆角 10"/>
          <p:cNvSpPr/>
          <p:nvPr>
            <p:custDataLst>
              <p:tags r:id="rId2"/>
            </p:custDataLst>
          </p:nvPr>
        </p:nvSpPr>
        <p:spPr>
          <a:xfrm>
            <a:off x="328930" y="747395"/>
            <a:ext cx="2105660" cy="488950"/>
          </a:xfrm>
          <a:prstGeom prst="roundRect">
            <a:avLst>
              <a:gd name="adj" fmla="val 50000"/>
            </a:avLst>
          </a:prstGeom>
          <a:gradFill>
            <a:gsLst>
              <a:gs pos="68000">
                <a:srgbClr val="0070C0"/>
              </a:gs>
              <a:gs pos="0">
                <a:schemeClr val="accent1">
                  <a:lumMod val="40000"/>
                  <a:lumOff val="60000"/>
                </a:scheme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a:t>知识总结</a:t>
            </a:r>
            <a:endParaRPr lang="zh-CN" altLang="en-US" sz="2800"/>
          </a:p>
        </p:txBody>
      </p:sp>
      <p:sp>
        <p:nvSpPr>
          <p:cNvPr id="9" name="文本框 8"/>
          <p:cNvSpPr txBox="1"/>
          <p:nvPr>
            <p:custDataLst>
              <p:tags r:id="rId3"/>
            </p:custDataLst>
          </p:nvPr>
        </p:nvSpPr>
        <p:spPr>
          <a:xfrm>
            <a:off x="4376420" y="-12065"/>
            <a:ext cx="5483860" cy="583565"/>
          </a:xfrm>
          <a:prstGeom prst="rect">
            <a:avLst/>
          </a:prstGeom>
          <a:noFill/>
        </p:spPr>
        <p:txBody>
          <a:bodyPr wrap="square" rtlCol="0">
            <a:spAutoFit/>
          </a:bodyPr>
          <a:lstStyle/>
          <a:p>
            <a:r>
              <a:rPr lang="zh-CN" altLang="en-US" sz="3200" b="1">
                <a:solidFill>
                  <a:schemeClr val="bg1"/>
                </a:solidFill>
                <a:latin typeface="微软雅黑" panose="020B0503020204020204" charset="-122"/>
                <a:ea typeface="微软雅黑" panose="020B0503020204020204" charset="-122"/>
              </a:rPr>
              <a:t>二、</a:t>
            </a:r>
            <a:r>
              <a:rPr lang="zh-CN" altLang="en-US" sz="3200" b="1">
                <a:solidFill>
                  <a:schemeClr val="bg1"/>
                </a:solidFill>
                <a:latin typeface="微软雅黑" panose="020B0503020204020204" charset="-122"/>
                <a:ea typeface="微软雅黑" panose="020B0503020204020204" charset="-122"/>
                <a:sym typeface="+mn-ea"/>
              </a:rPr>
              <a:t>工业合成氨的适宜条件</a:t>
            </a:r>
            <a:endParaRPr lang="zh-CN" altLang="en-US" sz="3200" b="1">
              <a:solidFill>
                <a:schemeClr val="bg1"/>
              </a:solidFill>
              <a:latin typeface="微软雅黑" panose="020B0503020204020204" charset="-122"/>
              <a:ea typeface="微软雅黑" panose="020B0503020204020204" charset="-122"/>
              <a:sym typeface="+mn-ea"/>
            </a:endParaRPr>
          </a:p>
        </p:txBody>
      </p:sp>
      <p:sp>
        <p:nvSpPr>
          <p:cNvPr id="7" name="文本框 6"/>
          <p:cNvSpPr txBox="1"/>
          <p:nvPr>
            <p:custDataLst>
              <p:tags r:id="rId4"/>
            </p:custDataLst>
          </p:nvPr>
        </p:nvSpPr>
        <p:spPr>
          <a:xfrm>
            <a:off x="483870" y="1960245"/>
            <a:ext cx="7193280" cy="460375"/>
          </a:xfrm>
          <a:prstGeom prst="rect">
            <a:avLst/>
          </a:prstGeom>
          <a:noFill/>
          <a:ln>
            <a:solidFill>
              <a:schemeClr val="accent1"/>
            </a:solidFill>
          </a:ln>
        </p:spPr>
        <p:txBody>
          <a:bodyPr wrap="square" rtlCol="0" anchor="t">
            <a:spAutoFit/>
          </a:bodyPr>
          <a:lstStyle/>
          <a:p>
            <a:r>
              <a:rPr sz="2400">
                <a:latin typeface="微软雅黑" panose="020B0503020204020204" charset="-122"/>
                <a:ea typeface="微软雅黑" panose="020B0503020204020204" charset="-122"/>
                <a:cs typeface="微软雅黑" panose="020B0503020204020204" charset="-122"/>
                <a:sym typeface="+mn-ea"/>
              </a:rPr>
              <a:t>⑴考虑参加反应的物质组成、结构和性质等本身因素。</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
        <p:nvSpPr>
          <p:cNvPr id="11" name="文本框 10"/>
          <p:cNvSpPr txBox="1"/>
          <p:nvPr>
            <p:custDataLst>
              <p:tags r:id="rId5"/>
            </p:custDataLst>
          </p:nvPr>
        </p:nvSpPr>
        <p:spPr>
          <a:xfrm>
            <a:off x="429895" y="2608580"/>
            <a:ext cx="10137140" cy="570865"/>
          </a:xfrm>
          <a:prstGeom prst="rect">
            <a:avLst/>
          </a:prstGeom>
          <a:noFill/>
          <a:ln>
            <a:solidFill>
              <a:schemeClr val="accent1"/>
            </a:solidFill>
          </a:ln>
        </p:spPr>
        <p:txBody>
          <a:bodyPr wrap="square" rtlCol="0" anchor="t">
            <a:spAutoFit/>
          </a:bodyPr>
          <a:lstStyle/>
          <a:p>
            <a:pPr>
              <a:lnSpc>
                <a:spcPct val="130000"/>
              </a:lnSpc>
            </a:pPr>
            <a:r>
              <a:rPr sz="2400">
                <a:latin typeface="微软雅黑" panose="020B0503020204020204" charset="-122"/>
                <a:ea typeface="微软雅黑" panose="020B0503020204020204" charset="-122"/>
                <a:cs typeface="微软雅黑" panose="020B0503020204020204" charset="-122"/>
                <a:sym typeface="+mn-ea"/>
              </a:rPr>
              <a:t>⑵考虑影响化学反应速率和平衡的温度、压强、浓度、催化剂等反应条件。</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custDataLst>
              <p:tags r:id="rId6"/>
            </p:custDataLst>
          </p:nvPr>
        </p:nvSpPr>
        <p:spPr>
          <a:xfrm>
            <a:off x="396875" y="3367405"/>
            <a:ext cx="9910445" cy="460375"/>
          </a:xfrm>
          <a:prstGeom prst="rect">
            <a:avLst/>
          </a:prstGeom>
          <a:noFill/>
          <a:ln>
            <a:solidFill>
              <a:schemeClr val="accent1"/>
            </a:solidFill>
          </a:ln>
        </p:spPr>
        <p:txBody>
          <a:bodyPr wrap="square" rtlCol="0" anchor="t">
            <a:spAutoFit/>
          </a:bodyPr>
          <a:lstStyle/>
          <a:p>
            <a:r>
              <a:rPr sz="2400">
                <a:latin typeface="微软雅黑" panose="020B0503020204020204" charset="-122"/>
                <a:ea typeface="微软雅黑" panose="020B0503020204020204" charset="-122"/>
                <a:cs typeface="微软雅黑" panose="020B0503020204020204" charset="-122"/>
                <a:sym typeface="+mn-ea"/>
              </a:rPr>
              <a:t>⑶选择适宜的生产条件还要考虑设备条件、安全操作、经济成本等情况。</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custDataLst>
              <p:tags r:id="rId7"/>
            </p:custDataLst>
          </p:nvPr>
        </p:nvSpPr>
        <p:spPr>
          <a:xfrm>
            <a:off x="328930" y="4123055"/>
            <a:ext cx="10191115" cy="460375"/>
          </a:xfrm>
          <a:prstGeom prst="rect">
            <a:avLst/>
          </a:prstGeom>
          <a:noFill/>
          <a:ln>
            <a:solidFill>
              <a:schemeClr val="accent1"/>
            </a:solidFill>
          </a:ln>
        </p:spPr>
        <p:txBody>
          <a:bodyPr wrap="square" rtlCol="0" anchor="t">
            <a:spAutoFit/>
          </a:bodyPr>
          <a:lstStyle/>
          <a:p>
            <a:r>
              <a:rPr sz="2400">
                <a:latin typeface="微软雅黑" panose="020B0503020204020204" charset="-122"/>
                <a:ea typeface="微软雅黑" panose="020B0503020204020204" charset="-122"/>
                <a:cs typeface="微软雅黑" panose="020B0503020204020204" charset="-122"/>
                <a:sym typeface="+mn-ea"/>
              </a:rPr>
              <a:t>⑷选择适宜的生产条件还要考虑环境保护及社会效益等方面的规定和要求。</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1000" fill="hold"/>
                                        <p:tgtEl>
                                          <p:spTgt spid="11"/>
                                        </p:tgtEl>
                                        <p:attrNameLst>
                                          <p:attrName>ppt_w</p:attrName>
                                        </p:attrNameLst>
                                      </p:cBhvr>
                                      <p:tavLst>
                                        <p:tav tm="0">
                                          <p:val>
                                            <p:strVal val="#ppt_w*0.70"/>
                                          </p:val>
                                        </p:tav>
                                        <p:tav tm="100000">
                                          <p:val>
                                            <p:strVal val="#ppt_w"/>
                                          </p:val>
                                        </p:tav>
                                      </p:tavLst>
                                    </p:anim>
                                    <p:anim calcmode="lin" valueType="num">
                                      <p:cBhvr>
                                        <p:cTn id="16" dur="1000" fill="hold"/>
                                        <p:tgtEl>
                                          <p:spTgt spid="11"/>
                                        </p:tgtEl>
                                        <p:attrNameLst>
                                          <p:attrName>ppt_h</p:attrName>
                                        </p:attrNameLst>
                                      </p:cBhvr>
                                      <p:tavLst>
                                        <p:tav tm="0">
                                          <p:val>
                                            <p:strVal val="#ppt_h"/>
                                          </p:val>
                                        </p:tav>
                                        <p:tav tm="100000">
                                          <p:val>
                                            <p:strVal val="#ppt_h"/>
                                          </p:val>
                                        </p:tav>
                                      </p:tavLst>
                                    </p:anim>
                                    <p:animEffect transition="in" filter="fade">
                                      <p:cBhvr>
                                        <p:cTn id="17" dur="10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p:cTn id="22" dur="1000" fill="hold"/>
                                        <p:tgtEl>
                                          <p:spTgt spid="20"/>
                                        </p:tgtEl>
                                        <p:attrNameLst>
                                          <p:attrName>ppt_w</p:attrName>
                                        </p:attrNameLst>
                                      </p:cBhvr>
                                      <p:tavLst>
                                        <p:tav tm="0">
                                          <p:val>
                                            <p:strVal val="#ppt_w*0.70"/>
                                          </p:val>
                                        </p:tav>
                                        <p:tav tm="100000">
                                          <p:val>
                                            <p:strVal val="#ppt_w"/>
                                          </p:val>
                                        </p:tav>
                                      </p:tavLst>
                                    </p:anim>
                                    <p:anim calcmode="lin" valueType="num">
                                      <p:cBhvr>
                                        <p:cTn id="23" dur="1000" fill="hold"/>
                                        <p:tgtEl>
                                          <p:spTgt spid="20"/>
                                        </p:tgtEl>
                                        <p:attrNameLst>
                                          <p:attrName>ppt_h</p:attrName>
                                        </p:attrNameLst>
                                      </p:cBhvr>
                                      <p:tavLst>
                                        <p:tav tm="0">
                                          <p:val>
                                            <p:strVal val="#ppt_h"/>
                                          </p:val>
                                        </p:tav>
                                        <p:tav tm="100000">
                                          <p:val>
                                            <p:strVal val="#ppt_h"/>
                                          </p:val>
                                        </p:tav>
                                      </p:tavLst>
                                    </p:anim>
                                    <p:animEffect transition="in" filter="fade">
                                      <p:cBhvr>
                                        <p:cTn id="24" dur="10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p:cTn id="29" dur="1000" fill="hold"/>
                                        <p:tgtEl>
                                          <p:spTgt spid="21"/>
                                        </p:tgtEl>
                                        <p:attrNameLst>
                                          <p:attrName>ppt_w</p:attrName>
                                        </p:attrNameLst>
                                      </p:cBhvr>
                                      <p:tavLst>
                                        <p:tav tm="0">
                                          <p:val>
                                            <p:strVal val="#ppt_w*0.70"/>
                                          </p:val>
                                        </p:tav>
                                        <p:tav tm="100000">
                                          <p:val>
                                            <p:strVal val="#ppt_w"/>
                                          </p:val>
                                        </p:tav>
                                      </p:tavLst>
                                    </p:anim>
                                    <p:anim calcmode="lin" valueType="num">
                                      <p:cBhvr>
                                        <p:cTn id="30" dur="1000" fill="hold"/>
                                        <p:tgtEl>
                                          <p:spTgt spid="21"/>
                                        </p:tgtEl>
                                        <p:attrNameLst>
                                          <p:attrName>ppt_h</p:attrName>
                                        </p:attrNameLst>
                                      </p:cBhvr>
                                      <p:tavLst>
                                        <p:tav tm="0">
                                          <p:val>
                                            <p:strVal val="#ppt_h"/>
                                          </p:val>
                                        </p:tav>
                                        <p:tav tm="100000">
                                          <p:val>
                                            <p:strVal val="#ppt_h"/>
                                          </p:val>
                                        </p:tav>
                                      </p:tavLst>
                                    </p:anim>
                                    <p:animEffect transition="in" filter="fade">
                                      <p:cBhvr>
                                        <p:cTn id="31"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bldLvl="0" animBg="1"/>
      <p:bldP spid="11" grpId="0" bldLvl="0" animBg="1"/>
      <p:bldP spid="20" grpId="0" bldLvl="0" animBg="1"/>
      <p:bldP spid="2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873760" y="1313180"/>
            <a:ext cx="547370" cy="3178175"/>
          </a:xfrm>
          <a:prstGeom prst="rect">
            <a:avLst/>
          </a:prstGeom>
          <a:gradFill>
            <a:gsLst>
              <a:gs pos="0">
                <a:srgbClr val="0072CB"/>
              </a:gs>
              <a:gs pos="73000">
                <a:srgbClr val="0072CB"/>
              </a:gs>
              <a:gs pos="100000">
                <a:schemeClr val="accent1">
                  <a:tint val="15000"/>
                  <a:satMod val="350000"/>
                </a:schemeClr>
              </a:gs>
            </a:gsLst>
          </a:gradFill>
          <a:effectLst/>
        </p:spPr>
        <p:style>
          <a:lnRef idx="0">
            <a:srgbClr val="FFFFFF"/>
          </a:lnRef>
          <a:fillRef idx="2">
            <a:schemeClr val="accent1"/>
          </a:fillRef>
          <a:effectRef idx="1">
            <a:schemeClr val="accent1"/>
          </a:effectRef>
          <a:fontRef idx="minor">
            <a:schemeClr val="lt1"/>
          </a:fontRef>
        </p:style>
        <p:txBody>
          <a:bodyPr wrap="square">
            <a:noAutofit/>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400">
                <a:solidFill>
                  <a:schemeClr val="tx1"/>
                </a:solidFill>
                <a:latin typeface="黑体" panose="02010609060101010101" charset="-122"/>
                <a:ea typeface="黑体" panose="02010609060101010101" charset="-122"/>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黑体" panose="02010609060101010101" charset="-122"/>
                <a:ea typeface="黑体" panose="02010609060101010101" charset="-122"/>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黑体" panose="02010609060101010101" charset="-122"/>
                <a:ea typeface="黑体" panose="02010609060101010101" charset="-122"/>
              </a:defRPr>
            </a:lvl3pPr>
            <a:lvl4pPr marL="1600200" indent="-228600" algn="l" rtl="0" eaLnBrk="0" fontAlgn="base" hangingPunct="0">
              <a:spcBef>
                <a:spcPct val="20000"/>
              </a:spcBef>
              <a:spcAft>
                <a:spcPct val="0"/>
              </a:spcAft>
              <a:buChar char="–"/>
              <a:defRPr sz="2400">
                <a:solidFill>
                  <a:schemeClr val="tx1"/>
                </a:solidFill>
                <a:latin typeface="黑体" panose="02010609060101010101" charset="-122"/>
                <a:ea typeface="黑体" panose="02010609060101010101"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charset="-122"/>
              </a:defRPr>
            </a:lvl5pPr>
          </a:lstStyle>
          <a:p>
            <a:pPr marL="0" lvl="0" indent="0" eaLnBrk="1" hangingPunct="1">
              <a:spcBef>
                <a:spcPct val="0"/>
              </a:spcBef>
              <a:buNone/>
            </a:pPr>
            <a:r>
              <a:rPr lang="zh-CN" altLang="en-US" sz="2800" b="1">
                <a:solidFill>
                  <a:schemeClr val="bg1"/>
                </a:solidFill>
                <a:latin typeface="微软雅黑" panose="020B0503020204020204" charset="-122"/>
                <a:ea typeface="微软雅黑" panose="020B0503020204020204" charset="-122"/>
                <a:sym typeface="+mn-ea"/>
              </a:rPr>
              <a:t>化学反应的调控</a:t>
            </a:r>
            <a:endParaRPr lang="zh-CN" altLang="en-US" sz="2800" b="1">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2" name="左大括号 11"/>
          <p:cNvSpPr/>
          <p:nvPr>
            <p:custDataLst>
              <p:tags r:id="rId2"/>
            </p:custDataLst>
          </p:nvPr>
        </p:nvSpPr>
        <p:spPr>
          <a:xfrm>
            <a:off x="1543050" y="1489710"/>
            <a:ext cx="495300" cy="2583180"/>
          </a:xfrm>
          <a:prstGeom prst="leftBrace">
            <a:avLst>
              <a:gd name="adj1" fmla="val 0"/>
              <a:gd name="adj2" fmla="val 50000"/>
            </a:avLst>
          </a:prstGeom>
          <a:ln w="28575">
            <a:solidFill>
              <a:srgbClr val="0072CB"/>
            </a:solidFill>
          </a:ln>
          <a:effectLst/>
        </p:spPr>
        <p:style>
          <a:lnRef idx="2">
            <a:schemeClr val="accent4"/>
          </a:lnRef>
          <a:fillRef idx="0">
            <a:schemeClr val="accent4"/>
          </a:fillRef>
          <a:effectRef idx="1">
            <a:schemeClr val="accent4"/>
          </a:effectRef>
          <a:fontRef idx="minor">
            <a:schemeClr val="tx1"/>
          </a:fontRef>
        </p:style>
        <p:txBody>
          <a:bodyPr rtlCol="0" anchor="ctr"/>
          <a:lstStyle/>
          <a:p>
            <a:pPr algn="ctr"/>
            <a:endParaRPr lang="zh-CN" altLang="en-US" sz="2400">
              <a:solidFill>
                <a:schemeClr val="bg1"/>
              </a:solidFill>
              <a:latin typeface="微软雅黑" panose="020B0503020204020204" charset="-122"/>
              <a:ea typeface="微软雅黑" panose="020B0503020204020204" charset="-122"/>
            </a:endParaRPr>
          </a:p>
        </p:txBody>
      </p:sp>
      <p:sp>
        <p:nvSpPr>
          <p:cNvPr id="13" name="文本框 4"/>
          <p:cNvSpPr txBox="1"/>
          <p:nvPr>
            <p:custDataLst>
              <p:tags r:id="rId3"/>
            </p:custDataLst>
          </p:nvPr>
        </p:nvSpPr>
        <p:spPr>
          <a:xfrm>
            <a:off x="1912620" y="1313180"/>
            <a:ext cx="3546475" cy="557530"/>
          </a:xfrm>
          <a:prstGeom prst="rect">
            <a:avLst/>
          </a:prstGeom>
          <a:gradFill>
            <a:gsLst>
              <a:gs pos="0">
                <a:srgbClr val="0072CB"/>
              </a:gs>
              <a:gs pos="35000">
                <a:srgbClr val="0072CB"/>
              </a:gs>
              <a:gs pos="100000">
                <a:schemeClr val="accent1">
                  <a:tint val="15000"/>
                  <a:satMod val="350000"/>
                </a:schemeClr>
              </a:gs>
            </a:gsLst>
          </a:gradFill>
          <a:effectLst/>
        </p:spPr>
        <p:style>
          <a:lnRef idx="0">
            <a:srgbClr val="FFFFFF"/>
          </a:lnRef>
          <a:fillRef idx="2">
            <a:schemeClr val="accent1"/>
          </a:fillRef>
          <a:effectRef idx="1">
            <a:schemeClr val="accent1"/>
          </a:effectRef>
          <a:fontRef idx="minor">
            <a:schemeClr val="lt1"/>
          </a:fontRef>
        </p:style>
        <p:txBody>
          <a:bodyPr wrap="square">
            <a:noAutofit/>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400">
                <a:solidFill>
                  <a:schemeClr val="tx1"/>
                </a:solidFill>
                <a:latin typeface="黑体" panose="02010609060101010101" charset="-122"/>
                <a:ea typeface="黑体" panose="02010609060101010101" charset="-122"/>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黑体" panose="02010609060101010101" charset="-122"/>
                <a:ea typeface="黑体" panose="02010609060101010101" charset="-122"/>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黑体" panose="02010609060101010101" charset="-122"/>
                <a:ea typeface="黑体" panose="02010609060101010101" charset="-122"/>
              </a:defRPr>
            </a:lvl3pPr>
            <a:lvl4pPr marL="1600200" indent="-228600" algn="l" rtl="0" eaLnBrk="0" fontAlgn="base" hangingPunct="0">
              <a:spcBef>
                <a:spcPct val="20000"/>
              </a:spcBef>
              <a:spcAft>
                <a:spcPct val="0"/>
              </a:spcAft>
              <a:buChar char="–"/>
              <a:defRPr sz="2400">
                <a:solidFill>
                  <a:schemeClr val="tx1"/>
                </a:solidFill>
                <a:latin typeface="黑体" panose="02010609060101010101" charset="-122"/>
                <a:ea typeface="黑体" panose="02010609060101010101"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charset="-122"/>
              </a:defRPr>
            </a:lvl5pPr>
          </a:lstStyle>
          <a:p>
            <a:pPr marL="0" indent="0" algn="ctr">
              <a:buNone/>
            </a:pPr>
            <a:r>
              <a:rPr lang="zh-CN" altLang="en-US" b="1">
                <a:solidFill>
                  <a:schemeClr val="bg1"/>
                </a:solidFill>
                <a:latin typeface="微软雅黑" panose="020B0503020204020204" charset="-122"/>
                <a:ea typeface="微软雅黑" panose="020B0503020204020204" charset="-122"/>
                <a:sym typeface="+mn-ea"/>
              </a:rPr>
              <a:t>工业合成氨的</a:t>
            </a:r>
            <a:r>
              <a:rPr lang="zh-CN" altLang="zh-CN" b="1" kern="0">
                <a:solidFill>
                  <a:schemeClr val="bg1"/>
                </a:solidFill>
                <a:latin typeface="微软雅黑" panose="020B0503020204020204" charset="-122"/>
                <a:ea typeface="微软雅黑" panose="020B0503020204020204" charset="-122"/>
                <a:sym typeface="+mn-ea"/>
              </a:rPr>
              <a:t>原理分析</a:t>
            </a:r>
            <a:endParaRPr lang="zh-CN" altLang="zh-CN" b="1" kern="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 name="文本框 13"/>
          <p:cNvSpPr txBox="1"/>
          <p:nvPr>
            <p:custDataLst>
              <p:tags r:id="rId4"/>
            </p:custDataLst>
          </p:nvPr>
        </p:nvSpPr>
        <p:spPr>
          <a:xfrm>
            <a:off x="2038350" y="3643630"/>
            <a:ext cx="3632200" cy="596265"/>
          </a:xfrm>
          <a:prstGeom prst="rect">
            <a:avLst/>
          </a:prstGeom>
          <a:gradFill>
            <a:gsLst>
              <a:gs pos="0">
                <a:srgbClr val="0072CB"/>
              </a:gs>
              <a:gs pos="35000">
                <a:srgbClr val="0072CB"/>
              </a:gs>
              <a:gs pos="100000">
                <a:schemeClr val="accent1">
                  <a:tint val="15000"/>
                  <a:satMod val="350000"/>
                </a:schemeClr>
              </a:gs>
            </a:gsLst>
          </a:gradFill>
          <a:effectLst/>
        </p:spPr>
        <p:style>
          <a:lnRef idx="0">
            <a:srgbClr val="FFFFFF"/>
          </a:lnRef>
          <a:fillRef idx="2">
            <a:schemeClr val="accent1"/>
          </a:fillRef>
          <a:effectRef idx="1">
            <a:schemeClr val="accent1"/>
          </a:effectRef>
          <a:fontRef idx="minor">
            <a:schemeClr val="lt1"/>
          </a:fontRef>
        </p:style>
        <p:txBody>
          <a:bodyPr wrap="square">
            <a:noAutofit/>
          </a:bodyP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400">
                <a:solidFill>
                  <a:schemeClr val="tx1"/>
                </a:solidFill>
                <a:latin typeface="黑体" panose="02010609060101010101" charset="-122"/>
                <a:ea typeface="黑体" panose="02010609060101010101" charset="-122"/>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黑体" panose="02010609060101010101" charset="-122"/>
                <a:ea typeface="黑体" panose="02010609060101010101" charset="-122"/>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黑体" panose="02010609060101010101" charset="-122"/>
                <a:ea typeface="黑体" panose="02010609060101010101" charset="-122"/>
              </a:defRPr>
            </a:lvl3pPr>
            <a:lvl4pPr marL="1600200" indent="-228600" algn="l" rtl="0" eaLnBrk="0" fontAlgn="base" hangingPunct="0">
              <a:spcBef>
                <a:spcPct val="20000"/>
              </a:spcBef>
              <a:spcAft>
                <a:spcPct val="0"/>
              </a:spcAft>
              <a:buChar char="–"/>
              <a:defRPr sz="2400">
                <a:solidFill>
                  <a:schemeClr val="tx1"/>
                </a:solidFill>
                <a:latin typeface="黑体" panose="02010609060101010101" charset="-122"/>
                <a:ea typeface="黑体" panose="02010609060101010101"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charset="-122"/>
              </a:defRPr>
            </a:lvl5pPr>
          </a:lstStyle>
          <a:p>
            <a:pPr marL="0" lvl="1" indent="0" algn="ctr">
              <a:lnSpc>
                <a:spcPct val="120000"/>
              </a:lnSpc>
              <a:buNone/>
            </a:pPr>
            <a:r>
              <a:rPr lang="zh-CN" altLang="en-US" b="1">
                <a:solidFill>
                  <a:schemeClr val="bg1"/>
                </a:solidFill>
                <a:latin typeface="微软雅黑" panose="020B0503020204020204" charset="-122"/>
                <a:ea typeface="微软雅黑" panose="020B0503020204020204" charset="-122"/>
                <a:sym typeface="+mn-ea"/>
              </a:rPr>
              <a:t>工业合成氨的适宜条件</a:t>
            </a:r>
            <a:endParaRPr lang="zh-CN" altLang="en-US" b="1" kern="100" noProof="0" smtClean="0">
              <a:ln w="38100">
                <a:noFill/>
              </a:ln>
              <a:solidFill>
                <a:schemeClr val="bg1"/>
              </a:solidFill>
              <a:effectLst>
                <a:innerShdw blurRad="63500" dist="50800" dir="16200000">
                  <a:prstClr val="black">
                    <a:alpha val="50000"/>
                  </a:prstClr>
                </a:inn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5" name="左大括号 14"/>
          <p:cNvSpPr/>
          <p:nvPr>
            <p:custDataLst>
              <p:tags r:id="rId5"/>
            </p:custDataLst>
          </p:nvPr>
        </p:nvSpPr>
        <p:spPr>
          <a:xfrm>
            <a:off x="5607685" y="1199515"/>
            <a:ext cx="152400" cy="972820"/>
          </a:xfrm>
          <a:prstGeom prst="leftBrace">
            <a:avLst>
              <a:gd name="adj1" fmla="val 46389"/>
              <a:gd name="adj2" fmla="val 50000"/>
            </a:avLst>
          </a:prstGeom>
          <a:noFill/>
          <a:ln w="25400" cap="flat" cmpd="sng">
            <a:solidFill>
              <a:srgbClr val="0072CB"/>
            </a:solidFill>
            <a:prstDash val="solid"/>
            <a:headEnd type="none" w="med" len="med"/>
            <a:tailEnd type="none" w="med" len="med"/>
          </a:ln>
          <a:effectLst/>
        </p:spPr>
        <p:txBody>
          <a:bodyPr anchor="ct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400">
                <a:solidFill>
                  <a:schemeClr val="tx1"/>
                </a:solidFill>
                <a:latin typeface="黑体" panose="02010609060101010101" charset="-122"/>
                <a:ea typeface="黑体" panose="02010609060101010101" charset="-122"/>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黑体" panose="02010609060101010101" charset="-122"/>
                <a:ea typeface="黑体" panose="02010609060101010101" charset="-122"/>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黑体" panose="02010609060101010101" charset="-122"/>
                <a:ea typeface="黑体" panose="02010609060101010101" charset="-122"/>
              </a:defRPr>
            </a:lvl3pPr>
            <a:lvl4pPr marL="1600200" indent="-228600" algn="l" rtl="0" eaLnBrk="0" fontAlgn="base" hangingPunct="0">
              <a:spcBef>
                <a:spcPct val="20000"/>
              </a:spcBef>
              <a:spcAft>
                <a:spcPct val="0"/>
              </a:spcAft>
              <a:buChar char="–"/>
              <a:defRPr sz="2400">
                <a:solidFill>
                  <a:schemeClr val="tx1"/>
                </a:solidFill>
                <a:latin typeface="黑体" panose="02010609060101010101" charset="-122"/>
                <a:ea typeface="黑体" panose="02010609060101010101"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charset="-122"/>
              </a:defRPr>
            </a:lvl5pPr>
          </a:lstStyle>
          <a:p>
            <a:pPr marL="0" lvl="0" indent="0" algn="ctr" eaLnBrk="1" hangingPunct="1">
              <a:spcBef>
                <a:spcPct val="0"/>
              </a:spcBef>
              <a:buClrTx/>
              <a:buFont typeface="Arial" panose="020B0604020202020204" pitchFamily="34" charset="0"/>
              <a:buNone/>
            </a:pPr>
            <a:endParaRPr lang="zh-CN" altLang="en-US">
              <a:solidFill>
                <a:schemeClr val="bg1"/>
              </a:solidFill>
              <a:latin typeface="微软雅黑" panose="020B0503020204020204" charset="-122"/>
              <a:ea typeface="微软雅黑" panose="020B0503020204020204" charset="-122"/>
            </a:endParaRPr>
          </a:p>
        </p:txBody>
      </p:sp>
      <p:sp>
        <p:nvSpPr>
          <p:cNvPr id="16" name="左大括号 15"/>
          <p:cNvSpPr/>
          <p:nvPr>
            <p:custDataLst>
              <p:tags r:id="rId6"/>
            </p:custDataLst>
          </p:nvPr>
        </p:nvSpPr>
        <p:spPr>
          <a:xfrm>
            <a:off x="5749925" y="2653030"/>
            <a:ext cx="435610" cy="2640965"/>
          </a:xfrm>
          <a:prstGeom prst="leftBrace">
            <a:avLst>
              <a:gd name="adj1" fmla="val 8325"/>
              <a:gd name="adj2" fmla="val 50000"/>
            </a:avLst>
          </a:prstGeom>
          <a:noFill/>
          <a:ln w="25400" cap="flat" cmpd="sng">
            <a:solidFill>
              <a:srgbClr val="0072CB"/>
            </a:solidFill>
            <a:prstDash val="solid"/>
            <a:headEnd type="none" w="med" len="med"/>
            <a:tailEnd type="none" w="med" len="med"/>
          </a:ln>
          <a:effectLst/>
        </p:spPr>
        <p:txBody>
          <a:bodyPr anchor="ctr"/>
          <a:lstStyle>
            <a:lvl1pPr marL="342900" indent="-342900" algn="l" rtl="0" eaLnBrk="0" fontAlgn="base" hangingPunct="0">
              <a:spcBef>
                <a:spcPct val="20000"/>
              </a:spcBef>
              <a:spcAft>
                <a:spcPct val="0"/>
              </a:spcAft>
              <a:buClr>
                <a:schemeClr val="tx2"/>
              </a:buClr>
              <a:buFont typeface="Wingdings" panose="05000000000000000000" pitchFamily="2" charset="2"/>
              <a:buChar char="v"/>
              <a:defRPr sz="2400">
                <a:solidFill>
                  <a:schemeClr val="tx1"/>
                </a:solidFill>
                <a:latin typeface="黑体" panose="02010609060101010101" charset="-122"/>
                <a:ea typeface="黑体" panose="02010609060101010101" charset="-122"/>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黑体" panose="02010609060101010101" charset="-122"/>
                <a:ea typeface="黑体" panose="02010609060101010101" charset="-122"/>
              </a:defRPr>
            </a:lvl2pPr>
            <a:lvl3pPr marL="1143000" indent="-228600" algn="l" rtl="0" eaLnBrk="0" fontAlgn="base" hangingPunct="0">
              <a:spcBef>
                <a:spcPct val="20000"/>
              </a:spcBef>
              <a:spcAft>
                <a:spcPct val="0"/>
              </a:spcAft>
              <a:buClr>
                <a:schemeClr val="accent2"/>
              </a:buClr>
              <a:buChar char="•"/>
              <a:defRPr sz="2400">
                <a:solidFill>
                  <a:schemeClr val="tx1"/>
                </a:solidFill>
                <a:latin typeface="黑体" panose="02010609060101010101" charset="-122"/>
                <a:ea typeface="黑体" panose="02010609060101010101" charset="-122"/>
              </a:defRPr>
            </a:lvl3pPr>
            <a:lvl4pPr marL="1600200" indent="-228600" algn="l" rtl="0" eaLnBrk="0" fontAlgn="base" hangingPunct="0">
              <a:spcBef>
                <a:spcPct val="20000"/>
              </a:spcBef>
              <a:spcAft>
                <a:spcPct val="0"/>
              </a:spcAft>
              <a:buChar char="–"/>
              <a:defRPr sz="2400">
                <a:solidFill>
                  <a:schemeClr val="tx1"/>
                </a:solidFill>
                <a:latin typeface="黑体" panose="02010609060101010101" charset="-122"/>
                <a:ea typeface="黑体" panose="02010609060101010101" charset="-122"/>
              </a:defRPr>
            </a:lvl4pPr>
            <a:lvl5pPr marL="2057400" indent="-228600" algn="l" rtl="0" eaLnBrk="0" fontAlgn="base" hangingPunct="0">
              <a:spcBef>
                <a:spcPct val="20000"/>
              </a:spcBef>
              <a:spcAft>
                <a:spcPct val="0"/>
              </a:spcAft>
              <a:buChar char="»"/>
              <a:defRPr sz="2000">
                <a:solidFill>
                  <a:schemeClr val="tx1"/>
                </a:solidFill>
                <a:latin typeface="+mn-lt"/>
                <a:ea typeface="黑体" panose="02010609060101010101" charset="-122"/>
              </a:defRPr>
            </a:lvl5pPr>
          </a:lstStyle>
          <a:p>
            <a:pPr marL="0" lvl="0" indent="0" algn="ctr" eaLnBrk="1" hangingPunct="1">
              <a:spcBef>
                <a:spcPct val="0"/>
              </a:spcBef>
              <a:buClrTx/>
              <a:buFont typeface="Arial" panose="020B0604020202020204" pitchFamily="34" charset="0"/>
              <a:buNone/>
            </a:pPr>
            <a:endParaRPr lang="zh-CN" altLang="en-US" sz="2115">
              <a:solidFill>
                <a:schemeClr val="bg1"/>
              </a:solidFill>
              <a:latin typeface="微软雅黑" panose="020B0503020204020204" charset="-122"/>
              <a:ea typeface="微软雅黑" panose="020B0503020204020204" charset="-122"/>
            </a:endParaRPr>
          </a:p>
        </p:txBody>
      </p:sp>
      <p:sp>
        <p:nvSpPr>
          <p:cNvPr id="22" name="文本框 21"/>
          <p:cNvSpPr txBox="1"/>
          <p:nvPr>
            <p:custDataLst>
              <p:tags r:id="rId7"/>
            </p:custDataLst>
          </p:nvPr>
        </p:nvSpPr>
        <p:spPr>
          <a:xfrm>
            <a:off x="5760085" y="1189990"/>
            <a:ext cx="2851150" cy="430530"/>
          </a:xfrm>
          <a:prstGeom prst="rect">
            <a:avLst/>
          </a:prstGeom>
          <a:noFill/>
        </p:spPr>
        <p:txBody>
          <a:bodyPr wrap="square" rtlCol="0" anchor="t">
            <a:noAutofit/>
          </a:bodyPr>
          <a:lstStyle/>
          <a:p>
            <a:r>
              <a:rPr lang="zh-CN" sz="20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合成氨反应的特点</a:t>
            </a:r>
            <a:endParaRPr lang="en-US" altLang="zh-CN" sz="2000" b="1">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custDataLst>
              <p:tags r:id="rId8"/>
            </p:custDataLst>
          </p:nvPr>
        </p:nvSpPr>
        <p:spPr>
          <a:xfrm>
            <a:off x="5760085" y="1775460"/>
            <a:ext cx="3180715" cy="396875"/>
          </a:xfrm>
          <a:prstGeom prst="rect">
            <a:avLst/>
          </a:prstGeom>
          <a:noFill/>
        </p:spPr>
        <p:txBody>
          <a:bodyPr wrap="square" rtlCol="0" anchor="t">
            <a:noAutofit/>
          </a:bodyPr>
          <a:lstStyle/>
          <a:p>
            <a:pPr indent="0" fontAlgn="auto">
              <a:lnSpc>
                <a:spcPct val="100000"/>
              </a:lnSpc>
            </a:pPr>
            <a:r>
              <a:rPr lang="zh-CN" sz="20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合成氨的</a:t>
            </a:r>
            <a:r>
              <a:rPr lang="zh-CN" altLang="zh-CN" sz="2000" b="1" kern="0" noProof="0" smtClean="0">
                <a:ln>
                  <a:noFill/>
                </a:ln>
                <a:solidFill>
                  <a:srgbClr val="000000"/>
                </a:solidFill>
                <a:effectLst/>
                <a:highlight>
                  <a:srgbClr val="000000">
                    <a:alpha val="0"/>
                  </a:srgbClr>
                </a:highlight>
                <a:uLnTx/>
                <a:uFillTx/>
                <a:latin typeface="微软雅黑" panose="020B0503020204020204" charset="-122"/>
                <a:ea typeface="微软雅黑" panose="020B0503020204020204" charset="-122"/>
                <a:cs typeface="微软雅黑" panose="020B0503020204020204" charset="-122"/>
                <a:sym typeface="+mn-ea"/>
              </a:rPr>
              <a:t>原理分析</a:t>
            </a:r>
            <a:endParaRPr lang="zh-CN" altLang="en-US" sz="2000" b="1">
              <a:solidFill>
                <a:schemeClr val="tx1"/>
              </a:solidFill>
              <a:latin typeface="微软雅黑" panose="020B0503020204020204" charset="-122"/>
              <a:ea typeface="微软雅黑" panose="020B0503020204020204" charset="-122"/>
              <a:sym typeface="+mn-ea"/>
            </a:endParaRPr>
          </a:p>
        </p:txBody>
      </p:sp>
      <p:sp>
        <p:nvSpPr>
          <p:cNvPr id="24" name="文本框 23"/>
          <p:cNvSpPr txBox="1"/>
          <p:nvPr>
            <p:custDataLst>
              <p:tags r:id="rId9"/>
            </p:custDataLst>
          </p:nvPr>
        </p:nvSpPr>
        <p:spPr>
          <a:xfrm>
            <a:off x="6264910" y="2565400"/>
            <a:ext cx="3209925" cy="398780"/>
          </a:xfrm>
          <a:prstGeom prst="rect">
            <a:avLst/>
          </a:prstGeom>
          <a:noFill/>
        </p:spPr>
        <p:txBody>
          <a:bodyPr wrap="square" rtlCol="0" anchor="t">
            <a:spAutoFit/>
          </a:bodyPr>
          <a:lstStyle/>
          <a:p>
            <a:pPr>
              <a:lnSpc>
                <a:spcPct val="100000"/>
              </a:lnSpc>
            </a:pPr>
            <a:r>
              <a:rPr lang="zh-CN" altLang="en-US" sz="2000" b="1">
                <a:highlight>
                  <a:srgbClr val="000000">
                    <a:alpha val="0"/>
                  </a:srgbClr>
                </a:highlight>
                <a:latin typeface="Times New Roman" panose="02020603050405020304" charset="0"/>
                <a:ea typeface="微软雅黑" panose="020B0503020204020204" charset="-122"/>
                <a:cs typeface="微软雅黑" panose="020B0503020204020204" charset="-122"/>
                <a:sym typeface="+mn-ea"/>
              </a:rPr>
              <a:t>压强</a:t>
            </a:r>
            <a:endParaRPr lang="zh-CN" altLang="en-US" sz="2000" b="1">
              <a:effectLst/>
              <a:latin typeface="Times New Roman" panose="02020603050405020304" charset="0"/>
              <a:ea typeface="微软雅黑" panose="020B0503020204020204" charset="-122"/>
              <a:cs typeface="Times New Roman" panose="02020603050405020304" charset="0"/>
              <a:sym typeface="+mn-ea"/>
            </a:endParaRPr>
          </a:p>
        </p:txBody>
      </p:sp>
      <p:sp>
        <p:nvSpPr>
          <p:cNvPr id="25" name="文本框 24"/>
          <p:cNvSpPr txBox="1"/>
          <p:nvPr>
            <p:custDataLst>
              <p:tags r:id="rId10"/>
            </p:custDataLst>
          </p:nvPr>
        </p:nvSpPr>
        <p:spPr>
          <a:xfrm>
            <a:off x="6287770" y="4140200"/>
            <a:ext cx="3928110" cy="398780"/>
          </a:xfrm>
          <a:prstGeom prst="rect">
            <a:avLst/>
          </a:prstGeom>
          <a:noFill/>
        </p:spPr>
        <p:txBody>
          <a:bodyPr wrap="square" rtlCol="0" anchor="t">
            <a:spAutoFit/>
          </a:bodyPr>
          <a:lstStyle/>
          <a:p>
            <a:r>
              <a:rPr lang="zh-CN" altLang="en-US" sz="2000" b="1">
                <a:latin typeface="微软雅黑" panose="020B0503020204020204" charset="-122"/>
                <a:ea typeface="微软雅黑" panose="020B0503020204020204" charset="-122"/>
                <a:cs typeface="微软雅黑" panose="020B0503020204020204" charset="-122"/>
                <a:sym typeface="+mn-ea"/>
              </a:rPr>
              <a:t>合成氨工艺条件的选择</a:t>
            </a:r>
            <a:endParaRPr lang="zh-CN" altLang="en-US" sz="2000" b="1" kern="0" smtClean="0">
              <a:solidFill>
                <a:srgbClr val="000000"/>
              </a:solidFill>
              <a:latin typeface="微软雅黑" panose="020B0503020204020204" charset="-122"/>
              <a:ea typeface="微软雅黑" panose="020B0503020204020204" charset="-122"/>
              <a:cs typeface="微软雅黑" panose="020B0503020204020204" charset="-122"/>
              <a:sym typeface="+mn-ea"/>
            </a:endParaRPr>
          </a:p>
        </p:txBody>
      </p:sp>
      <p:sp>
        <p:nvSpPr>
          <p:cNvPr id="26" name="文本框 25"/>
          <p:cNvSpPr txBox="1"/>
          <p:nvPr>
            <p:custDataLst>
              <p:tags r:id="rId11"/>
            </p:custDataLst>
          </p:nvPr>
        </p:nvSpPr>
        <p:spPr>
          <a:xfrm>
            <a:off x="6291580" y="3106420"/>
            <a:ext cx="3154680" cy="398780"/>
          </a:xfrm>
          <a:prstGeom prst="rect">
            <a:avLst/>
          </a:prstGeom>
          <a:noFill/>
        </p:spPr>
        <p:txBody>
          <a:bodyPr wrap="square" rtlCol="0" anchor="t">
            <a:spAutoFit/>
          </a:bodyPr>
          <a:lstStyle/>
          <a:p>
            <a:pPr algn="just">
              <a:lnSpc>
                <a:spcPct val="100000"/>
              </a:lnSpc>
            </a:pPr>
            <a:r>
              <a:rPr lang="zh-CN" altLang="en-US" sz="2000" b="1">
                <a:highlight>
                  <a:srgbClr val="000000">
                    <a:alpha val="0"/>
                  </a:srgbClr>
                </a:highlight>
                <a:latin typeface="Times New Roman" panose="02020603050405020304" charset="0"/>
                <a:ea typeface="微软雅黑" panose="020B0503020204020204" charset="-122"/>
                <a:cs typeface="Times New Roman" panose="02020603050405020304" charset="0"/>
                <a:sym typeface="+mn-ea"/>
              </a:rPr>
              <a:t>温度</a:t>
            </a:r>
            <a:endParaRPr lang="zh-CN" altLang="en-US" sz="2000" b="1">
              <a:latin typeface="微软雅黑" panose="020B0503020204020204" charset="-122"/>
              <a:ea typeface="微软雅黑" panose="020B0503020204020204" charset="-122"/>
              <a:cs typeface="微软雅黑" panose="020B0503020204020204" charset="-122"/>
              <a:sym typeface="+mn-lt"/>
            </a:endParaRPr>
          </a:p>
        </p:txBody>
      </p:sp>
      <p:sp>
        <p:nvSpPr>
          <p:cNvPr id="27" name="文本框 26"/>
          <p:cNvSpPr txBox="1"/>
          <p:nvPr>
            <p:custDataLst>
              <p:tags r:id="rId12"/>
            </p:custDataLst>
          </p:nvPr>
        </p:nvSpPr>
        <p:spPr>
          <a:xfrm>
            <a:off x="6287770" y="3623310"/>
            <a:ext cx="2849245" cy="398780"/>
          </a:xfrm>
          <a:prstGeom prst="rect">
            <a:avLst/>
          </a:prstGeom>
          <a:noFill/>
        </p:spPr>
        <p:txBody>
          <a:bodyPr wrap="square" rtlCol="0" anchor="t">
            <a:spAutoFit/>
          </a:bodyPr>
          <a:lstStyle/>
          <a:p>
            <a:pPr>
              <a:lnSpc>
                <a:spcPct val="100000"/>
              </a:lnSpc>
            </a:pPr>
            <a:r>
              <a:rPr lang="zh-CN" altLang="en-US" sz="2000" b="1">
                <a:latin typeface="Calibri" panose="020F0502020204030204"/>
                <a:ea typeface="微软雅黑" panose="020B0503020204020204" charset="-122"/>
                <a:cs typeface="Times New Roman" panose="02020603050405020304" charset="0"/>
                <a:sym typeface="+mn-ea"/>
              </a:rPr>
              <a:t>催化剂</a:t>
            </a:r>
            <a:endParaRPr lang="en-US" altLang="zh-CN" sz="2000" b="1">
              <a:solidFill>
                <a:srgbClr val="000000"/>
              </a:solidFill>
              <a:latin typeface="Times New Roman" panose="02020603050405020304" charset="0"/>
              <a:ea typeface="微软雅黑" panose="020B0503020204020204" charset="-122"/>
              <a:cs typeface="Times New Roman" panose="02020603050405020304" charset="0"/>
              <a:sym typeface="+mn-ea"/>
            </a:endParaRPr>
          </a:p>
        </p:txBody>
      </p:sp>
      <p:sp>
        <p:nvSpPr>
          <p:cNvPr id="28" name="文本框 27"/>
          <p:cNvSpPr txBox="1"/>
          <p:nvPr>
            <p:custDataLst>
              <p:tags r:id="rId13"/>
            </p:custDataLst>
          </p:nvPr>
        </p:nvSpPr>
        <p:spPr>
          <a:xfrm>
            <a:off x="6322695" y="5256530"/>
            <a:ext cx="3893185" cy="439420"/>
          </a:xfrm>
          <a:prstGeom prst="rect">
            <a:avLst/>
          </a:prstGeom>
          <a:noFill/>
        </p:spPr>
        <p:txBody>
          <a:bodyPr wrap="square" rtlCol="0" anchor="t">
            <a:noAutofit/>
          </a:bodyPr>
          <a:lstStyle/>
          <a:p>
            <a:r>
              <a:rPr lang="zh-CN" altLang="en-US" sz="2000" b="1">
                <a:latin typeface="微软雅黑" panose="020B0503020204020204" charset="-122"/>
                <a:ea typeface="微软雅黑" panose="020B0503020204020204" charset="-122"/>
                <a:sym typeface="+mn-ea"/>
              </a:rPr>
              <a:t>化学反应调控需要注意的问题</a:t>
            </a:r>
            <a:endParaRPr lang="zh-CN" altLang="en-US" sz="2000" b="1">
              <a:latin typeface="Times New Roman" panose="02020603050405020304" charset="0"/>
              <a:ea typeface="微软雅黑" panose="020B0503020204020204" charset="-122"/>
              <a:cs typeface="Times New Roman" panose="02020603050405020304" charset="0"/>
              <a:sym typeface="+mn-lt"/>
            </a:endParaRPr>
          </a:p>
          <a:p>
            <a:endParaRPr lang="zh-CN" altLang="zh-CN" sz="2000" b="1">
              <a:solidFill>
                <a:schemeClr val="tx1"/>
              </a:solidFill>
              <a:latin typeface="Times New Roman" panose="02020603050405020304" charset="0"/>
              <a:ea typeface="微软雅黑" panose="020B0503020204020204" charset="-122"/>
              <a:sym typeface="Times New Roman" panose="02020603050405020304" charset="0"/>
            </a:endParaRPr>
          </a:p>
        </p:txBody>
      </p:sp>
      <p:sp>
        <p:nvSpPr>
          <p:cNvPr id="29" name="文本框 28"/>
          <p:cNvSpPr txBox="1"/>
          <p:nvPr>
            <p:custDataLst>
              <p:tags r:id="rId14"/>
            </p:custDataLst>
          </p:nvPr>
        </p:nvSpPr>
        <p:spPr>
          <a:xfrm>
            <a:off x="6309995" y="4698365"/>
            <a:ext cx="3854450" cy="399415"/>
          </a:xfrm>
          <a:prstGeom prst="rect">
            <a:avLst/>
          </a:prstGeom>
          <a:noFill/>
        </p:spPr>
        <p:txBody>
          <a:bodyPr wrap="square" rtlCol="0" anchor="t">
            <a:noAutofit/>
          </a:bodyPr>
          <a:lstStyle/>
          <a:p>
            <a:pPr indent="0" algn="l" fontAlgn="auto">
              <a:lnSpc>
                <a:spcPct val="100000"/>
              </a:lnSpc>
            </a:pPr>
            <a:r>
              <a:rPr lang="zh-CN" altLang="en-US" sz="2000" b="1">
                <a:latin typeface="微软雅黑" panose="020B0503020204020204" charset="-122"/>
                <a:ea typeface="微软雅黑" panose="020B0503020204020204" charset="-122"/>
                <a:cs typeface="微软雅黑" panose="020B0503020204020204" charset="-122"/>
                <a:sym typeface="+mn-ea"/>
              </a:rPr>
              <a:t>合成氨的工业流程</a:t>
            </a:r>
            <a:endParaRPr lang="zh-CN" altLang="en-US" sz="2000" b="1">
              <a:latin typeface="微软雅黑" panose="020B0503020204020204" charset="-122"/>
              <a:ea typeface="微软雅黑" panose="020B0503020204020204" charset="-122"/>
              <a:cs typeface="微软雅黑" panose="020B0503020204020204" charset="-122"/>
              <a:sym typeface="+mn-ea"/>
            </a:endParaRPr>
          </a:p>
        </p:txBody>
      </p:sp>
    </p:spTree>
    <p:custDataLst>
      <p:tags r:id="rId1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left)">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p:cTn id="29" dur="1000" fill="hold"/>
                                        <p:tgtEl>
                                          <p:spTgt spid="22"/>
                                        </p:tgtEl>
                                        <p:attrNameLst>
                                          <p:attrName>ppt_w</p:attrName>
                                        </p:attrNameLst>
                                      </p:cBhvr>
                                      <p:tavLst>
                                        <p:tav tm="0">
                                          <p:val>
                                            <p:strVal val="#ppt_w*0.70"/>
                                          </p:val>
                                        </p:tav>
                                        <p:tav tm="100000">
                                          <p:val>
                                            <p:strVal val="#ppt_w"/>
                                          </p:val>
                                        </p:tav>
                                      </p:tavLst>
                                    </p:anim>
                                    <p:anim calcmode="lin" valueType="num">
                                      <p:cBhvr>
                                        <p:cTn id="30" dur="1000" fill="hold"/>
                                        <p:tgtEl>
                                          <p:spTgt spid="22"/>
                                        </p:tgtEl>
                                        <p:attrNameLst>
                                          <p:attrName>ppt_h</p:attrName>
                                        </p:attrNameLst>
                                      </p:cBhvr>
                                      <p:tavLst>
                                        <p:tav tm="0">
                                          <p:val>
                                            <p:strVal val="#ppt_h"/>
                                          </p:val>
                                        </p:tav>
                                        <p:tav tm="100000">
                                          <p:val>
                                            <p:strVal val="#ppt_h"/>
                                          </p:val>
                                        </p:tav>
                                      </p:tavLst>
                                    </p:anim>
                                    <p:animEffect transition="in" filter="fade">
                                      <p:cBhvr>
                                        <p:cTn id="31" dur="10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1000" fill="hold"/>
                                        <p:tgtEl>
                                          <p:spTgt spid="23"/>
                                        </p:tgtEl>
                                        <p:attrNameLst>
                                          <p:attrName>ppt_w</p:attrName>
                                        </p:attrNameLst>
                                      </p:cBhvr>
                                      <p:tavLst>
                                        <p:tav tm="0">
                                          <p:val>
                                            <p:strVal val="#ppt_w*0.70"/>
                                          </p:val>
                                        </p:tav>
                                        <p:tav tm="100000">
                                          <p:val>
                                            <p:strVal val="#ppt_w"/>
                                          </p:val>
                                        </p:tav>
                                      </p:tavLst>
                                    </p:anim>
                                    <p:anim calcmode="lin" valueType="num">
                                      <p:cBhvr>
                                        <p:cTn id="37" dur="1000" fill="hold"/>
                                        <p:tgtEl>
                                          <p:spTgt spid="23"/>
                                        </p:tgtEl>
                                        <p:attrNameLst>
                                          <p:attrName>ppt_h</p:attrName>
                                        </p:attrNameLst>
                                      </p:cBhvr>
                                      <p:tavLst>
                                        <p:tav tm="0">
                                          <p:val>
                                            <p:strVal val="#ppt_h"/>
                                          </p:val>
                                        </p:tav>
                                        <p:tav tm="100000">
                                          <p:val>
                                            <p:strVal val="#ppt_h"/>
                                          </p:val>
                                        </p:tav>
                                      </p:tavLst>
                                    </p:anim>
                                    <p:animEffect transition="in" filter="fade">
                                      <p:cBhvr>
                                        <p:cTn id="38" dur="1000"/>
                                        <p:tgtEl>
                                          <p:spTgt spid="2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grpId="0" nodeType="clickEffect">
                                  <p:stCondLst>
                                    <p:cond delay="0"/>
                                  </p:stCondLst>
                                  <p:childTnLst>
                                    <p:set>
                                      <p:cBhvr>
                                        <p:cTn id="47" dur="1" fill="hold">
                                          <p:stCondLst>
                                            <p:cond delay="0"/>
                                          </p:stCondLst>
                                        </p:cTn>
                                        <p:tgtEl>
                                          <p:spTgt spid="24"/>
                                        </p:tgtEl>
                                        <p:attrNameLst>
                                          <p:attrName>style.visibility</p:attrName>
                                        </p:attrNameLst>
                                      </p:cBhvr>
                                      <p:to>
                                        <p:strVal val="visible"/>
                                      </p:to>
                                    </p:set>
                                    <p:anim calcmode="lin" valueType="num">
                                      <p:cBhvr>
                                        <p:cTn id="48" dur="1000" fill="hold"/>
                                        <p:tgtEl>
                                          <p:spTgt spid="24"/>
                                        </p:tgtEl>
                                        <p:attrNameLst>
                                          <p:attrName>ppt_w</p:attrName>
                                        </p:attrNameLst>
                                      </p:cBhvr>
                                      <p:tavLst>
                                        <p:tav tm="0">
                                          <p:val>
                                            <p:strVal val="#ppt_w*0.70"/>
                                          </p:val>
                                        </p:tav>
                                        <p:tav tm="100000">
                                          <p:val>
                                            <p:strVal val="#ppt_w"/>
                                          </p:val>
                                        </p:tav>
                                      </p:tavLst>
                                    </p:anim>
                                    <p:anim calcmode="lin" valueType="num">
                                      <p:cBhvr>
                                        <p:cTn id="49" dur="1000" fill="hold"/>
                                        <p:tgtEl>
                                          <p:spTgt spid="24"/>
                                        </p:tgtEl>
                                        <p:attrNameLst>
                                          <p:attrName>ppt_h</p:attrName>
                                        </p:attrNameLst>
                                      </p:cBhvr>
                                      <p:tavLst>
                                        <p:tav tm="0">
                                          <p:val>
                                            <p:strVal val="#ppt_h"/>
                                          </p:val>
                                        </p:tav>
                                        <p:tav tm="100000">
                                          <p:val>
                                            <p:strVal val="#ppt_h"/>
                                          </p:val>
                                        </p:tav>
                                      </p:tavLst>
                                    </p:anim>
                                    <p:animEffect transition="in" filter="fade">
                                      <p:cBhvr>
                                        <p:cTn id="50" dur="10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anim calcmode="lin" valueType="num">
                                      <p:cBhvr>
                                        <p:cTn id="55" dur="1000" fill="hold"/>
                                        <p:tgtEl>
                                          <p:spTgt spid="26"/>
                                        </p:tgtEl>
                                        <p:attrNameLst>
                                          <p:attrName>ppt_w</p:attrName>
                                        </p:attrNameLst>
                                      </p:cBhvr>
                                      <p:tavLst>
                                        <p:tav tm="0">
                                          <p:val>
                                            <p:strVal val="#ppt_w*0.70"/>
                                          </p:val>
                                        </p:tav>
                                        <p:tav tm="100000">
                                          <p:val>
                                            <p:strVal val="#ppt_w"/>
                                          </p:val>
                                        </p:tav>
                                      </p:tavLst>
                                    </p:anim>
                                    <p:anim calcmode="lin" valueType="num">
                                      <p:cBhvr>
                                        <p:cTn id="56" dur="1000" fill="hold"/>
                                        <p:tgtEl>
                                          <p:spTgt spid="26"/>
                                        </p:tgtEl>
                                        <p:attrNameLst>
                                          <p:attrName>ppt_h</p:attrName>
                                        </p:attrNameLst>
                                      </p:cBhvr>
                                      <p:tavLst>
                                        <p:tav tm="0">
                                          <p:val>
                                            <p:strVal val="#ppt_h"/>
                                          </p:val>
                                        </p:tav>
                                        <p:tav tm="100000">
                                          <p:val>
                                            <p:strVal val="#ppt_h"/>
                                          </p:val>
                                        </p:tav>
                                      </p:tavLst>
                                    </p:anim>
                                    <p:animEffect transition="in" filter="fade">
                                      <p:cBhvr>
                                        <p:cTn id="57" dur="1000"/>
                                        <p:tgtEl>
                                          <p:spTgt spid="26"/>
                                        </p:tgtEl>
                                      </p:cBhvr>
                                    </p:animEffect>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 calcmode="lin" valueType="num">
                                      <p:cBhvr>
                                        <p:cTn id="62" dur="1000" fill="hold"/>
                                        <p:tgtEl>
                                          <p:spTgt spid="27"/>
                                        </p:tgtEl>
                                        <p:attrNameLst>
                                          <p:attrName>ppt_w</p:attrName>
                                        </p:attrNameLst>
                                      </p:cBhvr>
                                      <p:tavLst>
                                        <p:tav tm="0">
                                          <p:val>
                                            <p:strVal val="#ppt_w*0.70"/>
                                          </p:val>
                                        </p:tav>
                                        <p:tav tm="100000">
                                          <p:val>
                                            <p:strVal val="#ppt_w"/>
                                          </p:val>
                                        </p:tav>
                                      </p:tavLst>
                                    </p:anim>
                                    <p:anim calcmode="lin" valueType="num">
                                      <p:cBhvr>
                                        <p:cTn id="63" dur="1000" fill="hold"/>
                                        <p:tgtEl>
                                          <p:spTgt spid="27"/>
                                        </p:tgtEl>
                                        <p:attrNameLst>
                                          <p:attrName>ppt_h</p:attrName>
                                        </p:attrNameLst>
                                      </p:cBhvr>
                                      <p:tavLst>
                                        <p:tav tm="0">
                                          <p:val>
                                            <p:strVal val="#ppt_h"/>
                                          </p:val>
                                        </p:tav>
                                        <p:tav tm="100000">
                                          <p:val>
                                            <p:strVal val="#ppt_h"/>
                                          </p:val>
                                        </p:tav>
                                      </p:tavLst>
                                    </p:anim>
                                    <p:animEffect transition="in" filter="fade">
                                      <p:cBhvr>
                                        <p:cTn id="64" dur="1000"/>
                                        <p:tgtEl>
                                          <p:spTgt spid="27"/>
                                        </p:tgtEl>
                                      </p:cBhvr>
                                    </p:animEffect>
                                  </p:childTnLst>
                                </p:cTn>
                              </p:par>
                            </p:childTnLst>
                          </p:cTn>
                        </p:par>
                      </p:childTnLst>
                    </p:cTn>
                  </p:par>
                  <p:par>
                    <p:cTn id="65" fill="hold">
                      <p:stCondLst>
                        <p:cond delay="indefinite"/>
                      </p:stCondLst>
                      <p:childTnLst>
                        <p:par>
                          <p:cTn id="66" fill="hold">
                            <p:stCondLst>
                              <p:cond delay="0"/>
                            </p:stCondLst>
                            <p:childTnLst>
                              <p:par>
                                <p:cTn id="67" presetID="55" presetClass="entr" presetSubtype="0" fill="hold" grpId="0" nodeType="click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p:cTn id="69" dur="1000" fill="hold"/>
                                        <p:tgtEl>
                                          <p:spTgt spid="25"/>
                                        </p:tgtEl>
                                        <p:attrNameLst>
                                          <p:attrName>ppt_w</p:attrName>
                                        </p:attrNameLst>
                                      </p:cBhvr>
                                      <p:tavLst>
                                        <p:tav tm="0">
                                          <p:val>
                                            <p:strVal val="#ppt_w*0.70"/>
                                          </p:val>
                                        </p:tav>
                                        <p:tav tm="100000">
                                          <p:val>
                                            <p:strVal val="#ppt_w"/>
                                          </p:val>
                                        </p:tav>
                                      </p:tavLst>
                                    </p:anim>
                                    <p:anim calcmode="lin" valueType="num">
                                      <p:cBhvr>
                                        <p:cTn id="70" dur="1000" fill="hold"/>
                                        <p:tgtEl>
                                          <p:spTgt spid="25"/>
                                        </p:tgtEl>
                                        <p:attrNameLst>
                                          <p:attrName>ppt_h</p:attrName>
                                        </p:attrNameLst>
                                      </p:cBhvr>
                                      <p:tavLst>
                                        <p:tav tm="0">
                                          <p:val>
                                            <p:strVal val="#ppt_h"/>
                                          </p:val>
                                        </p:tav>
                                        <p:tav tm="100000">
                                          <p:val>
                                            <p:strVal val="#ppt_h"/>
                                          </p:val>
                                        </p:tav>
                                      </p:tavLst>
                                    </p:anim>
                                    <p:animEffect transition="in" filter="fade">
                                      <p:cBhvr>
                                        <p:cTn id="71" dur="10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55" presetClass="entr" presetSubtype="0" fill="hold" grpId="0" nodeType="clickEffect">
                                  <p:stCondLst>
                                    <p:cond delay="0"/>
                                  </p:stCondLst>
                                  <p:childTnLst>
                                    <p:set>
                                      <p:cBhvr>
                                        <p:cTn id="75" dur="1" fill="hold">
                                          <p:stCondLst>
                                            <p:cond delay="0"/>
                                          </p:stCondLst>
                                        </p:cTn>
                                        <p:tgtEl>
                                          <p:spTgt spid="29"/>
                                        </p:tgtEl>
                                        <p:attrNameLst>
                                          <p:attrName>style.visibility</p:attrName>
                                        </p:attrNameLst>
                                      </p:cBhvr>
                                      <p:to>
                                        <p:strVal val="visible"/>
                                      </p:to>
                                    </p:set>
                                    <p:anim calcmode="lin" valueType="num">
                                      <p:cBhvr>
                                        <p:cTn id="76" dur="1000" fill="hold"/>
                                        <p:tgtEl>
                                          <p:spTgt spid="29"/>
                                        </p:tgtEl>
                                        <p:attrNameLst>
                                          <p:attrName>ppt_w</p:attrName>
                                        </p:attrNameLst>
                                      </p:cBhvr>
                                      <p:tavLst>
                                        <p:tav tm="0">
                                          <p:val>
                                            <p:strVal val="#ppt_w*0.70"/>
                                          </p:val>
                                        </p:tav>
                                        <p:tav tm="100000">
                                          <p:val>
                                            <p:strVal val="#ppt_w"/>
                                          </p:val>
                                        </p:tav>
                                      </p:tavLst>
                                    </p:anim>
                                    <p:anim calcmode="lin" valueType="num">
                                      <p:cBhvr>
                                        <p:cTn id="77" dur="1000" fill="hold"/>
                                        <p:tgtEl>
                                          <p:spTgt spid="29"/>
                                        </p:tgtEl>
                                        <p:attrNameLst>
                                          <p:attrName>ppt_h</p:attrName>
                                        </p:attrNameLst>
                                      </p:cBhvr>
                                      <p:tavLst>
                                        <p:tav tm="0">
                                          <p:val>
                                            <p:strVal val="#ppt_h"/>
                                          </p:val>
                                        </p:tav>
                                        <p:tav tm="100000">
                                          <p:val>
                                            <p:strVal val="#ppt_h"/>
                                          </p:val>
                                        </p:tav>
                                      </p:tavLst>
                                    </p:anim>
                                    <p:animEffect transition="in" filter="fade">
                                      <p:cBhvr>
                                        <p:cTn id="78" dur="1000"/>
                                        <p:tgtEl>
                                          <p:spTgt spid="29"/>
                                        </p:tgtEl>
                                      </p:cBhvr>
                                    </p:animEffect>
                                  </p:childTnLst>
                                </p:cTn>
                              </p:par>
                            </p:childTnLst>
                          </p:cTn>
                        </p:par>
                      </p:childTnLst>
                    </p:cTn>
                  </p:par>
                  <p:par>
                    <p:cTn id="79" fill="hold">
                      <p:stCondLst>
                        <p:cond delay="indefinite"/>
                      </p:stCondLst>
                      <p:childTnLst>
                        <p:par>
                          <p:cTn id="80" fill="hold">
                            <p:stCondLst>
                              <p:cond delay="0"/>
                            </p:stCondLst>
                            <p:childTnLst>
                              <p:par>
                                <p:cTn id="81" presetID="55" presetClass="entr" presetSubtype="0" fill="hold" grpId="0" nodeType="clickEffect">
                                  <p:stCondLst>
                                    <p:cond delay="0"/>
                                  </p:stCondLst>
                                  <p:childTnLst>
                                    <p:set>
                                      <p:cBhvr>
                                        <p:cTn id="82" dur="1" fill="hold">
                                          <p:stCondLst>
                                            <p:cond delay="0"/>
                                          </p:stCondLst>
                                        </p:cTn>
                                        <p:tgtEl>
                                          <p:spTgt spid="28"/>
                                        </p:tgtEl>
                                        <p:attrNameLst>
                                          <p:attrName>style.visibility</p:attrName>
                                        </p:attrNameLst>
                                      </p:cBhvr>
                                      <p:to>
                                        <p:strVal val="visible"/>
                                      </p:to>
                                    </p:set>
                                    <p:anim calcmode="lin" valueType="num">
                                      <p:cBhvr>
                                        <p:cTn id="83" dur="1000" fill="hold"/>
                                        <p:tgtEl>
                                          <p:spTgt spid="28"/>
                                        </p:tgtEl>
                                        <p:attrNameLst>
                                          <p:attrName>ppt_w</p:attrName>
                                        </p:attrNameLst>
                                      </p:cBhvr>
                                      <p:tavLst>
                                        <p:tav tm="0">
                                          <p:val>
                                            <p:strVal val="#ppt_w*0.70"/>
                                          </p:val>
                                        </p:tav>
                                        <p:tav tm="100000">
                                          <p:val>
                                            <p:strVal val="#ppt_w"/>
                                          </p:val>
                                        </p:tav>
                                      </p:tavLst>
                                    </p:anim>
                                    <p:anim calcmode="lin" valueType="num">
                                      <p:cBhvr>
                                        <p:cTn id="84" dur="1000" fill="hold"/>
                                        <p:tgtEl>
                                          <p:spTgt spid="28"/>
                                        </p:tgtEl>
                                        <p:attrNameLst>
                                          <p:attrName>ppt_h</p:attrName>
                                        </p:attrNameLst>
                                      </p:cBhvr>
                                      <p:tavLst>
                                        <p:tav tm="0">
                                          <p:val>
                                            <p:strVal val="#ppt_h"/>
                                          </p:val>
                                        </p:tav>
                                        <p:tav tm="100000">
                                          <p:val>
                                            <p:strVal val="#ppt_h"/>
                                          </p:val>
                                        </p:tav>
                                      </p:tavLst>
                                    </p:anim>
                                    <p:animEffect transition="in" filter="fade">
                                      <p:cBhvr>
                                        <p:cTn id="85"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2" grpId="0" bldLvl="0" animBg="1"/>
      <p:bldP spid="13" grpId="0" bldLvl="0" animBg="1"/>
      <p:bldP spid="14" grpId="0" bldLvl="0" animBg="1"/>
      <p:bldP spid="15" grpId="0" bldLvl="0" animBg="1"/>
      <p:bldP spid="22" grpId="0"/>
      <p:bldP spid="23" grpId="0"/>
      <p:bldP spid="16" grpId="0" bldLvl="0" animBg="1"/>
      <p:bldP spid="24" grpId="0"/>
      <p:bldP spid="26" grpId="0"/>
      <p:bldP spid="25" grpId="0"/>
      <p:bldP spid="27"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901065" y="1027430"/>
            <a:ext cx="10278745" cy="5077460"/>
          </a:xfrm>
          <a:prstGeom prst="rect">
            <a:avLst/>
          </a:prstGeom>
        </p:spPr>
        <p:txBody>
          <a:bodyPr wrap="square">
            <a:spAutoFit/>
          </a:bodyPr>
          <a:lstStyle/>
          <a:p>
            <a:pPr defTabSz="1219200" fontAlgn="ctr">
              <a:lnSpc>
                <a:spcPct val="150000"/>
              </a:lnSpc>
              <a:defRPr/>
            </a:pP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1．氨是制造化肥的重要原料，如图为工业合成氨的流程图。下列有关说法错误的是(     )</a:t>
            </a:r>
            <a:endPar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endPar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endPar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endPar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A．</a:t>
            </a: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工业上制氮气一般用分离液态空气法</a:t>
            </a:r>
            <a:endPar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B．</a:t>
            </a: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步骤②、③、④、⑤均有利于提高反应物的平衡转化率</a:t>
            </a:r>
            <a:endPar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C．</a:t>
            </a: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步骤①中“净化”</a:t>
            </a: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N</a:t>
            </a:r>
            <a:r>
              <a:rPr lang="en-US" altLang="zh-CN" sz="2400" baseline="-25000">
                <a:solidFill>
                  <a:srgbClr val="000000"/>
                </a:solidFill>
                <a:latin typeface="Times New Roman" panose="02020603050405020304" charset="0"/>
                <a:ea typeface="微软雅黑" panose="020B0503020204020204" charset="-122"/>
                <a:cs typeface="Times New Roman" panose="02020603050405020304" charset="0"/>
                <a:sym typeface="+mn-lt"/>
              </a:rPr>
              <a:t>2</a:t>
            </a: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、H</a:t>
            </a:r>
            <a:r>
              <a:rPr lang="en-US" altLang="zh-CN" sz="2400" baseline="-25000">
                <a:solidFill>
                  <a:srgbClr val="000000"/>
                </a:solidFill>
                <a:latin typeface="Times New Roman" panose="02020603050405020304" charset="0"/>
                <a:ea typeface="微软雅黑" panose="020B0503020204020204" charset="-122"/>
                <a:cs typeface="Times New Roman" panose="02020603050405020304" charset="0"/>
                <a:sym typeface="+mn-lt"/>
              </a:rPr>
              <a:t>2</a:t>
            </a: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混合气体可以防止催化剂中毒</a:t>
            </a:r>
            <a:endPar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endParaRPr>
          </a:p>
          <a:p>
            <a:pPr defTabSz="1219200" fontAlgn="ctr">
              <a:lnSpc>
                <a:spcPct val="150000"/>
              </a:lnSpc>
              <a:defRPr/>
            </a:pPr>
            <a:r>
              <a:rPr lang="en-US" altLang="zh-CN" sz="2400">
                <a:solidFill>
                  <a:srgbClr val="000000"/>
                </a:solidFill>
                <a:latin typeface="Times New Roman" panose="02020603050405020304" charset="0"/>
                <a:ea typeface="微软雅黑" panose="020B0503020204020204" charset="-122"/>
                <a:cs typeface="Times New Roman" panose="02020603050405020304" charset="0"/>
                <a:sym typeface="+mn-lt"/>
              </a:rPr>
              <a:t>D．</a:t>
            </a:r>
            <a:r>
              <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rPr>
              <a:t>步骤③中温度选择500℃，主要是考虑催化剂的活性</a:t>
            </a:r>
            <a:endParaRPr lang="zh-CN" altLang="en-US" sz="2400">
              <a:solidFill>
                <a:srgbClr val="000000"/>
              </a:solidFill>
              <a:latin typeface="Times New Roman" panose="02020603050405020304" charset="0"/>
              <a:ea typeface="微软雅黑" panose="020B0503020204020204" charset="-122"/>
              <a:cs typeface="Times New Roman" panose="02020603050405020304" charset="0"/>
              <a:sym typeface="+mn-lt"/>
            </a:endParaRPr>
          </a:p>
        </p:txBody>
      </p:sp>
      <p:sp>
        <p:nvSpPr>
          <p:cNvPr id="22544" name="Text Box 16"/>
          <p:cNvSpPr txBox="1"/>
          <p:nvPr>
            <p:custDataLst>
              <p:tags r:id="rId2"/>
            </p:custDataLst>
          </p:nvPr>
        </p:nvSpPr>
        <p:spPr>
          <a:xfrm>
            <a:off x="2095626" y="1651917"/>
            <a:ext cx="973546" cy="460375"/>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defTabSz="1219200" eaLnBrk="1" hangingPunct="1">
              <a:spcBef>
                <a:spcPct val="50000"/>
              </a:spcBef>
              <a:buNone/>
            </a:pPr>
            <a:r>
              <a:rPr lang="en-US" altLang="zh-CN" sz="2400">
                <a:solidFill>
                  <a:srgbClr val="FF0000"/>
                </a:solidFill>
                <a:latin typeface="Times New Roman" panose="02020603050405020304" charset="0"/>
                <a:ea typeface="微软雅黑" panose="020B0503020204020204" charset="-122"/>
                <a:cs typeface="Times New Roman" panose="02020603050405020304" charset="0"/>
                <a:sym typeface="+mn-lt"/>
              </a:rPr>
              <a:t>B</a:t>
            </a:r>
            <a:endParaRPr lang="en-US" altLang="zh-CN" sz="2400">
              <a:solidFill>
                <a:srgbClr val="FF0000"/>
              </a:solidFill>
              <a:latin typeface="Times New Roman" panose="02020603050405020304" charset="0"/>
              <a:ea typeface="微软雅黑" panose="020B0503020204020204" charset="-122"/>
              <a:cs typeface="Times New Roman" panose="02020603050405020304" charset="0"/>
              <a:sym typeface="+mn-lt"/>
            </a:endParaRPr>
          </a:p>
        </p:txBody>
      </p:sp>
      <p:pic>
        <p:nvPicPr>
          <p:cNvPr id="574934298" name="图片 100001"/>
          <p:cNvPicPr>
            <a:picLocks noChangeAspect="1"/>
          </p:cNvPicPr>
          <p:nvPr>
            <p:custDataLst>
              <p:tags r:id="rId3"/>
            </p:custDataLst>
          </p:nvPr>
        </p:nvPicPr>
        <p:blipFill>
          <a:blip r:embed="rId4"/>
          <a:stretch>
            <a:fillRect/>
          </a:stretch>
        </p:blipFill>
        <p:spPr>
          <a:xfrm>
            <a:off x="1577340" y="2248535"/>
            <a:ext cx="8620125" cy="15900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4"/>
                                        </p:tgtEl>
                                        <p:attrNameLst>
                                          <p:attrName>style.visibility</p:attrName>
                                        </p:attrNameLst>
                                      </p:cBhvr>
                                      <p:to>
                                        <p:strVal val="visible"/>
                                      </p:to>
                                    </p:set>
                                    <p:animEffect transition="in" filter="blinds(horizontal)">
                                      <p:cBhvr>
                                        <p:cTn id="7" dur="500"/>
                                        <p:tgtEl>
                                          <p:spTgt spid="22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2320290" y="2505710"/>
            <a:ext cx="789940" cy="497205"/>
          </a:xfrm>
          <a:prstGeom prst="rect">
            <a:avLst/>
          </a:prstGeom>
          <a:noFill/>
        </p:spPr>
        <p:txBody>
          <a:bodyPr wrap="square" rtlCol="0" anchor="t">
            <a:spAutoFit/>
          </a:bodyPr>
          <a:lstStyle/>
          <a:p>
            <a:pPr>
              <a:lnSpc>
                <a:spcPct val="110000"/>
              </a:lnSpc>
            </a:pPr>
            <a:r>
              <a:rPr lang="en-US" sz="2400">
                <a:solidFill>
                  <a:srgbClr val="FF0000"/>
                </a:solidFill>
                <a:latin typeface="Times New Roman" panose="02020603050405020304" charset="0"/>
                <a:ea typeface="微软雅黑" panose="020B0503020204020204" charset="-122"/>
                <a:cs typeface="Times New Roman" panose="02020603050405020304" charset="0"/>
                <a:sym typeface="+mn-ea"/>
              </a:rPr>
              <a:t>C</a:t>
            </a:r>
            <a:endParaRPr lang="en-US" sz="2400">
              <a:solidFill>
                <a:srgbClr val="FF0000"/>
              </a:solidFill>
              <a:latin typeface="Times New Roman" panose="02020603050405020304" charset="0"/>
              <a:ea typeface="微软雅黑" panose="020B0503020204020204" charset="-122"/>
              <a:cs typeface="Times New Roman" panose="02020603050405020304" charset="0"/>
              <a:sym typeface="+mn-ea"/>
            </a:endParaRPr>
          </a:p>
        </p:txBody>
      </p:sp>
      <p:grpSp>
        <p:nvGrpSpPr>
          <p:cNvPr id="2" name="组合 1"/>
          <p:cNvGrpSpPr/>
          <p:nvPr>
            <p:custDataLst>
              <p:tags r:id="rId2"/>
            </p:custDataLst>
          </p:nvPr>
        </p:nvGrpSpPr>
        <p:grpSpPr>
          <a:xfrm>
            <a:off x="1009015" y="1203325"/>
            <a:ext cx="10120630" cy="3634740"/>
            <a:chOff x="1589" y="1895"/>
            <a:chExt cx="15938" cy="5724"/>
          </a:xfrm>
        </p:grpSpPr>
        <p:sp>
          <p:nvSpPr>
            <p:cNvPr id="3" name="文本框 2"/>
            <p:cNvSpPr txBox="1"/>
            <p:nvPr>
              <p:custDataLst>
                <p:tags r:id="rId3"/>
              </p:custDataLst>
            </p:nvPr>
          </p:nvSpPr>
          <p:spPr>
            <a:xfrm>
              <a:off x="1589" y="1895"/>
              <a:ext cx="15939" cy="5724"/>
            </a:xfrm>
            <a:prstGeom prst="rect">
              <a:avLst/>
            </a:prstGeom>
            <a:noFill/>
          </p:spPr>
          <p:txBody>
            <a:bodyPr wrap="square" rtlCol="0">
              <a:spAutoFit/>
            </a:bodyPr>
            <a:lstStyle/>
            <a:p>
              <a:pPr>
                <a:lnSpc>
                  <a:spcPct val="160000"/>
                </a:lnSpc>
              </a:pPr>
              <a:r>
                <a:rPr lang="en-US" sz="2400">
                  <a:latin typeface="Times New Roman" panose="02020603050405020304" charset="0"/>
                  <a:ea typeface="微软雅黑" panose="020B0503020204020204" charset="-122"/>
                  <a:cs typeface="Times New Roman" panose="02020603050405020304" charset="0"/>
                </a:rPr>
                <a:t>2.</a:t>
              </a:r>
              <a:r>
                <a:rPr lang="zh-CN" altLang="en-US" sz="2400">
                  <a:latin typeface="Times New Roman" panose="02020603050405020304" charset="0"/>
                  <a:ea typeface="微软雅黑" panose="020B0503020204020204" charset="-122"/>
                  <a:cs typeface="Times New Roman" panose="02020603050405020304" charset="0"/>
                </a:rPr>
                <a:t>合成氨厂所需</a:t>
              </a:r>
              <a:r>
                <a:rPr lang="en-US" altLang="zh-CN" sz="2400">
                  <a:latin typeface="Times New Roman" panose="02020603050405020304" charset="0"/>
                  <a:ea typeface="微软雅黑" panose="020B0503020204020204" charset="-122"/>
                  <a:cs typeface="Times New Roman" panose="02020603050405020304" charset="0"/>
                </a:rPr>
                <a:t>H</a:t>
              </a:r>
              <a:r>
                <a:rPr lang="en-US" altLang="zh-CN" sz="2400" baseline="-25000">
                  <a:latin typeface="Times New Roman" panose="02020603050405020304" charset="0"/>
                  <a:ea typeface="微软雅黑" panose="020B0503020204020204" charset="-122"/>
                  <a:cs typeface="Times New Roman" panose="02020603050405020304" charset="0"/>
                </a:rPr>
                <a:t>2</a:t>
              </a:r>
              <a:r>
                <a:rPr lang="zh-CN" altLang="en-US" sz="2400">
                  <a:latin typeface="Times New Roman" panose="02020603050405020304" charset="0"/>
                  <a:ea typeface="微软雅黑" panose="020B0503020204020204" charset="-122"/>
                  <a:cs typeface="Times New Roman" panose="02020603050405020304" charset="0"/>
                </a:rPr>
                <a:t>可由焦炭与水反应制得，其中有一步反应为</a:t>
              </a:r>
              <a:endParaRPr lang="zh-CN" altLang="en-US" sz="2400">
                <a:latin typeface="Times New Roman" panose="02020603050405020304" charset="0"/>
                <a:ea typeface="微软雅黑" panose="020B0503020204020204" charset="-122"/>
                <a:cs typeface="Times New Roman" panose="02020603050405020304" charset="0"/>
              </a:endParaRPr>
            </a:p>
            <a:p>
              <a:pPr>
                <a:lnSpc>
                  <a:spcPct val="160000"/>
                </a:lnSpc>
              </a:pPr>
              <a:r>
                <a:rPr lang="en-US" altLang="zh-CN" sz="2400">
                  <a:latin typeface="Times New Roman" panose="02020603050405020304" charset="0"/>
                  <a:ea typeface="微软雅黑" panose="020B0503020204020204" charset="-122"/>
                  <a:cs typeface="Times New Roman" panose="02020603050405020304" charset="0"/>
                </a:rPr>
                <a:t>CO(g)＋H</a:t>
              </a:r>
              <a:r>
                <a:rPr lang="en-US" altLang="zh-CN" sz="2400" baseline="-25000">
                  <a:latin typeface="Times New Roman" panose="02020603050405020304" charset="0"/>
                  <a:ea typeface="微软雅黑" panose="020B0503020204020204" charset="-122"/>
                  <a:cs typeface="Times New Roman" panose="02020603050405020304" charset="0"/>
                </a:rPr>
                <a:t>2</a:t>
              </a:r>
              <a:r>
                <a:rPr lang="en-US" altLang="zh-CN" sz="2400">
                  <a:latin typeface="Times New Roman" panose="02020603050405020304" charset="0"/>
                  <a:ea typeface="微软雅黑" panose="020B0503020204020204" charset="-122"/>
                  <a:cs typeface="Times New Roman" panose="02020603050405020304" charset="0"/>
                </a:rPr>
                <a:t>O(g)         CO</a:t>
              </a:r>
              <a:r>
                <a:rPr lang="en-US" altLang="zh-CN" sz="2400" baseline="-25000">
                  <a:latin typeface="Times New Roman" panose="02020603050405020304" charset="0"/>
                  <a:ea typeface="微软雅黑" panose="020B0503020204020204" charset="-122"/>
                  <a:cs typeface="Times New Roman" panose="02020603050405020304" charset="0"/>
                </a:rPr>
                <a:t>2</a:t>
              </a:r>
              <a:r>
                <a:rPr lang="en-US" altLang="zh-CN" sz="2400">
                  <a:latin typeface="Times New Roman" panose="02020603050405020304" charset="0"/>
                  <a:ea typeface="微软雅黑" panose="020B0503020204020204" charset="-122"/>
                  <a:cs typeface="Times New Roman" panose="02020603050405020304" charset="0"/>
                </a:rPr>
                <a:t>(g)＋H</a:t>
              </a:r>
              <a:r>
                <a:rPr lang="en-US" altLang="zh-CN" sz="2400" baseline="-25000">
                  <a:latin typeface="Times New Roman" panose="02020603050405020304" charset="0"/>
                  <a:ea typeface="微软雅黑" panose="020B0503020204020204" charset="-122"/>
                  <a:cs typeface="Times New Roman" panose="02020603050405020304" charset="0"/>
                </a:rPr>
                <a:t>2</a:t>
              </a:r>
              <a:r>
                <a:rPr lang="en-US" altLang="zh-CN" sz="2400">
                  <a:latin typeface="Times New Roman" panose="02020603050405020304" charset="0"/>
                  <a:ea typeface="微软雅黑" panose="020B0503020204020204" charset="-122"/>
                  <a:cs typeface="Times New Roman" panose="02020603050405020304" charset="0"/>
                </a:rPr>
                <a:t>(g)　ΔH&lt;0。</a:t>
              </a:r>
              <a:r>
                <a:rPr lang="zh-CN" altLang="en-US" sz="2400">
                  <a:latin typeface="Times New Roman" panose="02020603050405020304" charset="0"/>
                  <a:ea typeface="微软雅黑" panose="020B0503020204020204" charset="-122"/>
                  <a:cs typeface="Times New Roman" panose="02020603050405020304" charset="0"/>
                </a:rPr>
                <a:t>欲提高</a:t>
              </a:r>
              <a:r>
                <a:rPr lang="en-US" altLang="zh-CN" sz="2400">
                  <a:latin typeface="Times New Roman" panose="02020603050405020304" charset="0"/>
                  <a:ea typeface="微软雅黑" panose="020B0503020204020204" charset="-122"/>
                  <a:cs typeface="Times New Roman" panose="02020603050405020304" charset="0"/>
                </a:rPr>
                <a:t>CO</a:t>
              </a:r>
              <a:r>
                <a:rPr lang="zh-CN" altLang="en-US" sz="2400">
                  <a:latin typeface="Times New Roman" panose="02020603050405020304" charset="0"/>
                  <a:ea typeface="微软雅黑" panose="020B0503020204020204" charset="-122"/>
                  <a:cs typeface="Times New Roman" panose="02020603050405020304" charset="0"/>
                </a:rPr>
                <a:t>的利用率，可采用的方法是(　　)</a:t>
              </a:r>
              <a:endParaRPr lang="zh-CN" altLang="en-US" sz="2400">
                <a:latin typeface="Times New Roman" panose="02020603050405020304" charset="0"/>
                <a:ea typeface="微软雅黑" panose="020B0503020204020204" charset="-122"/>
                <a:cs typeface="Times New Roman" panose="02020603050405020304" charset="0"/>
              </a:endParaRPr>
            </a:p>
            <a:p>
              <a:pPr>
                <a:lnSpc>
                  <a:spcPct val="160000"/>
                </a:lnSpc>
              </a:pPr>
              <a:r>
                <a:rPr lang="zh-CN" altLang="en-US" sz="2400">
                  <a:latin typeface="Times New Roman" panose="02020603050405020304" charset="0"/>
                  <a:ea typeface="微软雅黑" panose="020B0503020204020204" charset="-122"/>
                  <a:cs typeface="Times New Roman" panose="02020603050405020304" charset="0"/>
                </a:rPr>
                <a:t>①降低温度　②增大压强　③使用催化剂　④增大</a:t>
              </a:r>
              <a:r>
                <a:rPr lang="en-US" altLang="zh-CN" sz="2400">
                  <a:latin typeface="Times New Roman" panose="02020603050405020304" charset="0"/>
                  <a:ea typeface="微软雅黑" panose="020B0503020204020204" charset="-122"/>
                  <a:cs typeface="Times New Roman" panose="02020603050405020304" charset="0"/>
                </a:rPr>
                <a:t>CO</a:t>
              </a:r>
              <a:r>
                <a:rPr lang="zh-CN" altLang="en-US" sz="2400">
                  <a:latin typeface="Times New Roman" panose="02020603050405020304" charset="0"/>
                  <a:ea typeface="微软雅黑" panose="020B0503020204020204" charset="-122"/>
                  <a:cs typeface="Times New Roman" panose="02020603050405020304" charset="0"/>
                </a:rPr>
                <a:t>的浓度　⑤增大水蒸气的浓度</a:t>
              </a:r>
              <a:endParaRPr lang="zh-CN" altLang="en-US" sz="2400">
                <a:latin typeface="Times New Roman" panose="02020603050405020304" charset="0"/>
                <a:ea typeface="微软雅黑" panose="020B0503020204020204" charset="-122"/>
                <a:cs typeface="Times New Roman" panose="02020603050405020304" charset="0"/>
              </a:endParaRPr>
            </a:p>
            <a:p>
              <a:pPr>
                <a:lnSpc>
                  <a:spcPct val="160000"/>
                </a:lnSpc>
              </a:pPr>
              <a:r>
                <a:rPr lang="en-US" altLang="zh-CN" sz="2400">
                  <a:latin typeface="Times New Roman" panose="02020603050405020304" charset="0"/>
                  <a:ea typeface="微软雅黑" panose="020B0503020204020204" charset="-122"/>
                  <a:cs typeface="Times New Roman" panose="02020603050405020304" charset="0"/>
                </a:rPr>
                <a:t>A．①②③    B．④⑤         C．①⑤               D．②⑤</a:t>
              </a:r>
              <a:endParaRPr lang="en-US" altLang="zh-CN" sz="2400">
                <a:latin typeface="Times New Roman" panose="02020603050405020304" charset="0"/>
                <a:ea typeface="微软雅黑" panose="020B0503020204020204" charset="-122"/>
                <a:cs typeface="Times New Roman" panose="02020603050405020304" charset="0"/>
              </a:endParaRPr>
            </a:p>
          </p:txBody>
        </p:sp>
        <p:graphicFrame>
          <p:nvGraphicFramePr>
            <p:cNvPr id="4" name="对象 -2147482622"/>
            <p:cNvGraphicFramePr>
              <a:graphicFrameLocks noChangeAspect="1"/>
            </p:cNvGraphicFramePr>
            <p:nvPr>
              <p:custDataLst>
                <p:tags r:id="rId4"/>
              </p:custDataLst>
            </p:nvPr>
          </p:nvGraphicFramePr>
          <p:xfrm>
            <a:off x="4898" y="3351"/>
            <a:ext cx="973" cy="249"/>
          </p:xfrm>
          <a:graphic>
            <a:graphicData uri="http://schemas.openxmlformats.org/presentationml/2006/ole">
              <mc:AlternateContent xmlns:mc="http://schemas.openxmlformats.org/markup-compatibility/2006">
                <mc:Choice xmlns:v="urn:schemas-microsoft-com:vml" Requires="v">
                  <p:oleObj spid="_x0000_s1038" name="" r:id="rId5" imgW="676275" imgH="171450" progId="ChemWindow.Document">
                    <p:embed/>
                  </p:oleObj>
                </mc:Choice>
                <mc:Fallback>
                  <p:oleObj name="" r:id="rId5" imgW="676275" imgH="171450" progId="ChemWindow.Document">
                    <p:embed/>
                    <p:pic>
                      <p:nvPicPr>
                        <p:cNvPr id="0" name="OLE substitute image"/>
                        <p:cNvPicPr/>
                        <p:nvPr/>
                      </p:nvPicPr>
                      <p:blipFill>
                        <a:blip r:embed="rId6"/>
                        <a:stretch>
                          <a:fillRect/>
                        </a:stretch>
                      </p:blipFill>
                      <p:spPr>
                        <a:xfrm>
                          <a:off x="4898" y="3351"/>
                          <a:ext cx="973" cy="249"/>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33400" y="911225"/>
            <a:ext cx="10950575" cy="5367020"/>
          </a:xfrm>
          <a:prstGeom prst="rect">
            <a:avLst/>
          </a:prstGeom>
        </p:spPr>
        <p:txBody>
          <a:bodyPr wrap="square">
            <a:spAutoFit/>
          </a:bodyPr>
          <a:lstStyle/>
          <a:p>
            <a:pPr defTabSz="1219200" fontAlgn="ctr">
              <a:lnSpc>
                <a:spcPct val="130000"/>
              </a:lnSpc>
              <a:defRPr/>
            </a:pPr>
            <a:r>
              <a:rPr lang="en-US" altLang="zh-CN" sz="2400" smtClean="0">
                <a:latin typeface="Times New Roman" panose="02020603050405020304" charset="0"/>
                <a:ea typeface="微软雅黑" panose="020B0503020204020204" charset="-122"/>
                <a:cs typeface="Times New Roman" panose="02020603050405020304" charset="0"/>
                <a:sym typeface="+mn-ea"/>
              </a:rPr>
              <a:t>3.</a:t>
            </a:r>
            <a:r>
              <a:rPr lang="zh-CN" altLang="en-US" sz="2400" smtClean="0">
                <a:latin typeface="Times New Roman" panose="02020603050405020304" charset="0"/>
                <a:ea typeface="微软雅黑" panose="020B0503020204020204" charset="-122"/>
                <a:cs typeface="Times New Roman" panose="02020603050405020304" charset="0"/>
                <a:sym typeface="+mn-ea"/>
              </a:rPr>
              <a:t>在硫酸工业中，通过下列反应使</a:t>
            </a:r>
            <a:r>
              <a:rPr lang="en-US" altLang="zh-CN" sz="2400" smtClean="0">
                <a:latin typeface="Times New Roman" panose="02020603050405020304" charset="0"/>
                <a:ea typeface="微软雅黑" panose="020B0503020204020204" charset="-122"/>
                <a:cs typeface="Times New Roman" panose="02020603050405020304" charset="0"/>
                <a:sym typeface="+mn-ea"/>
              </a:rPr>
              <a:t>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zh-CN" altLang="en-US" sz="2400" smtClean="0">
                <a:latin typeface="Times New Roman" panose="02020603050405020304" charset="0"/>
                <a:ea typeface="微软雅黑" panose="020B0503020204020204" charset="-122"/>
                <a:cs typeface="Times New Roman" panose="02020603050405020304" charset="0"/>
                <a:sym typeface="+mn-ea"/>
              </a:rPr>
              <a:t>氧化为</a:t>
            </a:r>
            <a:r>
              <a:rPr lang="en-US" altLang="zh-CN" sz="2400" smtClean="0">
                <a:latin typeface="Times New Roman" panose="02020603050405020304" charset="0"/>
                <a:ea typeface="微软雅黑" panose="020B0503020204020204" charset="-122"/>
                <a:cs typeface="Times New Roman" panose="02020603050405020304" charset="0"/>
                <a:sym typeface="+mn-ea"/>
              </a:rPr>
              <a:t>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3</a:t>
            </a:r>
            <a:r>
              <a:rPr lang="en-US" altLang="zh-CN" sz="2400" smtClean="0">
                <a:latin typeface="Times New Roman" panose="02020603050405020304" charset="0"/>
                <a:ea typeface="微软雅黑" panose="020B0503020204020204" charset="-122"/>
                <a:cs typeface="Times New Roman" panose="02020603050405020304" charset="0"/>
                <a:sym typeface="+mn-ea"/>
              </a:rPr>
              <a:t>： 2SO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en-US" altLang="zh-CN" sz="2400" smtClean="0">
                <a:latin typeface="Times New Roman" panose="02020603050405020304" charset="0"/>
                <a:ea typeface="微软雅黑" panose="020B0503020204020204" charset="-122"/>
                <a:cs typeface="Times New Roman" panose="02020603050405020304" charset="0"/>
                <a:sym typeface="+mn-ea"/>
              </a:rPr>
              <a:t>(g)+O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en-US" altLang="zh-CN" sz="2400" smtClean="0">
                <a:latin typeface="Times New Roman" panose="02020603050405020304" charset="0"/>
                <a:ea typeface="微软雅黑" panose="020B0503020204020204" charset="-122"/>
                <a:cs typeface="Times New Roman" panose="02020603050405020304" charset="0"/>
                <a:sym typeface="+mn-ea"/>
              </a:rPr>
              <a:t>(g)        2SO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3</a:t>
            </a:r>
            <a:r>
              <a:rPr lang="en-US" altLang="zh-CN" sz="2400" smtClean="0">
                <a:latin typeface="Times New Roman" panose="02020603050405020304" charset="0"/>
                <a:ea typeface="微软雅黑" panose="020B0503020204020204" charset="-122"/>
                <a:cs typeface="Times New Roman" panose="02020603050405020304" charset="0"/>
                <a:sym typeface="+mn-ea"/>
              </a:rPr>
              <a:t>(g) ΔH=－196.6 kJ/mol。</a:t>
            </a:r>
            <a:r>
              <a:rPr lang="zh-CN" altLang="en-US" sz="2400" smtClean="0">
                <a:latin typeface="Times New Roman" panose="02020603050405020304" charset="0"/>
                <a:ea typeface="微软雅黑" panose="020B0503020204020204" charset="-122"/>
                <a:cs typeface="Times New Roman" panose="02020603050405020304" charset="0"/>
                <a:sym typeface="+mn-ea"/>
              </a:rPr>
              <a:t>下表列出了在不同温度和压强下，反应达到平衡时</a:t>
            </a:r>
            <a:r>
              <a:rPr lang="en-US" altLang="zh-CN" sz="2400" smtClean="0">
                <a:latin typeface="Times New Roman" panose="02020603050405020304" charset="0"/>
                <a:ea typeface="微软雅黑" panose="020B0503020204020204" charset="-122"/>
                <a:cs typeface="Times New Roman" panose="02020603050405020304" charset="0"/>
                <a:sym typeface="+mn-ea"/>
              </a:rPr>
              <a:t>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zh-CN" altLang="en-US" sz="2400" smtClean="0">
                <a:latin typeface="Times New Roman" panose="02020603050405020304" charset="0"/>
                <a:ea typeface="微软雅黑" panose="020B0503020204020204" charset="-122"/>
                <a:cs typeface="Times New Roman" panose="02020603050405020304" charset="0"/>
                <a:sym typeface="+mn-ea"/>
              </a:rPr>
              <a:t>的转化率。下列说法错误的是</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r>
              <a:rPr lang="en-US" altLang="zh-CN" sz="2400" smtClean="0">
                <a:latin typeface="Times New Roman" panose="02020603050405020304" charset="0"/>
                <a:ea typeface="微软雅黑" panose="020B0503020204020204" charset="-122"/>
                <a:cs typeface="Times New Roman" panose="02020603050405020304" charset="0"/>
                <a:sym typeface="+mn-ea"/>
              </a:rPr>
              <a:t>A．</a:t>
            </a:r>
            <a:r>
              <a:rPr lang="zh-CN" altLang="en-US" sz="2400" smtClean="0">
                <a:latin typeface="Times New Roman" panose="02020603050405020304" charset="0"/>
                <a:ea typeface="微软雅黑" panose="020B0503020204020204" charset="-122"/>
                <a:cs typeface="Times New Roman" panose="02020603050405020304" charset="0"/>
                <a:sym typeface="+mn-ea"/>
              </a:rPr>
              <a:t>在实际生产中，从成本的角度考虑选择常压下进行反应</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r>
              <a:rPr lang="en-US" altLang="zh-CN" sz="2400" smtClean="0">
                <a:latin typeface="Times New Roman" panose="02020603050405020304" charset="0"/>
                <a:ea typeface="微软雅黑" panose="020B0503020204020204" charset="-122"/>
                <a:cs typeface="Times New Roman" panose="02020603050405020304" charset="0"/>
                <a:sym typeface="+mn-ea"/>
              </a:rPr>
              <a:t>B．</a:t>
            </a:r>
            <a:r>
              <a:rPr lang="zh-CN" altLang="en-US" sz="2400" smtClean="0">
                <a:latin typeface="Times New Roman" panose="02020603050405020304" charset="0"/>
                <a:ea typeface="微软雅黑" panose="020B0503020204020204" charset="-122"/>
                <a:cs typeface="Times New Roman" panose="02020603050405020304" charset="0"/>
                <a:sym typeface="+mn-ea"/>
              </a:rPr>
              <a:t>在实际生产中，选定的温度为400～500 ℃，这与催化剂的活性无关</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r>
              <a:rPr lang="en-US" altLang="zh-CN" sz="2400" smtClean="0">
                <a:latin typeface="Times New Roman" panose="02020603050405020304" charset="0"/>
                <a:ea typeface="微软雅黑" panose="020B0503020204020204" charset="-122"/>
                <a:cs typeface="Times New Roman" panose="02020603050405020304" charset="0"/>
                <a:sym typeface="+mn-ea"/>
              </a:rPr>
              <a:t>C．</a:t>
            </a:r>
            <a:r>
              <a:rPr lang="zh-CN" altLang="en-US" sz="2400" smtClean="0">
                <a:latin typeface="Times New Roman" panose="02020603050405020304" charset="0"/>
                <a:ea typeface="微软雅黑" panose="020B0503020204020204" charset="-122"/>
                <a:cs typeface="Times New Roman" panose="02020603050405020304" charset="0"/>
                <a:sym typeface="+mn-ea"/>
              </a:rPr>
              <a:t>反应过程中通入过量的空气，以提高平衡时</a:t>
            </a:r>
            <a:r>
              <a:rPr lang="en-US" altLang="zh-CN" sz="2400" smtClean="0">
                <a:latin typeface="Times New Roman" panose="02020603050405020304" charset="0"/>
                <a:ea typeface="微软雅黑" panose="020B0503020204020204" charset="-122"/>
                <a:cs typeface="Times New Roman" panose="02020603050405020304" charset="0"/>
                <a:sym typeface="+mn-ea"/>
              </a:rPr>
              <a:t>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zh-CN" altLang="en-US" sz="2400" smtClean="0">
                <a:latin typeface="Times New Roman" panose="02020603050405020304" charset="0"/>
                <a:ea typeface="微软雅黑" panose="020B0503020204020204" charset="-122"/>
                <a:cs typeface="Times New Roman" panose="02020603050405020304" charset="0"/>
                <a:sym typeface="+mn-ea"/>
              </a:rPr>
              <a:t>的转化率</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a:p>
            <a:pPr defTabSz="1219200" fontAlgn="ctr">
              <a:lnSpc>
                <a:spcPct val="130000"/>
              </a:lnSpc>
              <a:defRPr/>
            </a:pPr>
            <a:r>
              <a:rPr lang="en-US" altLang="zh-CN" sz="2400" smtClean="0">
                <a:latin typeface="Times New Roman" panose="02020603050405020304" charset="0"/>
                <a:ea typeface="微软雅黑" panose="020B0503020204020204" charset="-122"/>
                <a:cs typeface="Times New Roman" panose="02020603050405020304" charset="0"/>
                <a:sym typeface="+mn-ea"/>
              </a:rPr>
              <a:t>D．</a:t>
            </a:r>
            <a:r>
              <a:rPr lang="zh-CN" altLang="en-US" sz="2400" smtClean="0">
                <a:latin typeface="Times New Roman" panose="02020603050405020304" charset="0"/>
                <a:ea typeface="微软雅黑" panose="020B0503020204020204" charset="-122"/>
                <a:cs typeface="Times New Roman" panose="02020603050405020304" charset="0"/>
                <a:sym typeface="+mn-ea"/>
              </a:rPr>
              <a:t>为避免污染环境和提高原料利用率，尾气中的</a:t>
            </a:r>
            <a:r>
              <a:rPr lang="en-US" altLang="zh-CN" sz="2400" smtClean="0">
                <a:latin typeface="Times New Roman" panose="02020603050405020304" charset="0"/>
                <a:ea typeface="微软雅黑" panose="020B0503020204020204" charset="-122"/>
                <a:cs typeface="Times New Roman" panose="02020603050405020304" charset="0"/>
                <a:sym typeface="+mn-ea"/>
              </a:rPr>
              <a:t>SO</a:t>
            </a:r>
            <a:r>
              <a:rPr lang="en-US" altLang="zh-CN" sz="2400" baseline="-25000" smtClean="0">
                <a:latin typeface="Times New Roman" panose="02020603050405020304" charset="0"/>
                <a:ea typeface="微软雅黑" panose="020B0503020204020204" charset="-122"/>
                <a:cs typeface="Times New Roman" panose="02020603050405020304" charset="0"/>
                <a:sym typeface="+mn-ea"/>
              </a:rPr>
              <a:t>2</a:t>
            </a:r>
            <a:r>
              <a:rPr lang="zh-CN" altLang="en-US" sz="2400" smtClean="0">
                <a:latin typeface="Times New Roman" panose="02020603050405020304" charset="0"/>
                <a:ea typeface="微软雅黑" panose="020B0503020204020204" charset="-122"/>
                <a:cs typeface="Times New Roman" panose="02020603050405020304" charset="0"/>
                <a:sym typeface="+mn-ea"/>
              </a:rPr>
              <a:t>需回收处理</a:t>
            </a:r>
            <a:endParaRPr lang="zh-CN" altLang="en-US" sz="2400" smtClean="0">
              <a:latin typeface="Times New Roman" panose="02020603050405020304" charset="0"/>
              <a:ea typeface="微软雅黑" panose="020B0503020204020204" charset="-122"/>
              <a:cs typeface="Times New Roman" panose="02020603050405020304" charset="0"/>
              <a:sym typeface="+mn-ea"/>
            </a:endParaRPr>
          </a:p>
        </p:txBody>
      </p:sp>
      <p:sp>
        <p:nvSpPr>
          <p:cNvPr id="22544" name="Text Box 16"/>
          <p:cNvSpPr txBox="1"/>
          <p:nvPr>
            <p:custDataLst>
              <p:tags r:id="rId2"/>
            </p:custDataLst>
          </p:nvPr>
        </p:nvSpPr>
        <p:spPr>
          <a:xfrm>
            <a:off x="4199381" y="1919252"/>
            <a:ext cx="973546"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defTabSz="1219200" eaLnBrk="1" hangingPunct="1">
              <a:spcBef>
                <a:spcPct val="50000"/>
              </a:spcBef>
              <a:buNone/>
            </a:pPr>
            <a:r>
              <a:rPr lang="en-US" altLang="zh-CN" sz="2800">
                <a:solidFill>
                  <a:srgbClr val="FF0000"/>
                </a:solidFill>
                <a:latin typeface="Times New Roman" panose="02020603050405020304" charset="0"/>
                <a:ea typeface="微软雅黑" panose="020B0503020204020204" charset="-122"/>
                <a:cs typeface="Times New Roman" panose="02020603050405020304" charset="0"/>
                <a:sym typeface="+mn-lt"/>
              </a:rPr>
              <a:t>B</a:t>
            </a:r>
            <a:endParaRPr lang="en-US" altLang="zh-CN" sz="2800">
              <a:solidFill>
                <a:srgbClr val="FF0000"/>
              </a:solidFill>
              <a:latin typeface="Times New Roman" panose="02020603050405020304" charset="0"/>
              <a:ea typeface="微软雅黑" panose="020B0503020204020204" charset="-122"/>
              <a:cs typeface="Times New Roman" panose="02020603050405020304" charset="0"/>
              <a:sym typeface="+mn-lt"/>
            </a:endParaRPr>
          </a:p>
        </p:txBody>
      </p:sp>
      <p:graphicFrame>
        <p:nvGraphicFramePr>
          <p:cNvPr id="2" name="对象 -2147482572"/>
          <p:cNvGraphicFramePr>
            <a:graphicFrameLocks noChangeAspect="1"/>
          </p:cNvGraphicFramePr>
          <p:nvPr>
            <p:custDataLst>
              <p:tags r:id="rId3"/>
            </p:custDataLst>
          </p:nvPr>
        </p:nvGraphicFramePr>
        <p:xfrm>
          <a:off x="9252585" y="1179830"/>
          <a:ext cx="535940" cy="137160"/>
        </p:xfrm>
        <a:graphic>
          <a:graphicData uri="http://schemas.openxmlformats.org/presentationml/2006/ole">
            <mc:AlternateContent xmlns:mc="http://schemas.openxmlformats.org/markup-compatibility/2006">
              <mc:Choice xmlns:v="urn:schemas-microsoft-com:vml" Requires="v">
                <p:oleObj spid="_x0000_s1039" name="" r:id="rId4" imgW="676275" imgH="171450" progId="ChemWindow.Document">
                  <p:embed/>
                </p:oleObj>
              </mc:Choice>
              <mc:Fallback>
                <p:oleObj name="" r:id="rId4" imgW="676275" imgH="171450" progId="ChemWindow.Document">
                  <p:embed/>
                  <p:pic>
                    <p:nvPicPr>
                      <p:cNvPr id="0" name="OLE substitute image"/>
                      <p:cNvPicPr/>
                      <p:nvPr/>
                    </p:nvPicPr>
                    <p:blipFill>
                      <a:blip r:embed="rId5"/>
                      <a:stretch>
                        <a:fillRect/>
                      </a:stretch>
                    </p:blipFill>
                    <p:spPr>
                      <a:xfrm>
                        <a:off x="9252585" y="1179830"/>
                        <a:ext cx="535940" cy="137160"/>
                      </a:xfrm>
                      <a:prstGeom prst="rect">
                        <a:avLst/>
                      </a:prstGeom>
                      <a:noFill/>
                      <a:ln w="38100">
                        <a:noFill/>
                        <a:miter/>
                      </a:ln>
                    </p:spPr>
                  </p:pic>
                </p:oleObj>
              </mc:Fallback>
            </mc:AlternateContent>
          </a:graphicData>
        </a:graphic>
      </p:graphicFrame>
      <p:graphicFrame>
        <p:nvGraphicFramePr>
          <p:cNvPr id="8" name="表格 7"/>
          <p:cNvGraphicFramePr>
            <a:graphicFrameLocks noGrp="1"/>
          </p:cNvGraphicFramePr>
          <p:nvPr>
            <p:custDataLst>
              <p:tags r:id="rId6"/>
            </p:custDataLst>
          </p:nvPr>
        </p:nvGraphicFramePr>
        <p:xfrm>
          <a:off x="1131570" y="2440940"/>
          <a:ext cx="9208135" cy="1934210"/>
        </p:xfrm>
        <a:graphic>
          <a:graphicData uri="http://schemas.openxmlformats.org/drawingml/2006/table">
            <a:tbl>
              <a:tblPr/>
              <a:tblGrid>
                <a:gridCol w="1674495"/>
                <a:gridCol w="1366520"/>
                <a:gridCol w="1281430"/>
                <a:gridCol w="1485900"/>
                <a:gridCol w="1571625"/>
                <a:gridCol w="1828165"/>
              </a:tblGrid>
              <a:tr h="426720">
                <a:tc rowSpan="2">
                  <a:txBody>
                    <a:bodyPr wrap="square"/>
                    <a:lstStyle/>
                    <a:p>
                      <a:pPr marL="0" indent="0" algn="l" fontAlgn="ctr">
                        <a:lnSpc>
                          <a:spcPct val="100000"/>
                        </a:lnSpc>
                        <a:spcBef>
                          <a:spcPct val="0"/>
                        </a:spcBef>
                        <a:spcAft>
                          <a:spcPct val="0"/>
                        </a:spcAft>
                      </a:pPr>
                      <a:r>
                        <a:rPr lang="zh-CN" sz="2400">
                          <a:latin typeface="Times New Roman" panose="02020603050405020304" charset="0"/>
                          <a:ea typeface="微软雅黑" panose="020B0503020204020204" charset="-122"/>
                          <a:cs typeface="Times New Roman" panose="02020603050405020304" charset="0"/>
                        </a:rPr>
                        <a:t>温度</a:t>
                      </a:r>
                      <a:r>
                        <a:rPr lang="en-US" altLang="zh-CN" sz="2400">
                          <a:latin typeface="Times New Roman" panose="02020603050405020304" charset="0"/>
                          <a:ea typeface="微软雅黑" panose="020B0503020204020204" charset="-122"/>
                          <a:cs typeface="Times New Roman" panose="02020603050405020304" charset="0"/>
                        </a:rPr>
                        <a:t>/℃</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gridSpan="5">
                  <a:txBody>
                    <a:bodyPr wrap="square"/>
                    <a:lstStyle/>
                    <a:p>
                      <a:pPr marL="0" indent="0" algn="l" fontAlgn="ctr">
                        <a:lnSpc>
                          <a:spcPct val="100000"/>
                        </a:lnSpc>
                        <a:spcBef>
                          <a:spcPct val="0"/>
                        </a:spcBef>
                        <a:spcAft>
                          <a:spcPct val="0"/>
                        </a:spcAft>
                      </a:pPr>
                      <a:r>
                        <a:rPr lang="zh-CN" sz="2400">
                          <a:latin typeface="Times New Roman" panose="02020603050405020304" charset="0"/>
                          <a:ea typeface="微软雅黑" panose="020B0503020204020204" charset="-122"/>
                          <a:cs typeface="Times New Roman" panose="02020603050405020304" charset="0"/>
                        </a:rPr>
                        <a:t>平衡时</a:t>
                      </a:r>
                      <a:r>
                        <a:rPr lang="en-US" altLang="zh-CN" sz="2400">
                          <a:latin typeface="Times New Roman" panose="02020603050405020304" charset="0"/>
                          <a:ea typeface="微软雅黑" panose="020B0503020204020204" charset="-122"/>
                          <a:cs typeface="Times New Roman" panose="02020603050405020304" charset="0"/>
                        </a:rPr>
                        <a:t>SO</a:t>
                      </a:r>
                      <a:r>
                        <a:rPr lang="en-US" altLang="zh-CN" sz="2400" baseline="-25000">
                          <a:latin typeface="Times New Roman" panose="02020603050405020304" charset="0"/>
                          <a:ea typeface="微软雅黑" panose="020B0503020204020204" charset="-122"/>
                          <a:cs typeface="Times New Roman" panose="02020603050405020304" charset="0"/>
                        </a:rPr>
                        <a:t>2</a:t>
                      </a:r>
                      <a:r>
                        <a:rPr lang="zh-CN" sz="2400">
                          <a:latin typeface="Times New Roman" panose="02020603050405020304" charset="0"/>
                          <a:ea typeface="微软雅黑" panose="020B0503020204020204" charset="-122"/>
                          <a:cs typeface="Times New Roman" panose="02020603050405020304" charset="0"/>
                        </a:rPr>
                        <a:t>的转化率</a:t>
                      </a:r>
                      <a:r>
                        <a:rPr lang="en-US" altLang="zh-CN" sz="2400">
                          <a:latin typeface="Times New Roman" panose="02020603050405020304" charset="0"/>
                          <a:ea typeface="微软雅黑" panose="020B0503020204020204" charset="-122"/>
                          <a:cs typeface="Times New Roman" panose="02020603050405020304" charset="0"/>
                        </a:rPr>
                        <a:t>/%</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hMerge="1">
                  <a:tcP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tcPr>
                </a:tc>
                <a:tc hMerge="1">
                  <a:tcP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tcPr>
                </a:tc>
                <a:tc hMerge="1">
                  <a:tcP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tcPr>
                </a:tc>
                <a:tc hMerge="1">
                  <a:tcPr>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tcPr>
                </a:tc>
              </a:tr>
              <a:tr h="551180">
                <a:tc vMerge="1">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9525" cap="flat" cmpd="sng">
                      <a:solidFill>
                        <a:srgbClr val="000000"/>
                      </a:solidFill>
                      <a:prstDash val="solid"/>
                      <a:headEnd type="none" w="med" len="med"/>
                      <a:tailEnd type="none" w="med" len="med"/>
                    </a:lnB>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0.1 MPa</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0.5 MPa</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1 MPa</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5 MPa</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10 MPa</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383540">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450</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97.5</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98.9</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99.2</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99.6</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99.7</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r h="393700">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550</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85.6</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92.9</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94.9</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97.7</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c>
                  <a:txBody>
                    <a:bodyPr wrap="square"/>
                    <a:lstStyle/>
                    <a:p>
                      <a:pPr marL="0" indent="0" algn="l" fontAlgn="ctr">
                        <a:lnSpc>
                          <a:spcPct val="100000"/>
                        </a:lnSpc>
                        <a:spcBef>
                          <a:spcPct val="0"/>
                        </a:spcBef>
                        <a:spcAft>
                          <a:spcPct val="0"/>
                        </a:spcAft>
                      </a:pPr>
                      <a:r>
                        <a:rPr lang="en-US" altLang="zh-CN" sz="2400">
                          <a:latin typeface="Times New Roman" panose="02020603050405020304" charset="0"/>
                          <a:ea typeface="微软雅黑" panose="020B0503020204020204" charset="-122"/>
                          <a:cs typeface="Times New Roman" panose="02020603050405020304" charset="0"/>
                        </a:rPr>
                        <a:t>98.3</a:t>
                      </a:r>
                      <a:endParaRPr lang="en-US" altLang="zh-CN" sz="2400">
                        <a:latin typeface="Times New Roman" panose="02020603050405020304" charset="0"/>
                        <a:ea typeface="微软雅黑" panose="020B0503020204020204" charset="-122"/>
                        <a:cs typeface="Times New Roman" panose="02020603050405020304" charset="0"/>
                      </a:endParaRPr>
                    </a:p>
                  </a:txBody>
                  <a:tcPr marL="76200" marR="76200" marT="47625" marB="47625" vert="horz"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9525" cap="flat" cmpd="sng">
                      <a:solidFill>
                        <a:srgbClr val="000000"/>
                      </a:solidFill>
                      <a:prstDash val="solid"/>
                      <a:headEnd type="none" w="med" len="med"/>
                      <a:tailEnd type="none" w="med" len="med"/>
                    </a:lnT>
                    <a:lnB w="9525" cap="flat" cmpd="sng">
                      <a:solidFill>
                        <a:srgbClr val="000000"/>
                      </a:solidFill>
                      <a:prstDash val="solid"/>
                      <a:headEnd type="none" w="med" len="med"/>
                      <a:tailEnd type="none" w="med" len="med"/>
                    </a:lnB>
                    <a:noFill/>
                  </a:tcP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4"/>
                                        </p:tgtEl>
                                        <p:attrNameLst>
                                          <p:attrName>style.visibility</p:attrName>
                                        </p:attrNameLst>
                                      </p:cBhvr>
                                      <p:to>
                                        <p:strVal val="visible"/>
                                      </p:to>
                                    </p:set>
                                    <p:animEffect transition="in" filter="blinds(horizontal)">
                                      <p:cBhvr>
                                        <p:cTn id="7" dur="500"/>
                                        <p:tgtEl>
                                          <p:spTgt spid="22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591820" y="1034415"/>
            <a:ext cx="10159365" cy="4301490"/>
          </a:xfrm>
          <a:prstGeom prst="rect">
            <a:avLst/>
          </a:prstGeom>
        </p:spPr>
        <p:txBody>
          <a:bodyPr wrap="square">
            <a:noAutofit/>
          </a:bodyPr>
          <a:lstStyle/>
          <a:p>
            <a:pPr>
              <a:lnSpc>
                <a:spcPct val="130000"/>
              </a:lnSpc>
              <a:spcAft>
                <a:spcPct val="0"/>
              </a:spcAft>
            </a:pP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4.</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下列有关合成氨工业的说法正确的是(　　)</a:t>
            </a:r>
            <a:endPar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endParaRPr>
          </a:p>
          <a:p>
            <a:pPr>
              <a:lnSpc>
                <a:spcPct val="130000"/>
              </a:lnSpc>
              <a:spcAft>
                <a:spcPct val="0"/>
              </a:spcAft>
            </a:pP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A．</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合成氨工业的反应温度控制在400～500℃，目的是使化学平衡向正反应方向移动</a:t>
            </a:r>
            <a:endPar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endParaRPr>
          </a:p>
          <a:p>
            <a:pPr>
              <a:lnSpc>
                <a:spcPct val="130000"/>
              </a:lnSpc>
              <a:spcAft>
                <a:spcPct val="0"/>
              </a:spcAft>
            </a:pP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B．</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合成氨厂一般采用的压强为10</a:t>
            </a: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MPa～30MPa，</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因为该压强下铁触媒的活性最高</a:t>
            </a:r>
            <a:endPar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endParaRPr>
          </a:p>
          <a:p>
            <a:pPr>
              <a:lnSpc>
                <a:spcPct val="130000"/>
              </a:lnSpc>
              <a:spcAft>
                <a:spcPct val="0"/>
              </a:spcAft>
            </a:pP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C．</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增大压强，正反应速率和逆反应速率均增大，但对正反应的反应速率影响更大</a:t>
            </a:r>
            <a:endPar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endParaRPr>
          </a:p>
          <a:p>
            <a:pPr>
              <a:lnSpc>
                <a:spcPct val="130000"/>
              </a:lnSpc>
              <a:spcAft>
                <a:spcPct val="0"/>
              </a:spcAft>
            </a:pP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D．N</a:t>
            </a:r>
            <a:r>
              <a:rPr lang="en-US" altLang="zh-CN" sz="2400" baseline="-25000" smtClean="0">
                <a:solidFill>
                  <a:srgbClr val="000000"/>
                </a:solidFill>
                <a:latin typeface="Times New Roman" panose="02020603050405020304" charset="0"/>
                <a:ea typeface="微软雅黑" panose="020B0503020204020204" charset="-122"/>
                <a:cs typeface="Times New Roman" panose="02020603050405020304" charset="0"/>
                <a:sym typeface="+mn-ea"/>
              </a:rPr>
              <a:t>2</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的量越多，</a:t>
            </a: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H</a:t>
            </a:r>
            <a:r>
              <a:rPr lang="en-US" altLang="zh-CN" sz="2400" baseline="-25000" smtClean="0">
                <a:solidFill>
                  <a:srgbClr val="000000"/>
                </a:solidFill>
                <a:latin typeface="Times New Roman" panose="02020603050405020304" charset="0"/>
                <a:ea typeface="微软雅黑" panose="020B0503020204020204" charset="-122"/>
                <a:cs typeface="Times New Roman" panose="02020603050405020304" charset="0"/>
                <a:sym typeface="+mn-ea"/>
              </a:rPr>
              <a:t>2</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的转化率越大，因此，充入的</a:t>
            </a: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N2</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越多越有利于</a:t>
            </a:r>
            <a:r>
              <a:rPr lang="en-US" altLang="zh-CN" sz="2400" smtClean="0">
                <a:solidFill>
                  <a:srgbClr val="000000"/>
                </a:solidFill>
                <a:latin typeface="Times New Roman" panose="02020603050405020304" charset="0"/>
                <a:ea typeface="微软雅黑" panose="020B0503020204020204" charset="-122"/>
                <a:cs typeface="Times New Roman" panose="02020603050405020304" charset="0"/>
                <a:sym typeface="+mn-ea"/>
              </a:rPr>
              <a:t>NH</a:t>
            </a:r>
            <a:r>
              <a:rPr lang="en-US" altLang="zh-CN" sz="2400" baseline="-25000" smtClean="0">
                <a:solidFill>
                  <a:srgbClr val="000000"/>
                </a:solidFill>
                <a:latin typeface="Times New Roman" panose="02020603050405020304" charset="0"/>
                <a:ea typeface="微软雅黑" panose="020B0503020204020204" charset="-122"/>
                <a:cs typeface="Times New Roman" panose="02020603050405020304" charset="0"/>
                <a:sym typeface="+mn-ea"/>
              </a:rPr>
              <a:t>3</a:t>
            </a:r>
            <a:r>
              <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rPr>
              <a:t>的合成</a:t>
            </a:r>
            <a:endParaRPr lang="zh-CN" altLang="en-US" sz="2400" smtClean="0">
              <a:solidFill>
                <a:srgbClr val="000000"/>
              </a:solidFill>
              <a:latin typeface="Times New Roman" panose="02020603050405020304" charset="0"/>
              <a:ea typeface="微软雅黑" panose="020B0503020204020204" charset="-122"/>
              <a:cs typeface="Times New Roman" panose="02020603050405020304" charset="0"/>
              <a:sym typeface="+mn-ea"/>
            </a:endParaRPr>
          </a:p>
        </p:txBody>
      </p:sp>
      <p:sp>
        <p:nvSpPr>
          <p:cNvPr id="22544" name="Text Box 16"/>
          <p:cNvSpPr txBox="1"/>
          <p:nvPr>
            <p:custDataLst>
              <p:tags r:id="rId2"/>
            </p:custDataLst>
          </p:nvPr>
        </p:nvSpPr>
        <p:spPr>
          <a:xfrm>
            <a:off x="5761481" y="1034697"/>
            <a:ext cx="973546"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defTabSz="1219200" eaLnBrk="1" hangingPunct="1">
              <a:spcBef>
                <a:spcPct val="50000"/>
              </a:spcBef>
              <a:buNone/>
            </a:pPr>
            <a:r>
              <a:rPr lang="en-US" altLang="zh-CN" sz="2800">
                <a:solidFill>
                  <a:srgbClr val="FF0000"/>
                </a:solidFill>
                <a:latin typeface="Times New Roman" panose="02020603050405020304" charset="0"/>
                <a:ea typeface="微软雅黑" panose="020B0503020204020204" charset="-122"/>
                <a:cs typeface="Times New Roman" panose="02020603050405020304" charset="0"/>
                <a:sym typeface="+mn-lt"/>
              </a:rPr>
              <a:t>C</a:t>
            </a:r>
            <a:endParaRPr lang="en-US" altLang="zh-CN" sz="2800">
              <a:solidFill>
                <a:srgbClr val="FF0000"/>
              </a:solidFill>
              <a:latin typeface="Times New Roman" panose="02020603050405020304" charset="0"/>
              <a:ea typeface="微软雅黑" panose="020B0503020204020204" charset="-122"/>
              <a:cs typeface="Times New Roman" panose="02020603050405020304" charset="0"/>
              <a:sym typeface="+mn-l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544"/>
                                        </p:tgtEl>
                                        <p:attrNameLst>
                                          <p:attrName>style.visibility</p:attrName>
                                        </p:attrNameLst>
                                      </p:cBhvr>
                                      <p:to>
                                        <p:strVal val="visible"/>
                                      </p:to>
                                    </p:set>
                                    <p:animEffect transition="in" filter="blinds(horizontal)">
                                      <p:cBhvr>
                                        <p:cTn id="7" dur="500"/>
                                        <p:tgtEl>
                                          <p:spTgt spid="22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13316"/>
          <p:cNvSpPr/>
          <p:nvPr>
            <p:custDataLst>
              <p:tags r:id="rId1"/>
            </p:custDataLst>
          </p:nvPr>
        </p:nvSpPr>
        <p:spPr>
          <a:xfrm>
            <a:off x="3176256" y="1962831"/>
            <a:ext cx="506918" cy="521970"/>
          </a:xfrm>
          <a:prstGeom prst="rect">
            <a:avLst/>
          </a:prstGeom>
          <a:noFill/>
          <a:ln>
            <a:noFill/>
            <a:miter lim="800000"/>
          </a:ln>
        </p:spPr>
        <p:txBody>
          <a:bodyPr wrap="square">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2400" b="1" i="0" u="none" baseline="0">
                <a:solidFill>
                  <a:srgbClr val="FF0000"/>
                </a:solidFill>
                <a:effectLst/>
                <a:latin typeface="Times New Roman" panose="0202060305040502030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en-US" altLang="en-US" sz="2400" b="1" i="0" u="none" baseline="0">
                <a:solidFill>
                  <a:srgbClr val="FF0000"/>
                </a:solidFill>
                <a:effectLst/>
                <a:latin typeface="Times New Roman" panose="0202060305040502030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en-US" altLang="en-US" sz="2400" b="1" i="0" u="none" baseline="0">
                <a:solidFill>
                  <a:srgbClr val="FF0000"/>
                </a:solidFill>
                <a:effectLst/>
                <a:latin typeface="Times New Roman" panose="0202060305040502030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en-US" altLang="en-US" sz="2400" b="1" i="0" u="none" baseline="0">
                <a:solidFill>
                  <a:srgbClr val="FF0000"/>
                </a:solidFill>
                <a:effectLst/>
                <a:latin typeface="Times New Roman" panose="0202060305040502030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en-US" altLang="en-US" sz="2400" b="1" i="0" u="none" baseline="0">
                <a:solidFill>
                  <a:srgbClr val="FF0000"/>
                </a:solidFill>
                <a:effectLst/>
                <a:latin typeface="Times New Roman" panose="02020603050405020304" charset="0"/>
                <a:ea typeface="宋体" panose="02010600030101010101" pitchFamily="2" charset="-122"/>
              </a:defRPr>
            </a:lvl5pPr>
          </a:lstStyle>
          <a:p>
            <a:pPr>
              <a:spcBef>
                <a:spcPct val="50000"/>
              </a:spcBef>
            </a:pPr>
            <a:r>
              <a:rPr altLang="zh-CN" sz="2800" b="0" smtClean="0">
                <a:ln w="9525" cap="flat" cmpd="sng" algn="ctr">
                  <a:noFill/>
                  <a:prstDash val="solid"/>
                  <a:round/>
                  <a:headEnd type="none" w="med" len="med"/>
                  <a:tailEnd type="none" w="med" len="med"/>
                </a:ln>
                <a:solidFill>
                  <a:srgbClr val="FF0000"/>
                </a:solidFill>
                <a:ea typeface="微软雅黑" panose="020B0503020204020204" charset="-122"/>
                <a:cs typeface="Times New Roman" panose="02020603050405020304" charset="0"/>
                <a:sym typeface="Wingdings" panose="05000000000000000000" charset="0"/>
              </a:rPr>
              <a:t>D</a:t>
            </a:r>
            <a:endParaRPr altLang="zh-CN" sz="2800" b="0" smtClean="0">
              <a:ln w="9525" cap="flat" cmpd="sng" algn="ctr">
                <a:noFill/>
                <a:prstDash val="solid"/>
                <a:round/>
                <a:headEnd type="none" w="med" len="med"/>
                <a:tailEnd type="none" w="med" len="med"/>
              </a:ln>
              <a:solidFill>
                <a:srgbClr val="FF0000"/>
              </a:solidFill>
              <a:ea typeface="微软雅黑" panose="020B0503020204020204" charset="-122"/>
              <a:cs typeface="Times New Roman" panose="02020603050405020304" charset="0"/>
              <a:sym typeface="Wingdings" panose="05000000000000000000" charset="0"/>
            </a:endParaRPr>
          </a:p>
        </p:txBody>
      </p:sp>
      <p:grpSp>
        <p:nvGrpSpPr>
          <p:cNvPr id="3" name="组合 2"/>
          <p:cNvGrpSpPr/>
          <p:nvPr>
            <p:custDataLst>
              <p:tags r:id="rId2"/>
            </p:custDataLst>
          </p:nvPr>
        </p:nvGrpSpPr>
        <p:grpSpPr>
          <a:xfrm>
            <a:off x="782320" y="1210945"/>
            <a:ext cx="10585450" cy="3968750"/>
            <a:chOff x="1232" y="1907"/>
            <a:chExt cx="16670" cy="6250"/>
          </a:xfrm>
        </p:grpSpPr>
        <p:sp>
          <p:nvSpPr>
            <p:cNvPr id="2" name="矩形 1"/>
            <p:cNvSpPr/>
            <p:nvPr>
              <p:custDataLst>
                <p:tags r:id="rId3"/>
              </p:custDataLst>
            </p:nvPr>
          </p:nvSpPr>
          <p:spPr>
            <a:xfrm>
              <a:off x="1232" y="1907"/>
              <a:ext cx="16671" cy="6251"/>
            </a:xfrm>
            <a:prstGeom prst="rect">
              <a:avLst/>
            </a:prstGeom>
          </p:spPr>
          <p:txBody>
            <a:bodyPr wrap="square">
              <a:spAutoFit/>
            </a:bodyPr>
            <a:lstStyle/>
            <a:p>
              <a:pPr>
                <a:lnSpc>
                  <a:spcPct val="150000"/>
                </a:lnSpc>
                <a:spcBef>
                  <a:spcPct val="0"/>
                </a:spcBef>
                <a:spcAft>
                  <a:spcPct val="0"/>
                </a:spcAft>
              </a:pPr>
              <a:r>
                <a:rPr lang="en-US" altLang="zh-CN" sz="2400" smtClean="0">
                  <a:latin typeface="Times New Roman" panose="02020603050405020304" charset="0"/>
                  <a:ea typeface="微软雅黑" panose="020B0503020204020204" charset="-122"/>
                  <a:cs typeface="Times New Roman" panose="02020603050405020304" charset="0"/>
                </a:rPr>
                <a:t>5</a:t>
              </a:r>
              <a:r>
                <a:rPr lang="zh-CN" altLang="en-US" sz="2400" smtClean="0">
                  <a:latin typeface="Times New Roman" panose="02020603050405020304" charset="0"/>
                  <a:ea typeface="微软雅黑" panose="020B0503020204020204" charset="-122"/>
                  <a:cs typeface="Times New Roman" panose="02020603050405020304" charset="0"/>
                </a:rPr>
                <a:t>．某工业生产中发生反应：2</a:t>
              </a:r>
              <a:r>
                <a:rPr lang="en-US" altLang="zh-CN" sz="2400" smtClean="0">
                  <a:latin typeface="Times New Roman" panose="02020603050405020304" charset="0"/>
                  <a:ea typeface="微软雅黑" panose="020B0503020204020204" charset="-122"/>
                  <a:cs typeface="Times New Roman" panose="02020603050405020304" charset="0"/>
                </a:rPr>
                <a:t>X(g)+Y(g)          2M(g)　ΔH&lt;0。</a:t>
              </a:r>
              <a:r>
                <a:rPr lang="zh-CN" altLang="en-US" sz="2400" smtClean="0">
                  <a:latin typeface="Times New Roman" panose="02020603050405020304" charset="0"/>
                  <a:ea typeface="微软雅黑" panose="020B0503020204020204" charset="-122"/>
                  <a:cs typeface="Times New Roman" panose="02020603050405020304" charset="0"/>
                </a:rPr>
                <a:t>下列有关该反应的说法正确的是(　　)</a:t>
              </a:r>
              <a:endParaRPr lang="zh-CN" altLang="en-US" sz="2400" smtClean="0">
                <a:latin typeface="Times New Roman" panose="02020603050405020304" charset="0"/>
                <a:ea typeface="微软雅黑" panose="020B0503020204020204" charset="-122"/>
                <a:cs typeface="Times New Roman" panose="02020603050405020304" charset="0"/>
              </a:endParaRPr>
            </a:p>
            <a:p>
              <a:pPr>
                <a:lnSpc>
                  <a:spcPct val="150000"/>
                </a:lnSpc>
                <a:spcBef>
                  <a:spcPct val="0"/>
                </a:spcBef>
                <a:spcAft>
                  <a:spcPct val="0"/>
                </a:spcAft>
              </a:pPr>
              <a:r>
                <a:rPr lang="en-US" altLang="zh-CN" sz="2400" smtClean="0">
                  <a:latin typeface="Times New Roman" panose="02020603050405020304" charset="0"/>
                  <a:ea typeface="微软雅黑" panose="020B0503020204020204" charset="-122"/>
                  <a:cs typeface="Times New Roman" panose="02020603050405020304" charset="0"/>
                </a:rPr>
                <a:t>A．</a:t>
              </a:r>
              <a:r>
                <a:rPr lang="zh-CN" altLang="en-US" sz="2400" smtClean="0">
                  <a:latin typeface="Times New Roman" panose="02020603050405020304" charset="0"/>
                  <a:ea typeface="微软雅黑" panose="020B0503020204020204" charset="-122"/>
                  <a:cs typeface="Times New Roman" panose="02020603050405020304" charset="0"/>
                </a:rPr>
                <a:t>工业上合成</a:t>
              </a:r>
              <a:r>
                <a:rPr lang="en-US" altLang="zh-CN" sz="2400" smtClean="0">
                  <a:latin typeface="Times New Roman" panose="02020603050405020304" charset="0"/>
                  <a:ea typeface="微软雅黑" panose="020B0503020204020204" charset="-122"/>
                  <a:cs typeface="Times New Roman" panose="02020603050405020304" charset="0"/>
                </a:rPr>
                <a:t>M</a:t>
              </a:r>
              <a:r>
                <a:rPr lang="zh-CN" altLang="en-US" sz="2400" smtClean="0">
                  <a:latin typeface="Times New Roman" panose="02020603050405020304" charset="0"/>
                  <a:ea typeface="微软雅黑" panose="020B0503020204020204" charset="-122"/>
                  <a:cs typeface="Times New Roman" panose="02020603050405020304" charset="0"/>
                </a:rPr>
                <a:t>时，一定采用高压条件，因为高压有利于</a:t>
              </a:r>
              <a:r>
                <a:rPr lang="en-US" altLang="zh-CN" sz="2400" smtClean="0">
                  <a:latin typeface="Times New Roman" panose="02020603050405020304" charset="0"/>
                  <a:ea typeface="微软雅黑" panose="020B0503020204020204" charset="-122"/>
                  <a:cs typeface="Times New Roman" panose="02020603050405020304" charset="0"/>
                </a:rPr>
                <a:t>M</a:t>
              </a:r>
              <a:r>
                <a:rPr lang="zh-CN" altLang="en-US" sz="2400" smtClean="0">
                  <a:latin typeface="Times New Roman" panose="02020603050405020304" charset="0"/>
                  <a:ea typeface="微软雅黑" panose="020B0503020204020204" charset="-122"/>
                  <a:cs typeface="Times New Roman" panose="02020603050405020304" charset="0"/>
                </a:rPr>
                <a:t>的生成</a:t>
              </a:r>
              <a:endParaRPr lang="zh-CN" altLang="en-US" sz="2400" smtClean="0">
                <a:latin typeface="Times New Roman" panose="02020603050405020304" charset="0"/>
                <a:ea typeface="微软雅黑" panose="020B0503020204020204" charset="-122"/>
                <a:cs typeface="Times New Roman" panose="02020603050405020304" charset="0"/>
              </a:endParaRPr>
            </a:p>
            <a:p>
              <a:pPr>
                <a:lnSpc>
                  <a:spcPct val="150000"/>
                </a:lnSpc>
                <a:spcBef>
                  <a:spcPct val="0"/>
                </a:spcBef>
                <a:spcAft>
                  <a:spcPct val="0"/>
                </a:spcAft>
              </a:pPr>
              <a:r>
                <a:rPr lang="en-US" altLang="zh-CN" sz="2400" smtClean="0">
                  <a:latin typeface="Times New Roman" panose="02020603050405020304" charset="0"/>
                  <a:ea typeface="微软雅黑" panose="020B0503020204020204" charset="-122"/>
                  <a:cs typeface="Times New Roman" panose="02020603050405020304" charset="0"/>
                </a:rPr>
                <a:t>B．</a:t>
              </a:r>
              <a:r>
                <a:rPr lang="zh-CN" altLang="en-US" sz="2400" smtClean="0">
                  <a:latin typeface="Times New Roman" panose="02020603050405020304" charset="0"/>
                  <a:ea typeface="微软雅黑" panose="020B0503020204020204" charset="-122"/>
                  <a:cs typeface="Times New Roman" panose="02020603050405020304" charset="0"/>
                </a:rPr>
                <a:t>若物质</a:t>
              </a:r>
              <a:r>
                <a:rPr lang="en-US" altLang="zh-CN" sz="2400" smtClean="0">
                  <a:latin typeface="Times New Roman" panose="02020603050405020304" charset="0"/>
                  <a:ea typeface="微软雅黑" panose="020B0503020204020204" charset="-122"/>
                  <a:cs typeface="Times New Roman" panose="02020603050405020304" charset="0"/>
                </a:rPr>
                <a:t>Y</a:t>
              </a:r>
              <a:r>
                <a:rPr lang="zh-CN" altLang="en-US" sz="2400" smtClean="0">
                  <a:latin typeface="Times New Roman" panose="02020603050405020304" charset="0"/>
                  <a:ea typeface="微软雅黑" panose="020B0503020204020204" charset="-122"/>
                  <a:cs typeface="Times New Roman" panose="02020603050405020304" charset="0"/>
                </a:rPr>
                <a:t>价廉易得，工业上一般采用加入过量的</a:t>
              </a:r>
              <a:r>
                <a:rPr lang="en-US" altLang="zh-CN" sz="2400" smtClean="0">
                  <a:latin typeface="Times New Roman" panose="02020603050405020304" charset="0"/>
                  <a:ea typeface="微软雅黑" panose="020B0503020204020204" charset="-122"/>
                  <a:cs typeface="Times New Roman" panose="02020603050405020304" charset="0"/>
                </a:rPr>
                <a:t>Y</a:t>
              </a:r>
              <a:r>
                <a:rPr lang="zh-CN" altLang="en-US" sz="2400" smtClean="0">
                  <a:latin typeface="Times New Roman" panose="02020603050405020304" charset="0"/>
                  <a:ea typeface="微软雅黑" panose="020B0503020204020204" charset="-122"/>
                  <a:cs typeface="Times New Roman" panose="02020603050405020304" charset="0"/>
                </a:rPr>
                <a:t>的方法，以提高</a:t>
              </a:r>
              <a:r>
                <a:rPr lang="en-US" altLang="zh-CN" sz="2400" smtClean="0">
                  <a:latin typeface="Times New Roman" panose="02020603050405020304" charset="0"/>
                  <a:ea typeface="微软雅黑" panose="020B0503020204020204" charset="-122"/>
                  <a:cs typeface="Times New Roman" panose="02020603050405020304" charset="0"/>
                </a:rPr>
                <a:t>X</a:t>
              </a:r>
              <a:r>
                <a:rPr lang="zh-CN" altLang="en-US" sz="2400" smtClean="0">
                  <a:latin typeface="Times New Roman" panose="02020603050405020304" charset="0"/>
                  <a:ea typeface="微软雅黑" panose="020B0503020204020204" charset="-122"/>
                  <a:cs typeface="Times New Roman" panose="02020603050405020304" charset="0"/>
                </a:rPr>
                <a:t>和</a:t>
              </a:r>
              <a:r>
                <a:rPr lang="en-US" altLang="zh-CN" sz="2400" smtClean="0">
                  <a:latin typeface="Times New Roman" panose="02020603050405020304" charset="0"/>
                  <a:ea typeface="微软雅黑" panose="020B0503020204020204" charset="-122"/>
                  <a:cs typeface="Times New Roman" panose="02020603050405020304" charset="0"/>
                </a:rPr>
                <a:t>Y</a:t>
              </a:r>
              <a:r>
                <a:rPr lang="zh-CN" altLang="en-US" sz="2400" smtClean="0">
                  <a:latin typeface="Times New Roman" panose="02020603050405020304" charset="0"/>
                  <a:ea typeface="微软雅黑" panose="020B0503020204020204" charset="-122"/>
                  <a:cs typeface="Times New Roman" panose="02020603050405020304" charset="0"/>
                </a:rPr>
                <a:t>的转化率</a:t>
              </a:r>
              <a:endParaRPr lang="zh-CN" altLang="en-US" sz="2400" smtClean="0">
                <a:latin typeface="Times New Roman" panose="02020603050405020304" charset="0"/>
                <a:ea typeface="微软雅黑" panose="020B0503020204020204" charset="-122"/>
                <a:cs typeface="Times New Roman" panose="02020603050405020304" charset="0"/>
              </a:endParaRPr>
            </a:p>
            <a:p>
              <a:pPr>
                <a:lnSpc>
                  <a:spcPct val="150000"/>
                </a:lnSpc>
                <a:spcBef>
                  <a:spcPct val="0"/>
                </a:spcBef>
                <a:spcAft>
                  <a:spcPct val="0"/>
                </a:spcAft>
              </a:pPr>
              <a:r>
                <a:rPr lang="en-US" altLang="zh-CN" sz="2400" smtClean="0">
                  <a:latin typeface="Times New Roman" panose="02020603050405020304" charset="0"/>
                  <a:ea typeface="微软雅黑" panose="020B0503020204020204" charset="-122"/>
                  <a:cs typeface="Times New Roman" panose="02020603050405020304" charset="0"/>
                </a:rPr>
                <a:t>C．</a:t>
              </a:r>
              <a:r>
                <a:rPr lang="zh-CN" altLang="en-US" sz="2400" smtClean="0">
                  <a:latin typeface="Times New Roman" panose="02020603050405020304" charset="0"/>
                  <a:ea typeface="微软雅黑" panose="020B0503020204020204" charset="-122"/>
                  <a:cs typeface="Times New Roman" panose="02020603050405020304" charset="0"/>
                </a:rPr>
                <a:t>工业上一般采用较高温度合成</a:t>
              </a:r>
              <a:r>
                <a:rPr lang="en-US" altLang="zh-CN" sz="2400" smtClean="0">
                  <a:latin typeface="Times New Roman" panose="02020603050405020304" charset="0"/>
                  <a:ea typeface="微软雅黑" panose="020B0503020204020204" charset="-122"/>
                  <a:cs typeface="Times New Roman" panose="02020603050405020304" charset="0"/>
                </a:rPr>
                <a:t>M，</a:t>
              </a:r>
              <a:r>
                <a:rPr lang="zh-CN" altLang="en-US" sz="2400" smtClean="0">
                  <a:latin typeface="Times New Roman" panose="02020603050405020304" charset="0"/>
                  <a:ea typeface="微软雅黑" panose="020B0503020204020204" charset="-122"/>
                  <a:cs typeface="Times New Roman" panose="02020603050405020304" charset="0"/>
                </a:rPr>
                <a:t>因温度越高，反应物的转化率越高</a:t>
              </a:r>
              <a:endParaRPr lang="zh-CN" altLang="en-US" sz="2400" smtClean="0">
                <a:latin typeface="Times New Roman" panose="02020603050405020304" charset="0"/>
                <a:ea typeface="微软雅黑" panose="020B0503020204020204" charset="-122"/>
                <a:cs typeface="Times New Roman" panose="02020603050405020304" charset="0"/>
              </a:endParaRPr>
            </a:p>
            <a:p>
              <a:pPr>
                <a:lnSpc>
                  <a:spcPct val="150000"/>
                </a:lnSpc>
                <a:spcBef>
                  <a:spcPct val="0"/>
                </a:spcBef>
                <a:spcAft>
                  <a:spcPct val="0"/>
                </a:spcAft>
              </a:pPr>
              <a:r>
                <a:rPr lang="en-US" altLang="zh-CN" sz="2400" smtClean="0">
                  <a:latin typeface="Times New Roman" panose="02020603050405020304" charset="0"/>
                  <a:ea typeface="微软雅黑" panose="020B0503020204020204" charset="-122"/>
                  <a:cs typeface="Times New Roman" panose="02020603050405020304" charset="0"/>
                </a:rPr>
                <a:t>D．</a:t>
              </a:r>
              <a:r>
                <a:rPr lang="zh-CN" altLang="en-US" sz="2400" smtClean="0">
                  <a:latin typeface="Times New Roman" panose="02020603050405020304" charset="0"/>
                  <a:ea typeface="微软雅黑" panose="020B0503020204020204" charset="-122"/>
                  <a:cs typeface="Times New Roman" panose="02020603050405020304" charset="0"/>
                </a:rPr>
                <a:t>工业生产中常采用催化剂，因为使用催化剂可提高</a:t>
              </a:r>
              <a:r>
                <a:rPr lang="en-US" altLang="zh-CN" sz="2400" smtClean="0">
                  <a:latin typeface="Times New Roman" panose="02020603050405020304" charset="0"/>
                  <a:ea typeface="微软雅黑" panose="020B0503020204020204" charset="-122"/>
                  <a:cs typeface="Times New Roman" panose="02020603050405020304" charset="0"/>
                </a:rPr>
                <a:t>M</a:t>
              </a:r>
              <a:r>
                <a:rPr lang="zh-CN" altLang="en-US" sz="2400" smtClean="0">
                  <a:latin typeface="Times New Roman" panose="02020603050405020304" charset="0"/>
                  <a:ea typeface="微软雅黑" panose="020B0503020204020204" charset="-122"/>
                  <a:cs typeface="Times New Roman" panose="02020603050405020304" charset="0"/>
                </a:rPr>
                <a:t>的日产量</a:t>
              </a:r>
              <a:endParaRPr lang="zh-CN" altLang="en-US" sz="2400" smtClean="0">
                <a:latin typeface="Times New Roman" panose="02020603050405020304" charset="0"/>
                <a:ea typeface="微软雅黑" panose="020B0503020204020204" charset="-122"/>
                <a:cs typeface="Times New Roman" panose="02020603050405020304" charset="0"/>
              </a:endParaRPr>
            </a:p>
          </p:txBody>
        </p:sp>
        <p:graphicFrame>
          <p:nvGraphicFramePr>
            <p:cNvPr id="4" name="对象 -2147482571"/>
            <p:cNvGraphicFramePr>
              <a:graphicFrameLocks noChangeAspect="1"/>
            </p:cNvGraphicFramePr>
            <p:nvPr>
              <p:custDataLst>
                <p:tags r:id="rId4"/>
              </p:custDataLst>
            </p:nvPr>
          </p:nvGraphicFramePr>
          <p:xfrm>
            <a:off x="9839" y="2375"/>
            <a:ext cx="1069" cy="273"/>
          </p:xfrm>
          <a:graphic>
            <a:graphicData uri="http://schemas.openxmlformats.org/presentationml/2006/ole">
              <mc:AlternateContent xmlns:mc="http://schemas.openxmlformats.org/markup-compatibility/2006">
                <mc:Choice xmlns:v="urn:schemas-microsoft-com:vml" Requires="v">
                  <p:oleObj spid="_x0000_s1040" name="" r:id="rId5" imgW="676275" imgH="171450" progId="ChemWindow.Document">
                    <p:embed/>
                  </p:oleObj>
                </mc:Choice>
                <mc:Fallback>
                  <p:oleObj name="" r:id="rId5" imgW="676275" imgH="171450" progId="ChemWindow.Document">
                    <p:embed/>
                    <p:pic>
                      <p:nvPicPr>
                        <p:cNvPr id="0" name="OLE substitute image"/>
                        <p:cNvPicPr/>
                        <p:nvPr/>
                      </p:nvPicPr>
                      <p:blipFill>
                        <a:blip r:embed="rId6"/>
                        <a:stretch>
                          <a:fillRect/>
                        </a:stretch>
                      </p:blipFill>
                      <p:spPr>
                        <a:xfrm>
                          <a:off x="9839" y="2375"/>
                          <a:ext cx="1069" cy="273"/>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AS_UNIQUEID" val="2637"/>
</p:tagLst>
</file>

<file path=ppt/tags/tag64.xml><?xml version="1.0" encoding="utf-8"?>
<p:tagLst xmlns:p="http://schemas.openxmlformats.org/presentationml/2006/main">
  <p:tag name="AS_UNIQUEID" val="2638"/>
</p:tagLst>
</file>

<file path=ppt/tags/tag65.xml><?xml version="1.0" encoding="utf-8"?>
<p:tagLst xmlns:p="http://schemas.openxmlformats.org/presentationml/2006/main">
  <p:tag name="AS_UNIQUEID" val="3240"/>
</p:tagLst>
</file>

<file path=ppt/tags/tag66.xml><?xml version="1.0" encoding="utf-8"?>
<p:tagLst xmlns:p="http://schemas.openxmlformats.org/presentationml/2006/main">
  <p:tag name="AS_UNIQUEID" val="3241"/>
</p:tagLst>
</file>

<file path=ppt/tags/tag67.xml><?xml version="1.0" encoding="utf-8"?>
<p:tagLst xmlns:p="http://schemas.openxmlformats.org/presentationml/2006/main">
  <p:tag name="AS_UNIQUEID" val="2047"/>
</p:tagLst>
</file>

<file path=ppt/tags/tag68.xml><?xml version="1.0" encoding="utf-8"?>
<p:tagLst xmlns:p="http://schemas.openxmlformats.org/presentationml/2006/main">
  <p:tag name="AS_UNIQUEID" val="528"/>
</p:tagLst>
</file>

<file path=ppt/tags/tag69.xml><?xml version="1.0" encoding="utf-8"?>
<p:tagLst xmlns:p="http://schemas.openxmlformats.org/presentationml/2006/main">
  <p:tag name="AS_UNIQUEID" val="3242"/>
</p:tagLst>
</file>

<file path=ppt/tags/tag70.xml><?xml version="1.0" encoding="utf-8"?>
<p:tagLst xmlns:p="http://schemas.openxmlformats.org/presentationml/2006/main">
  <p:tag name="AS_UNIQUEID" val="3129"/>
  <p:tag name="KSO_WM_MEDIACOVER_FLAG" val="1"/>
  <p:tag name="KSO_WM_UNIT_MEDIACOVER_BTN_STATE" val="1"/>
  <p:tag name="KSO_WM_UNIT_MEDIACOVER_BTNRECT" val="0*0*0*0"/>
</p:tagLst>
</file>

<file path=ppt/tags/tag71.xml><?xml version="1.0" encoding="utf-8"?>
<p:tagLst xmlns:p="http://schemas.openxmlformats.org/presentationml/2006/main">
  <p:tag name="AS_UNIQUEID" val="3236"/>
</p:tagLst>
</file>

<file path=ppt/tags/tag72.xml><?xml version="1.0" encoding="utf-8"?>
<p:tagLst xmlns:p="http://schemas.openxmlformats.org/presentationml/2006/main">
  <p:tag name="AS_UNIQUEID" val="3252"/>
</p:tagLst>
</file>

<file path=ppt/tags/tag73.xml><?xml version="1.0" encoding="utf-8"?>
<p:tagLst xmlns:p="http://schemas.openxmlformats.org/presentationml/2006/main">
  <p:tag name="AS_UNIQUEID" val="3253"/>
</p:tagLst>
</file>

<file path=ppt/tags/tag74.xml><?xml version="1.0" encoding="utf-8"?>
<p:tagLst xmlns:p="http://schemas.openxmlformats.org/presentationml/2006/main">
  <p:tag name="AS_UNIQUEID" val="3254"/>
</p:tagLst>
</file>

<file path=ppt/tags/tag75.xml><?xml version="1.0" encoding="utf-8"?>
<p:tagLst xmlns:p="http://schemas.openxmlformats.org/presentationml/2006/main">
  <p:tag name="AS_UNIQUEID" val="3255"/>
</p:tagLst>
</file>

<file path=ppt/tags/tag76.xml><?xml version="1.0" encoding="utf-8"?>
<p:tagLst xmlns:p="http://schemas.openxmlformats.org/presentationml/2006/main">
  <p:tag name="AS_UNIQUEID" val="3256"/>
</p:tagLst>
</file>

<file path=ppt/tags/tag77.xml><?xml version="1.0" encoding="utf-8"?>
<p:tagLst xmlns:p="http://schemas.openxmlformats.org/presentationml/2006/main">
  <p:tag name="KSO_WM_AICARD_INVALID" val="Invalid"/>
</p:tagLst>
</file>

<file path=ppt/tags/tag78.xml><?xml version="1.0" encoding="utf-8"?>
<p:tagLst xmlns:p="http://schemas.openxmlformats.org/presentationml/2006/main">
  <p:tag name="AS_UNIQUEID" val="3249"/>
</p:tagLst>
</file>

<file path=ppt/tags/tag79.xml><?xml version="1.0" encoding="utf-8"?>
<p:tagLst xmlns:p="http://schemas.openxmlformats.org/presentationml/2006/main">
  <p:tag name="AS_UNIQUEID" val="3250"/>
</p:tagLst>
</file>

<file path=ppt/tags/tag80.xml><?xml version="1.0" encoding="utf-8"?>
<p:tagLst xmlns:p="http://schemas.openxmlformats.org/presentationml/2006/main">
  <p:tag name="AS_UNIQUEID" val="3258"/>
</p:tagLst>
</file>

<file path=ppt/tags/tag81.xml><?xml version="1.0" encoding="utf-8"?>
<p:tagLst xmlns:p="http://schemas.openxmlformats.org/presentationml/2006/main">
  <p:tag name="AS_UNIQUEID" val="3260"/>
</p:tagLst>
</file>

<file path=ppt/tags/tag82.xml><?xml version="1.0" encoding="utf-8"?>
<p:tagLst xmlns:p="http://schemas.openxmlformats.org/presentationml/2006/main">
  <p:tag name="AS_UNIQUEID" val="3261"/>
</p:tagLst>
</file>

<file path=ppt/tags/tag83.xml><?xml version="1.0" encoding="utf-8"?>
<p:tagLst xmlns:p="http://schemas.openxmlformats.org/presentationml/2006/main">
  <p:tag name="AS_UNIQUEID" val="1337"/>
  <p:tag name="KSO_WM_BEAUTIFY_FLAG" val=""/>
</p:tagLst>
</file>

<file path=ppt/tags/tag84.xml><?xml version="1.0" encoding="utf-8"?>
<p:tagLst xmlns:p="http://schemas.openxmlformats.org/presentationml/2006/main">
  <p:tag name="AS_UNIQUEID" val="1338"/>
  <p:tag name="KSO_WM_BEAUTIFY_FLAG" val=""/>
</p:tagLst>
</file>

<file path=ppt/tags/tag85.xml><?xml version="1.0" encoding="utf-8"?>
<p:tagLst xmlns:p="http://schemas.openxmlformats.org/presentationml/2006/main">
  <p:tag name="AS_UNIQUEID" val="3262"/>
</p:tagLst>
</file>

<file path=ppt/tags/tag86.xml><?xml version="1.0" encoding="utf-8"?>
<p:tagLst xmlns:p="http://schemas.openxmlformats.org/presentationml/2006/main">
  <p:tag name="AS_UNIQUEID" val="3263"/>
</p:tagLst>
</file>

<file path=ppt/tags/tag87.xml><?xml version="1.0" encoding="utf-8"?>
<p:tagLst xmlns:p="http://schemas.openxmlformats.org/presentationml/2006/main">
  <p:tag name="AS_UNIQUEID" val="3264"/>
</p:tagLst>
</file>

<file path=ppt/tags/tag88.xml><?xml version="1.0" encoding="utf-8"?>
<p:tagLst xmlns:p="http://schemas.openxmlformats.org/presentationml/2006/main">
  <p:tag name="AS_UNIQUEID" val="3265"/>
</p:tagLst>
</file>

<file path=ppt/tags/tag89.xml><?xml version="1.0" encoding="utf-8"?>
<p:tagLst xmlns:p="http://schemas.openxmlformats.org/presentationml/2006/main">
  <p:tag name="AS_UNIQUEID" val="311"/>
</p:tagLst>
</file>

<file path=ppt/tags/tag90.xml><?xml version="1.0" encoding="utf-8"?>
<p:tagLst xmlns:p="http://schemas.openxmlformats.org/presentationml/2006/main">
  <p:tag name="AS_UNIQUEID" val="3267"/>
</p:tagLst>
</file>

<file path=ppt/tags/tag91.xml><?xml version="1.0" encoding="utf-8"?>
<p:tagLst xmlns:p="http://schemas.openxmlformats.org/presentationml/2006/main">
  <p:tag name="AS_UNIQUEID" val="3269"/>
</p:tagLst>
</file>

<file path=ppt/tags/tag92.xml><?xml version="1.0" encoding="utf-8"?>
<p:tagLst xmlns:p="http://schemas.openxmlformats.org/presentationml/2006/main">
  <p:tag name="AS_UNIQUEID" val="3270"/>
</p:tagLst>
</file>

<file path=ppt/tags/tag93.xml><?xml version="1.0" encoding="utf-8"?>
<p:tagLst xmlns:p="http://schemas.openxmlformats.org/presentationml/2006/main">
  <p:tag name="AS_UNIQUEID" val="1337"/>
  <p:tag name="KSO_WM_BEAUTIFY_FLAG" val=""/>
</p:tagLst>
</file>

<file path=ppt/tags/tag94.xml><?xml version="1.0" encoding="utf-8"?>
<p:tagLst xmlns:p="http://schemas.openxmlformats.org/presentationml/2006/main">
  <p:tag name="AS_UNIQUEID" val="1338"/>
  <p:tag name="KSO_WM_BEAUTIFY_FLAG" val=""/>
</p:tagLst>
</file>

<file path=ppt/tags/tag95.xml><?xml version="1.0" encoding="utf-8"?>
<p:tagLst xmlns:p="http://schemas.openxmlformats.org/presentationml/2006/main">
  <p:tag name="AS_UNIQUEID" val="3271"/>
</p:tagLst>
</file>

<file path=ppt/tags/tag96.xml><?xml version="1.0" encoding="utf-8"?>
<p:tagLst xmlns:p="http://schemas.openxmlformats.org/presentationml/2006/main">
  <p:tag name="AS_UNIQUEID" val="3272"/>
  <p:tag name="TABLE_ENDDRAG_ORIGIN_RECT" val="830*203"/>
  <p:tag name="TABLE_ENDDRAG_RECT" val="66*247*830*203"/>
</p:tagLst>
</file>

<file path=ppt/tags/tag97.xml><?xml version="1.0" encoding="utf-8"?>
<p:tagLst xmlns:p="http://schemas.openxmlformats.org/presentationml/2006/main">
  <p:tag name="AS_UNIQUEID" val="3273"/>
</p:tagLst>
</file>

<file path=ppt/tags/tag98.xml><?xml version="1.0" encoding="utf-8"?>
<p:tagLst xmlns:p="http://schemas.openxmlformats.org/presentationml/2006/main">
  <p:tag name="AS_UNIQUEID" val="3274"/>
</p:tagLst>
</file>

<file path=ppt/tags/tag99.xml><?xml version="1.0" encoding="utf-8"?>
<p:tagLst xmlns:p="http://schemas.openxmlformats.org/presentationml/2006/main">
  <p:tag name="AS_UNIQUEID" val="3275"/>
</p:tagLst>
</file>

<file path=ppt/tags/tag100.xml><?xml version="1.0" encoding="utf-8"?>
<p:tagLst xmlns:p="http://schemas.openxmlformats.org/presentationml/2006/main">
  <p:tag name="AS_UNIQUEID" val="3276"/>
</p:tagLst>
</file>

<file path=ppt/tags/tag101.xml><?xml version="1.0" encoding="utf-8"?>
<p:tagLst xmlns:p="http://schemas.openxmlformats.org/presentationml/2006/main">
  <p:tag name="AS_UNIQUEID" val="909"/>
</p:tagLst>
</file>

<file path=ppt/tags/tag102.xml><?xml version="1.0" encoding="utf-8"?>
<p:tagLst xmlns:p="http://schemas.openxmlformats.org/presentationml/2006/main">
  <p:tag name="AS_UNIQUEID" val="910"/>
</p:tagLst>
</file>

<file path=ppt/tags/tag103.xml><?xml version="1.0" encoding="utf-8"?>
<p:tagLst xmlns:p="http://schemas.openxmlformats.org/presentationml/2006/main">
  <p:tag name="AS_UNIQUEID" val="911"/>
</p:tagLst>
</file>

<file path=ppt/tags/tag104.xml><?xml version="1.0" encoding="utf-8"?>
<p:tagLst xmlns:p="http://schemas.openxmlformats.org/presentationml/2006/main">
  <p:tag name="AS_UNIQUEID" val="912"/>
</p:tagLst>
</file>

<file path=ppt/tags/tag105.xml><?xml version="1.0" encoding="utf-8"?>
<p:tagLst xmlns:p="http://schemas.openxmlformats.org/presentationml/2006/main">
  <p:tag name="AS_UNIQUEID" val="49"/>
</p:tagLst>
</file>

<file path=ppt/tags/tag106.xml><?xml version="1.0" encoding="utf-8"?>
<p:tagLst xmlns:p="http://schemas.openxmlformats.org/presentationml/2006/main">
  <p:tag name="AS_UNIQUEID" val="3294"/>
</p:tagLst>
</file>

<file path=ppt/tags/tag107.xml><?xml version="1.0" encoding="utf-8"?>
<p:tagLst xmlns:p="http://schemas.openxmlformats.org/presentationml/2006/main">
  <p:tag name="AS_UNIQUEID" val="3295"/>
</p:tagLst>
</file>

<file path=ppt/tags/tag108.xml><?xml version="1.0" encoding="utf-8"?>
<p:tagLst xmlns:p="http://schemas.openxmlformats.org/presentationml/2006/main">
  <p:tag name="AS_UNIQUEID" val="3296"/>
</p:tagLst>
</file>

<file path=ppt/tags/tag109.xml><?xml version="1.0" encoding="utf-8"?>
<p:tagLst xmlns:p="http://schemas.openxmlformats.org/presentationml/2006/main">
  <p:tag name="AS_UNIQUEID" val="3297"/>
</p:tagLst>
</file>

<file path=ppt/tags/tag110.xml><?xml version="1.0" encoding="utf-8"?>
<p:tagLst xmlns:p="http://schemas.openxmlformats.org/presentationml/2006/main">
  <p:tag name="AS_UNIQUEID" val="3298"/>
</p:tagLst>
</file>

<file path=ppt/tags/tag111.xml><?xml version="1.0" encoding="utf-8"?>
<p:tagLst xmlns:p="http://schemas.openxmlformats.org/presentationml/2006/main">
  <p:tag name="AS_UNIQUEID" val="3299"/>
</p:tagLst>
</file>

<file path=ppt/tags/tag112.xml><?xml version="1.0" encoding="utf-8"?>
<p:tagLst xmlns:p="http://schemas.openxmlformats.org/presentationml/2006/main">
  <p:tag name="AS_UNIQUEID" val="3300"/>
</p:tagLst>
</file>

<file path=ppt/tags/tag113.xml><?xml version="1.0" encoding="utf-8"?>
<p:tagLst xmlns:p="http://schemas.openxmlformats.org/presentationml/2006/main">
  <p:tag name="AS_UNIQUEID" val="372"/>
  <p:tag name="KSO_WM_BEAUTIFY_FLAG" val=""/>
</p:tagLst>
</file>

<file path=ppt/tags/tag114.xml><?xml version="1.0" encoding="utf-8"?>
<p:tagLst xmlns:p="http://schemas.openxmlformats.org/presentationml/2006/main">
  <p:tag name="AS_UNIQUEID" val="3301"/>
</p:tagLst>
</file>

<file path=ppt/tags/tag115.xml><?xml version="1.0" encoding="utf-8"?>
<p:tagLst xmlns:p="http://schemas.openxmlformats.org/presentationml/2006/main">
  <p:tag name="AS_UNIQUEID" val="3302"/>
</p:tagLst>
</file>

<file path=ppt/tags/tag116.xml><?xml version="1.0" encoding="utf-8"?>
<p:tagLst xmlns:p="http://schemas.openxmlformats.org/presentationml/2006/main">
  <p:tag name="AS_UNIQUEID" val="3303"/>
</p:tagLst>
</file>

<file path=ppt/tags/tag117.xml><?xml version="1.0" encoding="utf-8"?>
<p:tagLst xmlns:p="http://schemas.openxmlformats.org/presentationml/2006/main">
  <p:tag name="KSO_WM_AICARD_INVALID" val="Invalid"/>
</p:tagLst>
</file>

<file path=ppt/tags/tag118.xml><?xml version="1.0" encoding="utf-8"?>
<p:tagLst xmlns:p="http://schemas.openxmlformats.org/presentationml/2006/main">
  <p:tag name="AS_UNIQUEID" val="3308"/>
</p:tagLst>
</file>

<file path=ppt/tags/tag119.xml><?xml version="1.0" encoding="utf-8"?>
<p:tagLst xmlns:p="http://schemas.openxmlformats.org/presentationml/2006/main">
  <p:tag name="AS_UNIQUEID" val="3310"/>
</p:tagLst>
</file>

<file path=ppt/tags/tag120.xml><?xml version="1.0" encoding="utf-8"?>
<p:tagLst xmlns:p="http://schemas.openxmlformats.org/presentationml/2006/main">
  <p:tag name="AS_UNIQUEID" val="3311"/>
</p:tagLst>
</file>

<file path=ppt/tags/tag121.xml><?xml version="1.0" encoding="utf-8"?>
<p:tagLst xmlns:p="http://schemas.openxmlformats.org/presentationml/2006/main">
  <p:tag name="AS_UNIQUEID" val="1337"/>
  <p:tag name="KSO_WM_BEAUTIFY_FLAG" val=""/>
</p:tagLst>
</file>

<file path=ppt/tags/tag122.xml><?xml version="1.0" encoding="utf-8"?>
<p:tagLst xmlns:p="http://schemas.openxmlformats.org/presentationml/2006/main">
  <p:tag name="AS_UNIQUEID" val="1338"/>
  <p:tag name="KSO_WM_BEAUTIFY_FLAG" val=""/>
</p:tagLst>
</file>

<file path=ppt/tags/tag123.xml><?xml version="1.0" encoding="utf-8"?>
<p:tagLst xmlns:p="http://schemas.openxmlformats.org/presentationml/2006/main">
  <p:tag name="AS_UNIQUEID" val="3312"/>
</p:tagLst>
</file>

<file path=ppt/tags/tag124.xml><?xml version="1.0" encoding="utf-8"?>
<p:tagLst xmlns:p="http://schemas.openxmlformats.org/presentationml/2006/main">
  <p:tag name="AS_UNIQUEID" val="3313"/>
  <p:tag name="KSO_WM_BEAUTIFY_FLAG" val=""/>
  <p:tag name="KSO_WM_UNIT_TABLE_BEAUTIFY" val="smartTable{5d1b7c9f-c630-44f9-83f0-0d4c1f93c015}"/>
</p:tagLst>
</file>

<file path=ppt/tags/tag125.xml><?xml version="1.0" encoding="utf-8"?>
<p:tagLst xmlns:p="http://schemas.openxmlformats.org/presentationml/2006/main">
  <p:tag name="AS_UNIQUEID" val="3314"/>
</p:tagLst>
</file>

<file path=ppt/tags/tag126.xml><?xml version="1.0" encoding="utf-8"?>
<p:tagLst xmlns:p="http://schemas.openxmlformats.org/presentationml/2006/main">
  <p:tag name="AS_UNIQUEID" val="3315"/>
  <p:tag name="KSO_WM_BEAUTIFY_FLAG" val=""/>
</p:tagLst>
</file>

<file path=ppt/tags/tag127.xml><?xml version="1.0" encoding="utf-8"?>
<p:tagLst xmlns:p="http://schemas.openxmlformats.org/presentationml/2006/main">
  <p:tag name="AS_UNIQUEID" val="3316"/>
  <p:tag name="KSO_WM_BEAUTIFY_FLAG" val=""/>
</p:tagLst>
</file>

<file path=ppt/tags/tag128.xml><?xml version="1.0" encoding="utf-8"?>
<p:tagLst xmlns:p="http://schemas.openxmlformats.org/presentationml/2006/main">
  <p:tag name="AS_UNIQUEID" val="3317"/>
</p:tagLst>
</file>

<file path=ppt/tags/tag129.xml><?xml version="1.0" encoding="utf-8"?>
<p:tagLst xmlns:p="http://schemas.openxmlformats.org/presentationml/2006/main">
  <p:tag name="KSO_WM_AICARD_INVALID" val="Invalid"/>
</p:tagLst>
</file>

<file path=ppt/tags/tag130.xml><?xml version="1.0" encoding="utf-8"?>
<p:tagLst xmlns:p="http://schemas.openxmlformats.org/presentationml/2006/main">
  <p:tag name="AS_UNIQUEID" val="3305"/>
</p:tagLst>
</file>

<file path=ppt/tags/tag131.xml><?xml version="1.0" encoding="utf-8"?>
<p:tagLst xmlns:p="http://schemas.openxmlformats.org/presentationml/2006/main">
  <p:tag name="AS_UNIQUEID" val="3306"/>
</p:tagLst>
</file>

<file path=ppt/tags/tag132.xml><?xml version="1.0" encoding="utf-8"?>
<p:tagLst xmlns:p="http://schemas.openxmlformats.org/presentationml/2006/main">
  <p:tag name="AS_UNIQUEID" val="3325"/>
</p:tagLst>
</file>

<file path=ppt/tags/tag133.xml><?xml version="1.0" encoding="utf-8"?>
<p:tagLst xmlns:p="http://schemas.openxmlformats.org/presentationml/2006/main">
  <p:tag name="AS_UNIQUEID" val="3326"/>
</p:tagLst>
</file>

<file path=ppt/tags/tag134.xml><?xml version="1.0" encoding="utf-8"?>
<p:tagLst xmlns:p="http://schemas.openxmlformats.org/presentationml/2006/main">
  <p:tag name="AS_UNIQUEID" val="3327"/>
</p:tagLst>
</file>

<file path=ppt/tags/tag135.xml><?xml version="1.0" encoding="utf-8"?>
<p:tagLst xmlns:p="http://schemas.openxmlformats.org/presentationml/2006/main">
  <p:tag name="AS_UNIQUEID" val="1337"/>
  <p:tag name="KSO_WM_BEAUTIFY_FLAG" val=""/>
</p:tagLst>
</file>

<file path=ppt/tags/tag136.xml><?xml version="1.0" encoding="utf-8"?>
<p:tagLst xmlns:p="http://schemas.openxmlformats.org/presentationml/2006/main">
  <p:tag name="AS_UNIQUEID" val="1338"/>
  <p:tag name="KSO_WM_BEAUTIFY_FLAG" val=""/>
</p:tagLst>
</file>

<file path=ppt/tags/tag137.xml><?xml version="1.0" encoding="utf-8"?>
<p:tagLst xmlns:p="http://schemas.openxmlformats.org/presentationml/2006/main">
  <p:tag name="AS_UNIQUEID" val="3328"/>
  <p:tag name="TABLE_ENDDRAG_ORIGIN_RECT" val="830*203"/>
  <p:tag name="TABLE_ENDDRAG_RECT" val="66*247*830*203"/>
</p:tagLst>
</file>

<file path=ppt/tags/tag138.xml><?xml version="1.0" encoding="utf-8"?>
<p:tagLst xmlns:p="http://schemas.openxmlformats.org/presentationml/2006/main">
  <p:tag name="AS_UNIQUEID" val="3329"/>
</p:tagLst>
</file>

<file path=ppt/tags/tag139.xml><?xml version="1.0" encoding="utf-8"?>
<p:tagLst xmlns:p="http://schemas.openxmlformats.org/presentationml/2006/main">
  <p:tag name="AS_UNIQUEID" val="3330"/>
</p:tagLst>
</file>

<file path=ppt/tags/tag140.xml><?xml version="1.0" encoding="utf-8"?>
<p:tagLst xmlns:p="http://schemas.openxmlformats.org/presentationml/2006/main">
  <p:tag name="AS_UNIQUEID" val="3331"/>
</p:tagLst>
</file>

<file path=ppt/tags/tag141.xml><?xml version="1.0" encoding="utf-8"?>
<p:tagLst xmlns:p="http://schemas.openxmlformats.org/presentationml/2006/main">
  <p:tag name="AS_UNIQUEID" val="3332"/>
</p:tagLst>
</file>

<file path=ppt/tags/tag142.xml><?xml version="1.0" encoding="utf-8"?>
<p:tagLst xmlns:p="http://schemas.openxmlformats.org/presentationml/2006/main">
  <p:tag name="AS_UNIQUEID" val="909"/>
</p:tagLst>
</file>

<file path=ppt/tags/tag143.xml><?xml version="1.0" encoding="utf-8"?>
<p:tagLst xmlns:p="http://schemas.openxmlformats.org/presentationml/2006/main">
  <p:tag name="AS_UNIQUEID" val="910"/>
</p:tagLst>
</file>

<file path=ppt/tags/tag144.xml><?xml version="1.0" encoding="utf-8"?>
<p:tagLst xmlns:p="http://schemas.openxmlformats.org/presentationml/2006/main">
  <p:tag name="AS_UNIQUEID" val="911"/>
</p:tagLst>
</file>

<file path=ppt/tags/tag145.xml><?xml version="1.0" encoding="utf-8"?>
<p:tagLst xmlns:p="http://schemas.openxmlformats.org/presentationml/2006/main">
  <p:tag name="AS_UNIQUEID" val="912"/>
</p:tagLst>
</file>

<file path=ppt/tags/tag146.xml><?xml version="1.0" encoding="utf-8"?>
<p:tagLst xmlns:p="http://schemas.openxmlformats.org/presentationml/2006/main">
  <p:tag name="AS_UNIQUEID" val="49"/>
</p:tagLst>
</file>

<file path=ppt/tags/tag147.xml><?xml version="1.0" encoding="utf-8"?>
<p:tagLst xmlns:p="http://schemas.openxmlformats.org/presentationml/2006/main">
  <p:tag name="AS_UNIQUEID" val="3333"/>
  <p:tag name="KSO_WM_BEAUTIFY_FLAG" val=""/>
</p:tagLst>
</file>

<file path=ppt/tags/tag148.xml><?xml version="1.0" encoding="utf-8"?>
<p:tagLst xmlns:p="http://schemas.openxmlformats.org/presentationml/2006/main">
  <p:tag name="AS_UNIQUEID" val="3339"/>
</p:tagLst>
</file>

<file path=ppt/tags/tag149.xml><?xml version="1.0" encoding="utf-8"?>
<p:tagLst xmlns:p="http://schemas.openxmlformats.org/presentationml/2006/main">
  <p:tag name="AS_UNIQUEID" val="3341"/>
</p:tagLst>
</file>

<file path=ppt/tags/tag150.xml><?xml version="1.0" encoding="utf-8"?>
<p:tagLst xmlns:p="http://schemas.openxmlformats.org/presentationml/2006/main">
  <p:tag name="AS_UNIQUEID" val="3342"/>
</p:tagLst>
</file>

<file path=ppt/tags/tag151.xml><?xml version="1.0" encoding="utf-8"?>
<p:tagLst xmlns:p="http://schemas.openxmlformats.org/presentationml/2006/main">
  <p:tag name="AS_UNIQUEID" val="3343"/>
</p:tagLst>
</file>

<file path=ppt/tags/tag152.xml><?xml version="1.0" encoding="utf-8"?>
<p:tagLst xmlns:p="http://schemas.openxmlformats.org/presentationml/2006/main">
  <p:tag name="AS_UNIQUEID" val="3344"/>
</p:tagLst>
</file>

<file path=ppt/tags/tag153.xml><?xml version="1.0" encoding="utf-8"?>
<p:tagLst xmlns:p="http://schemas.openxmlformats.org/presentationml/2006/main">
  <p:tag name="AS_UNIQUEID" val="3345"/>
</p:tagLst>
</file>

<file path=ppt/tags/tag154.xml><?xml version="1.0" encoding="utf-8"?>
<p:tagLst xmlns:p="http://schemas.openxmlformats.org/presentationml/2006/main">
  <p:tag name="AS_UNIQUEID" val="3346"/>
</p:tagLst>
</file>

<file path=ppt/tags/tag155.xml><?xml version="1.0" encoding="utf-8"?>
<p:tagLst xmlns:p="http://schemas.openxmlformats.org/presentationml/2006/main">
  <p:tag name="KSO_WM_AICARD_INVALID" val="Invalid"/>
</p:tagLst>
</file>

<file path=ppt/tags/tag156.xml><?xml version="1.0" encoding="utf-8"?>
<p:tagLst xmlns:p="http://schemas.openxmlformats.org/presentationml/2006/main">
  <p:tag name="AS_UNIQUEID" val="3335"/>
</p:tagLst>
</file>

<file path=ppt/tags/tag157.xml><?xml version="1.0" encoding="utf-8"?>
<p:tagLst xmlns:p="http://schemas.openxmlformats.org/presentationml/2006/main">
  <p:tag name="AS_UNIQUEID" val="3336"/>
</p:tagLst>
</file>

<file path=ppt/tags/tag158.xml><?xml version="1.0" encoding="utf-8"?>
<p:tagLst xmlns:p="http://schemas.openxmlformats.org/presentationml/2006/main">
  <p:tag name="AS_UNIQUEID" val="3337"/>
</p:tagLst>
</file>

<file path=ppt/tags/tag159.xml><?xml version="1.0" encoding="utf-8"?>
<p:tagLst xmlns:p="http://schemas.openxmlformats.org/presentationml/2006/main">
  <p:tag name="AS_UNIQUEID" val="3351"/>
</p:tagLst>
</file>

<file path=ppt/tags/tag160.xml><?xml version="1.0" encoding="utf-8"?>
<p:tagLst xmlns:p="http://schemas.openxmlformats.org/presentationml/2006/main">
  <p:tag name="AS_UNIQUEID" val="3353"/>
</p:tagLst>
</file>

<file path=ppt/tags/tag161.xml><?xml version="1.0" encoding="utf-8"?>
<p:tagLst xmlns:p="http://schemas.openxmlformats.org/presentationml/2006/main">
  <p:tag name="AS_UNIQUEID" val="3354"/>
</p:tagLst>
</file>

<file path=ppt/tags/tag162.xml><?xml version="1.0" encoding="utf-8"?>
<p:tagLst xmlns:p="http://schemas.openxmlformats.org/presentationml/2006/main">
  <p:tag name="AS_UNIQUEID" val="3355"/>
</p:tagLst>
</file>

<file path=ppt/tags/tag163.xml><?xml version="1.0" encoding="utf-8"?>
<p:tagLst xmlns:p="http://schemas.openxmlformats.org/presentationml/2006/main">
  <p:tag name="AS_UNIQUEID" val="3356"/>
</p:tagLst>
</file>

<file path=ppt/tags/tag164.xml><?xml version="1.0" encoding="utf-8"?>
<p:tagLst xmlns:p="http://schemas.openxmlformats.org/presentationml/2006/main">
  <p:tag name="AS_UNIQUEID" val="3357"/>
</p:tagLst>
</file>

<file path=ppt/tags/tag165.xml><?xml version="1.0" encoding="utf-8"?>
<p:tagLst xmlns:p="http://schemas.openxmlformats.org/presentationml/2006/main">
  <p:tag name="KSO_WM_AICARD_INVALID" val="Invalid"/>
</p:tagLst>
</file>

<file path=ppt/tags/tag166.xml><?xml version="1.0" encoding="utf-8"?>
<p:tagLst xmlns:p="http://schemas.openxmlformats.org/presentationml/2006/main">
  <p:tag name="AS_UNIQUEID" val="3348"/>
</p:tagLst>
</file>

<file path=ppt/tags/tag167.xml><?xml version="1.0" encoding="utf-8"?>
<p:tagLst xmlns:p="http://schemas.openxmlformats.org/presentationml/2006/main">
  <p:tag name="AS_UNIQUEID" val="3349"/>
</p:tagLst>
</file>

<file path=ppt/tags/tag168.xml><?xml version="1.0" encoding="utf-8"?>
<p:tagLst xmlns:p="http://schemas.openxmlformats.org/presentationml/2006/main">
  <p:tag name="AS_UNIQUEID" val="3362"/>
</p:tagLst>
</file>

<file path=ppt/tags/tag169.xml><?xml version="1.0" encoding="utf-8"?>
<p:tagLst xmlns:p="http://schemas.openxmlformats.org/presentationml/2006/main">
  <p:tag name="AS_UNIQUEID" val="3363"/>
</p:tagLst>
</file>

<file path=ppt/tags/tag170.xml><?xml version="1.0" encoding="utf-8"?>
<p:tagLst xmlns:p="http://schemas.openxmlformats.org/presentationml/2006/main">
  <p:tag name="AS_UNIQUEID" val="3365"/>
</p:tagLst>
</file>

<file path=ppt/tags/tag171.xml><?xml version="1.0" encoding="utf-8"?>
<p:tagLst xmlns:p="http://schemas.openxmlformats.org/presentationml/2006/main">
  <p:tag name="AS_UNIQUEID" val="3366"/>
</p:tagLst>
</file>

<file path=ppt/tags/tag172.xml><?xml version="1.0" encoding="utf-8"?>
<p:tagLst xmlns:p="http://schemas.openxmlformats.org/presentationml/2006/main">
  <p:tag name="AS_UNIQUEID" val="3367"/>
</p:tagLst>
</file>

<file path=ppt/tags/tag173.xml><?xml version="1.0" encoding="utf-8"?>
<p:tagLst xmlns:p="http://schemas.openxmlformats.org/presentationml/2006/main">
  <p:tag name="AS_UNIQUEID" val="3368"/>
</p:tagLst>
</file>

<file path=ppt/tags/tag174.xml><?xml version="1.0" encoding="utf-8"?>
<p:tagLst xmlns:p="http://schemas.openxmlformats.org/presentationml/2006/main">
  <p:tag name="AS_UNIQUEID" val="3369"/>
</p:tagLst>
</file>

<file path=ppt/tags/tag175.xml><?xml version="1.0" encoding="utf-8"?>
<p:tagLst xmlns:p="http://schemas.openxmlformats.org/presentationml/2006/main">
  <p:tag name="AS_UNIQUEID" val="3370"/>
</p:tagLst>
</file>

<file path=ppt/tags/tag176.xml><?xml version="1.0" encoding="utf-8"?>
<p:tagLst xmlns:p="http://schemas.openxmlformats.org/presentationml/2006/main">
  <p:tag name="KSO_WM_AICARD_INVALID" val="Invalid"/>
</p:tagLst>
</file>

<file path=ppt/tags/tag177.xml><?xml version="1.0" encoding="utf-8"?>
<p:tagLst xmlns:p="http://schemas.openxmlformats.org/presentationml/2006/main">
  <p:tag name="AS_UNIQUEID" val="3359"/>
</p:tagLst>
</file>

<file path=ppt/tags/tag178.xml><?xml version="1.0" encoding="utf-8"?>
<p:tagLst xmlns:p="http://schemas.openxmlformats.org/presentationml/2006/main">
  <p:tag name="AS_UNIQUEID" val="3360"/>
</p:tagLst>
</file>

<file path=ppt/tags/tag179.xml><?xml version="1.0" encoding="utf-8"?>
<p:tagLst xmlns:p="http://schemas.openxmlformats.org/presentationml/2006/main">
  <p:tag name="AS_UNIQUEID" val="3376"/>
</p:tagLst>
</file>

<file path=ppt/tags/tag180.xml><?xml version="1.0" encoding="utf-8"?>
<p:tagLst xmlns:p="http://schemas.openxmlformats.org/presentationml/2006/main">
  <p:tag name="AS_UNIQUEID" val="3378"/>
</p:tagLst>
</file>

<file path=ppt/tags/tag181.xml><?xml version="1.0" encoding="utf-8"?>
<p:tagLst xmlns:p="http://schemas.openxmlformats.org/presentationml/2006/main">
  <p:tag name="AS_UNIQUEID" val="3379"/>
  <p:tag name="TABLE_ENDDRAG_ORIGIN_RECT" val="857*341"/>
  <p:tag name="TABLE_ENDDRAG_RECT" val="40*142*857*341"/>
</p:tagLst>
</file>

<file path=ppt/tags/tag182.xml><?xml version="1.0" encoding="utf-8"?>
<p:tagLst xmlns:p="http://schemas.openxmlformats.org/presentationml/2006/main">
  <p:tag name="AS_UNIQUEID" val="3380"/>
</p:tagLst>
</file>

<file path=ppt/tags/tag183.xml><?xml version="1.0" encoding="utf-8"?>
<p:tagLst xmlns:p="http://schemas.openxmlformats.org/presentationml/2006/main">
  <p:tag name="AS_UNIQUEID" val="3381"/>
</p:tagLst>
</file>

<file path=ppt/tags/tag184.xml><?xml version="1.0" encoding="utf-8"?>
<p:tagLst xmlns:p="http://schemas.openxmlformats.org/presentationml/2006/main">
  <p:tag name="AS_UNIQUEID" val="3382"/>
</p:tagLst>
</file>

<file path=ppt/tags/tag185.xml><?xml version="1.0" encoding="utf-8"?>
<p:tagLst xmlns:p="http://schemas.openxmlformats.org/presentationml/2006/main">
  <p:tag name="AS_UNIQUEID" val="3383"/>
</p:tagLst>
</file>

<file path=ppt/tags/tag186.xml><?xml version="1.0" encoding="utf-8"?>
<p:tagLst xmlns:p="http://schemas.openxmlformats.org/presentationml/2006/main">
  <p:tag name="AS_UNIQUEID" val="3384"/>
</p:tagLst>
</file>

<file path=ppt/tags/tag187.xml><?xml version="1.0" encoding="utf-8"?>
<p:tagLst xmlns:p="http://schemas.openxmlformats.org/presentationml/2006/main">
  <p:tag name="AS_UNIQUEID" val="1337"/>
  <p:tag name="KSO_WM_BEAUTIFY_FLAG" val=""/>
</p:tagLst>
</file>

<file path=ppt/tags/tag188.xml><?xml version="1.0" encoding="utf-8"?>
<p:tagLst xmlns:p="http://schemas.openxmlformats.org/presentationml/2006/main">
  <p:tag name="AS_UNIQUEID" val="1338"/>
  <p:tag name="KSO_WM_BEAUTIFY_FLAG" val=""/>
</p:tagLst>
</file>

<file path=ppt/tags/tag189.xml><?xml version="1.0" encoding="utf-8"?>
<p:tagLst xmlns:p="http://schemas.openxmlformats.org/presentationml/2006/main">
  <p:tag name="KSO_WM_AICARD_INVALID" val="Invalid"/>
</p:tagLst>
</file>

<file path=ppt/tags/tag190.xml><?xml version="1.0" encoding="utf-8"?>
<p:tagLst xmlns:p="http://schemas.openxmlformats.org/presentationml/2006/main">
  <p:tag name="AS_UNIQUEID" val="3373"/>
</p:tagLst>
</file>

<file path=ppt/tags/tag191.xml><?xml version="1.0" encoding="utf-8"?>
<p:tagLst xmlns:p="http://schemas.openxmlformats.org/presentationml/2006/main">
  <p:tag name="AS_UNIQUEID" val="3374"/>
</p:tagLst>
</file>

<file path=ppt/tags/tag192.xml><?xml version="1.0" encoding="utf-8"?>
<p:tagLst xmlns:p="http://schemas.openxmlformats.org/presentationml/2006/main">
  <p:tag name="AS_UNIQUEID" val="3405"/>
</p:tagLst>
</file>

<file path=ppt/tags/tag193.xml><?xml version="1.0" encoding="utf-8"?>
<p:tagLst xmlns:p="http://schemas.openxmlformats.org/presentationml/2006/main">
  <p:tag name="AS_UNIQUEID" val="3406"/>
</p:tagLst>
</file>

<file path=ppt/tags/tag194.xml><?xml version="1.0" encoding="utf-8"?>
<p:tagLst xmlns:p="http://schemas.openxmlformats.org/presentationml/2006/main">
  <p:tag name="AS_UNIQUEID" val="3407"/>
</p:tagLst>
</file>

<file path=ppt/tags/tag195.xml><?xml version="1.0" encoding="utf-8"?>
<p:tagLst xmlns:p="http://schemas.openxmlformats.org/presentationml/2006/main">
  <p:tag name="AS_UNIQUEID" val="3408"/>
</p:tagLst>
</file>

<file path=ppt/tags/tag196.xml><?xml version="1.0" encoding="utf-8"?>
<p:tagLst xmlns:p="http://schemas.openxmlformats.org/presentationml/2006/main">
  <p:tag name="AS_UNIQUEID" val="3409"/>
</p:tagLst>
</file>

<file path=ppt/tags/tag197.xml><?xml version="1.0" encoding="utf-8"?>
<p:tagLst xmlns:p="http://schemas.openxmlformats.org/presentationml/2006/main">
  <p:tag name="AS_UNIQUEID" val="3410"/>
</p:tagLst>
</file>

<file path=ppt/tags/tag198.xml><?xml version="1.0" encoding="utf-8"?>
<p:tagLst xmlns:p="http://schemas.openxmlformats.org/presentationml/2006/main">
  <p:tag name="AS_UNIQUEID" val="3411"/>
</p:tagLst>
</file>

<file path=ppt/tags/tag199.xml><?xml version="1.0" encoding="utf-8"?>
<p:tagLst xmlns:p="http://schemas.openxmlformats.org/presentationml/2006/main">
  <p:tag name="AS_UNIQUEID" val="3412"/>
</p:tagLst>
</file>

<file path=ppt/tags/tag200.xml><?xml version="1.0" encoding="utf-8"?>
<p:tagLst xmlns:p="http://schemas.openxmlformats.org/presentationml/2006/main">
  <p:tag name="AS_UNIQUEID" val="3413"/>
</p:tagLst>
</file>

<file path=ppt/tags/tag201.xml><?xml version="1.0" encoding="utf-8"?>
<p:tagLst xmlns:p="http://schemas.openxmlformats.org/presentationml/2006/main">
  <p:tag name="AS_UNIQUEID" val="3414"/>
</p:tagLst>
</file>

<file path=ppt/tags/tag202.xml><?xml version="1.0" encoding="utf-8"?>
<p:tagLst xmlns:p="http://schemas.openxmlformats.org/presentationml/2006/main">
  <p:tag name="AS_UNIQUEID" val="3419"/>
</p:tagLst>
</file>

<file path=ppt/tags/tag203.xml><?xml version="1.0" encoding="utf-8"?>
<p:tagLst xmlns:p="http://schemas.openxmlformats.org/presentationml/2006/main">
  <p:tag name="AS_UNIQUEID" val="3420"/>
</p:tagLst>
</file>

<file path=ppt/tags/tag204.xml><?xml version="1.0" encoding="utf-8"?>
<p:tagLst xmlns:p="http://schemas.openxmlformats.org/presentationml/2006/main">
  <p:tag name="AS_UNIQUEID" val="3421"/>
</p:tagLst>
</file>

<file path=ppt/tags/tag205.xml><?xml version="1.0" encoding="utf-8"?>
<p:tagLst xmlns:p="http://schemas.openxmlformats.org/presentationml/2006/main">
  <p:tag name="AS_UNIQUEID" val="3422"/>
</p:tagLst>
</file>

<file path=ppt/tags/tag206.xml><?xml version="1.0" encoding="utf-8"?>
<p:tagLst xmlns:p="http://schemas.openxmlformats.org/presentationml/2006/main">
  <p:tag name="AS_UNIQUEID" val="3423"/>
</p:tagLst>
</file>

<file path=ppt/tags/tag207.xml><?xml version="1.0" encoding="utf-8"?>
<p:tagLst xmlns:p="http://schemas.openxmlformats.org/presentationml/2006/main">
  <p:tag name="AS_UNIQUEID" val="3424"/>
</p:tagLst>
</file>

<file path=ppt/tags/tag208.xml><?xml version="1.0" encoding="utf-8"?>
<p:tagLst xmlns:p="http://schemas.openxmlformats.org/presentationml/2006/main">
  <p:tag name="KSO_WM_AICARD_INVALID" val="Invalid"/>
</p:tagLst>
</file>

<file path=ppt/tags/tag209.xml><?xml version="1.0" encoding="utf-8"?>
<p:tagLst xmlns:p="http://schemas.openxmlformats.org/presentationml/2006/main">
  <p:tag name="AS_UNIQUEID" val="3416"/>
</p:tagLst>
</file>

<file path=ppt/tags/tag210.xml><?xml version="1.0" encoding="utf-8"?>
<p:tagLst xmlns:p="http://schemas.openxmlformats.org/presentationml/2006/main">
  <p:tag name="AS_UNIQUEID" val="3417"/>
</p:tagLst>
</file>

<file path=ppt/tags/tag211.xml><?xml version="1.0" encoding="utf-8"?>
<p:tagLst xmlns:p="http://schemas.openxmlformats.org/presentationml/2006/main">
  <p:tag name="AS_UNIQUEID" val="3427"/>
</p:tagLst>
</file>

<file path=ppt/tags/tag212.xml><?xml version="1.0" encoding="utf-8"?>
<p:tagLst xmlns:p="http://schemas.openxmlformats.org/presentationml/2006/main">
  <p:tag name="AS_UNIQUEID" val="3428"/>
</p:tagLst>
</file>

<file path=ppt/tags/tag213.xml><?xml version="1.0" encoding="utf-8"?>
<p:tagLst xmlns:p="http://schemas.openxmlformats.org/presentationml/2006/main">
  <p:tag name="AS_UNIQUEID" val="3429"/>
</p:tagLst>
</file>

<file path=ppt/tags/tag214.xml><?xml version="1.0" encoding="utf-8"?>
<p:tagLst xmlns:p="http://schemas.openxmlformats.org/presentationml/2006/main">
  <p:tag name="AS_UNIQUEID" val="3430"/>
</p:tagLst>
</file>

<file path=ppt/tags/tag215.xml><?xml version="1.0" encoding="utf-8"?>
<p:tagLst xmlns:p="http://schemas.openxmlformats.org/presentationml/2006/main">
  <p:tag name="AS_UNIQUEID" val="2153"/>
</p:tagLst>
</file>

<file path=ppt/tags/tag216.xml><?xml version="1.0" encoding="utf-8"?>
<p:tagLst xmlns:p="http://schemas.openxmlformats.org/presentationml/2006/main">
  <p:tag name="AS_UNIQUEID" val="3432"/>
</p:tagLst>
</file>

<file path=ppt/tags/tag217.xml><?xml version="1.0" encoding="utf-8"?>
<p:tagLst xmlns:p="http://schemas.openxmlformats.org/presentationml/2006/main">
  <p:tag name="AS_UNIQUEID" val="3433"/>
</p:tagLst>
</file>

<file path=ppt/tags/tag218.xml><?xml version="1.0" encoding="utf-8"?>
<p:tagLst xmlns:p="http://schemas.openxmlformats.org/presentationml/2006/main">
  <p:tag name="AS_UNIQUEID" val="3434"/>
</p:tagLst>
</file>

<file path=ppt/tags/tag219.xml><?xml version="1.0" encoding="utf-8"?>
<p:tagLst xmlns:p="http://schemas.openxmlformats.org/presentationml/2006/main">
  <p:tag name="AS_UNIQUEID" val="3435"/>
</p:tagLst>
</file>

<file path=ppt/tags/tag220.xml><?xml version="1.0" encoding="utf-8"?>
<p:tagLst xmlns:p="http://schemas.openxmlformats.org/presentationml/2006/main">
  <p:tag name="AS_UNIQUEID" val="3437"/>
</p:tagLst>
</file>

<file path=ppt/tags/tag221.xml><?xml version="1.0" encoding="utf-8"?>
<p:tagLst xmlns:p="http://schemas.openxmlformats.org/presentationml/2006/main">
  <p:tag name="AS_UNIQUEID" val="3438"/>
</p:tagLst>
</file>

<file path=ppt/tags/tag222.xml><?xml version="1.0" encoding="utf-8"?>
<p:tagLst xmlns:p="http://schemas.openxmlformats.org/presentationml/2006/main">
  <p:tag name="AS_UNIQUEID" val="3439"/>
</p:tagLst>
</file>

<file path=ppt/tags/tag223.xml><?xml version="1.0" encoding="utf-8"?>
<p:tagLst xmlns:p="http://schemas.openxmlformats.org/presentationml/2006/main">
  <p:tag name="AS_UNIQUEID" val="3440"/>
</p:tagLst>
</file>

<file path=ppt/tags/tag224.xml><?xml version="1.0" encoding="utf-8"?>
<p:tagLst xmlns:p="http://schemas.openxmlformats.org/presentationml/2006/main">
  <p:tag name="AS_UNIQUEID" val="3441"/>
</p:tagLst>
</file>

<file path=ppt/tags/tag225.xml><?xml version="1.0" encoding="utf-8"?>
<p:tagLst xmlns:p="http://schemas.openxmlformats.org/presentationml/2006/main">
  <p:tag name="AS_UNIQUEID" val="3442"/>
</p:tagLst>
</file>

<file path=ppt/tags/tag226.xml><?xml version="1.0" encoding="utf-8"?>
<p:tagLst xmlns:p="http://schemas.openxmlformats.org/presentationml/2006/main">
  <p:tag name="AS_UNIQUEID" val="3443"/>
</p:tagLst>
</file>

<file path=ppt/tags/tag227.xml><?xml version="1.0" encoding="utf-8"?>
<p:tagLst xmlns:p="http://schemas.openxmlformats.org/presentationml/2006/main">
  <p:tag name="KSO_WM_AICARD_INVALID" val="Invalid"/>
</p:tagLst>
</file>

<file path=ppt/tags/tag228.xml><?xml version="1.0" encoding="utf-8"?>
<p:tagLst xmlns:p="http://schemas.openxmlformats.org/presentationml/2006/main">
  <p:tag name="AS_UNIQUEID" val="1535"/>
</p:tagLst>
</file>

<file path=ppt/tags/tag229.xml><?xml version="1.0" encoding="utf-8"?>
<p:tagLst xmlns:p="http://schemas.openxmlformats.org/presentationml/2006/main">
  <p:tag name="AS_UNIQUEID" val="1534"/>
</p:tagLst>
</file>

<file path=ppt/tags/tag230.xml><?xml version="1.0" encoding="utf-8"?>
<p:tagLst xmlns:p="http://schemas.openxmlformats.org/presentationml/2006/main">
  <p:tag name="AS_UNIQUEID" val="1536"/>
  <p:tag name="KSO_WM_DIAGRAM_VIRTUALLY_FRAME" val="{&quot;height&quot;:466.5,&quot;left&quot;:127.3,&quot;top&quot;:66.15,&quot;width&quot;:351.7}"/>
</p:tagLst>
</file>

<file path=ppt/tags/tag231.xml><?xml version="1.0" encoding="utf-8"?>
<p:tagLst xmlns:p="http://schemas.openxmlformats.org/presentationml/2006/main">
  <p:tag name="AS_UNIQUEID" val="1536"/>
  <p:tag name="KSO_WM_DIAGRAM_VIRTUALLY_FRAME" val="{&quot;height&quot;:466.5,&quot;left&quot;:127.3,&quot;top&quot;:66.15,&quot;width&quot;:351.7}"/>
</p:tagLst>
</file>

<file path=ppt/tags/tag232.xml><?xml version="1.0" encoding="utf-8"?>
<p:tagLst xmlns:p="http://schemas.openxmlformats.org/presentationml/2006/main">
  <p:tag name="AS_UNIQUEID" val="1540"/>
  <p:tag name="KSO_WM_DIAGRAM_VIRTUALLY_FRAME" val="{&quot;height&quot;:466.5,&quot;left&quot;:127.3,&quot;top&quot;:66.15,&quot;width&quot;:351.7}"/>
</p:tagLst>
</file>

<file path=ppt/tags/tag233.xml><?xml version="1.0" encoding="utf-8"?>
<p:tagLst xmlns:p="http://schemas.openxmlformats.org/presentationml/2006/main">
  <p:tag name="AS_UNIQUEID" val="1540"/>
  <p:tag name="KSO_WM_DIAGRAM_VIRTUALLY_FRAME" val="{&quot;height&quot;:469.85,&quot;left&quot;:127.3,&quot;top&quot;:62.8,&quot;width&quot;:531.4}"/>
</p:tagLst>
</file>

<file path=ppt/tags/tag234.xml><?xml version="1.0" encoding="utf-8"?>
<p:tagLst xmlns:p="http://schemas.openxmlformats.org/presentationml/2006/main">
  <p:tag name="AS_UNIQUEID" val="3463"/>
  <p:tag name="KSO_WM_DIAGRAM_VIRTUALLY_FRAME" val="{&quot;height&quot;:469.85,&quot;left&quot;:127.3,&quot;top&quot;:62.8,&quot;width&quot;:531.4}"/>
</p:tagLst>
</file>

<file path=ppt/tags/tag235.xml><?xml version="1.0" encoding="utf-8"?>
<p:tagLst xmlns:p="http://schemas.openxmlformats.org/presentationml/2006/main">
  <p:tag name="AS_UNIQUEID" val="3464"/>
  <p:tag name="KSO_WM_DIAGRAM_VIRTUALLY_FRAME" val="{&quot;height&quot;:469.85,&quot;left&quot;:127.3,&quot;top&quot;:62.8,&quot;width&quot;:531.4}"/>
</p:tagLst>
</file>

<file path=ppt/tags/tag236.xml><?xml version="1.0" encoding="utf-8"?>
<p:tagLst xmlns:p="http://schemas.openxmlformats.org/presentationml/2006/main">
  <p:tag name="AS_UNIQUEID" val="3465"/>
  <p:tag name="KSO_WM_DIAGRAM_VIRTUALLY_FRAME" val="{&quot;height&quot;:469.85,&quot;left&quot;:127.3,&quot;top&quot;:62.8,&quot;width&quot;:531.4}"/>
</p:tagLst>
</file>

<file path=ppt/tags/tag237.xml><?xml version="1.0" encoding="utf-8"?>
<p:tagLst xmlns:p="http://schemas.openxmlformats.org/presentationml/2006/main">
  <p:tag name="AS_UNIQUEID" val="3466"/>
  <p:tag name="KSO_WM_DIAGRAM_VIRTUALLY_FRAME" val="{&quot;height&quot;:469.85,&quot;left&quot;:127.3,&quot;top&quot;:62.8,&quot;width&quot;:531.4}"/>
</p:tagLst>
</file>

<file path=ppt/tags/tag238.xml><?xml version="1.0" encoding="utf-8"?>
<p:tagLst xmlns:p="http://schemas.openxmlformats.org/presentationml/2006/main">
  <p:tag name="AS_UNIQUEID" val="3467"/>
  <p:tag name="KSO_WM_DIAGRAM_VIRTUALLY_FRAME" val="{&quot;height&quot;:469.85,&quot;left&quot;:127.3,&quot;top&quot;:62.8,&quot;width&quot;:531.4}"/>
</p:tagLst>
</file>

<file path=ppt/tags/tag239.xml><?xml version="1.0" encoding="utf-8"?>
<p:tagLst xmlns:p="http://schemas.openxmlformats.org/presentationml/2006/main">
  <p:tag name="AS_UNIQUEID" val="3468"/>
  <p:tag name="KSO_WM_DIAGRAM_VIRTUALLY_FRAME" val="{&quot;height&quot;:469.85,&quot;left&quot;:127.3,&quot;top&quot;:62.8,&quot;width&quot;:531.4}"/>
</p:tagLst>
</file>

<file path=ppt/tags/tag240.xml><?xml version="1.0" encoding="utf-8"?>
<p:tagLst xmlns:p="http://schemas.openxmlformats.org/presentationml/2006/main">
  <p:tag name="AS_UNIQUEID" val="3469"/>
</p:tagLst>
</file>

<file path=ppt/tags/tag241.xml><?xml version="1.0" encoding="utf-8"?>
<p:tagLst xmlns:p="http://schemas.openxmlformats.org/presentationml/2006/main">
  <p:tag name="AS_UNIQUEID" val="3470"/>
</p:tagLst>
</file>

<file path=ppt/tags/tag242.xml><?xml version="1.0" encoding="utf-8"?>
<p:tagLst xmlns:p="http://schemas.openxmlformats.org/presentationml/2006/main">
  <p:tag name="KSO_WM_AICARD_INVALID" val="Invalid"/>
</p:tagLst>
</file>

<file path=ppt/tags/tag243.xml><?xml version="1.0" encoding="utf-8"?>
<p:tagLst xmlns:p="http://schemas.openxmlformats.org/presentationml/2006/main">
  <p:tag name="AS_UNIQUEID" val="3472"/>
</p:tagLst>
</file>

<file path=ppt/tags/tag244.xml><?xml version="1.0" encoding="utf-8"?>
<p:tagLst xmlns:p="http://schemas.openxmlformats.org/presentationml/2006/main">
  <p:tag name="AS_UNIQUEID" val="1648"/>
</p:tagLst>
</file>

<file path=ppt/tags/tag245.xml><?xml version="1.0" encoding="utf-8"?>
<p:tagLst xmlns:p="http://schemas.openxmlformats.org/presentationml/2006/main">
  <p:tag name="AS_UNIQUEID" val="3473"/>
</p:tagLst>
</file>

<file path=ppt/tags/tag246.xml><?xml version="1.0" encoding="utf-8"?>
<p:tagLst xmlns:p="http://schemas.openxmlformats.org/presentationml/2006/main">
  <p:tag name="AS_UNIQUEID" val="3475"/>
</p:tagLst>
</file>

<file path=ppt/tags/tag247.xml><?xml version="1.0" encoding="utf-8"?>
<p:tagLst xmlns:p="http://schemas.openxmlformats.org/presentationml/2006/main">
  <p:tag name="AS_UNIQUEID" val="3476"/>
</p:tagLst>
</file>

<file path=ppt/tags/tag248.xml><?xml version="1.0" encoding="utf-8"?>
<p:tagLst xmlns:p="http://schemas.openxmlformats.org/presentationml/2006/main">
  <p:tag name="AS_UNIQUEID" val="3477"/>
  <p:tag name="KSO_WM_BEAUTIFY_FLAG" val=""/>
</p:tagLst>
</file>

<file path=ppt/tags/tag249.xml><?xml version="1.0" encoding="utf-8"?>
<p:tagLst xmlns:p="http://schemas.openxmlformats.org/presentationml/2006/main">
  <p:tag name="AS_UNIQUEID" val="3478"/>
</p:tagLst>
</file>

<file path=ppt/tags/tag250.xml><?xml version="1.0" encoding="utf-8"?>
<p:tagLst xmlns:p="http://schemas.openxmlformats.org/presentationml/2006/main">
  <p:tag name="AS_UNIQUEID" val="3480"/>
</p:tagLst>
</file>

<file path=ppt/tags/tag251.xml><?xml version="1.0" encoding="utf-8"?>
<p:tagLst xmlns:p="http://schemas.openxmlformats.org/presentationml/2006/main">
  <p:tag name="AS_UNIQUEID" val="1648"/>
</p:tagLst>
</file>

<file path=ppt/tags/tag252.xml><?xml version="1.0" encoding="utf-8"?>
<p:tagLst xmlns:p="http://schemas.openxmlformats.org/presentationml/2006/main">
  <p:tag name="AS_UNIQUEID" val="3481"/>
</p:tagLst>
</file>

<file path=ppt/tags/tag253.xml><?xml version="1.0" encoding="utf-8"?>
<p:tagLst xmlns:p="http://schemas.openxmlformats.org/presentationml/2006/main">
  <p:tag name="AS_UNIQUEID" val="3482"/>
  <p:tag name="TABLE_ENDDRAG_ORIGIN_RECT" val="725*176"/>
  <p:tag name="TABLE_ENDDRAG_RECT" val="135*224*725*176"/>
</p:tagLst>
</file>

<file path=ppt/tags/tag254.xml><?xml version="1.0" encoding="utf-8"?>
<p:tagLst xmlns:p="http://schemas.openxmlformats.org/presentationml/2006/main">
  <p:tag name="AS_UNIQUEID" val="3484"/>
</p:tagLst>
</file>

<file path=ppt/tags/tag255.xml><?xml version="1.0" encoding="utf-8"?>
<p:tagLst xmlns:p="http://schemas.openxmlformats.org/presentationml/2006/main">
  <p:tag name="AS_UNIQUEID" val="1648"/>
</p:tagLst>
</file>

<file path=ppt/tags/tag256.xml><?xml version="1.0" encoding="utf-8"?>
<p:tagLst xmlns:p="http://schemas.openxmlformats.org/presentationml/2006/main">
  <p:tag name="AS_UNIQUEID" val="1054"/>
</p:tagLst>
</file>

<file path=ppt/tags/tag257.xml><?xml version="1.0" encoding="utf-8"?>
<p:tagLst xmlns:p="http://schemas.openxmlformats.org/presentationml/2006/main">
  <p:tag name="AS_UNIQUEID" val="3486"/>
</p:tagLst>
</file>

<file path=ppt/tags/tag258.xml><?xml version="1.0" encoding="utf-8"?>
<p:tagLst xmlns:p="http://schemas.openxmlformats.org/presentationml/2006/main">
  <p:tag name="AS_UNIQUEID" val="1930"/>
</p:tagLst>
</file>

<file path=ppt/tags/tag259.xml><?xml version="1.0" encoding="utf-8"?>
<p:tagLst xmlns:p="http://schemas.openxmlformats.org/presentationml/2006/main">
  <p:tag name="AS_UNIQUEID" val="3487"/>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3665</Words>
  <Application>WPS 演示</Application>
  <PresentationFormat>宽屏</PresentationFormat>
  <Paragraphs>487</Paragraphs>
  <Slides>23</Slides>
  <Notes>4</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23</vt:i4>
      </vt:variant>
    </vt:vector>
  </HeadingPairs>
  <TitlesOfParts>
    <vt:vector size="38" baseType="lpstr">
      <vt:lpstr>Arial</vt:lpstr>
      <vt:lpstr>宋体</vt:lpstr>
      <vt:lpstr>Wingdings</vt:lpstr>
      <vt:lpstr>Wingdings</vt:lpstr>
      <vt:lpstr>微软雅黑</vt:lpstr>
      <vt:lpstr>Times New Roman</vt:lpstr>
      <vt:lpstr>楷体</vt:lpstr>
      <vt:lpstr>Arial Unicode MS</vt:lpstr>
      <vt:lpstr>Calibri</vt:lpstr>
      <vt:lpstr>Calibri</vt:lpstr>
      <vt:lpstr>黑体</vt:lpstr>
      <vt:lpstr>WPS</vt:lpstr>
      <vt:lpstr>ChemWindow.Document</vt:lpstr>
      <vt:lpstr>ChemWindow.Document</vt:lpstr>
      <vt:lpstr>ChemWindow.Document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黄冠</cp:lastModifiedBy>
  <cp:revision>158</cp:revision>
  <dcterms:created xsi:type="dcterms:W3CDTF">2019-06-19T02:08:00Z</dcterms:created>
  <dcterms:modified xsi:type="dcterms:W3CDTF">2026-09-20T10:36:38Z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20BEFFB1616C4BA1B4812CC6A585BC43_11</vt:lpwstr>
  </property>
</Properties>
</file>